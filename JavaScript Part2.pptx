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203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19100" y="1036320"/>
            <a:ext cx="3997325" cy="4719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246" y="70103"/>
            <a:ext cx="9014460" cy="6692900"/>
          </a:xfrm>
          <a:custGeom>
            <a:avLst/>
            <a:gdLst/>
            <a:ahLst/>
            <a:cxnLst/>
            <a:rect l="l" t="t" r="r" b="b"/>
            <a:pathLst>
              <a:path w="9014460" h="6692900">
                <a:moveTo>
                  <a:pt x="0" y="329819"/>
                </a:moveTo>
                <a:lnTo>
                  <a:pt x="3576" y="281088"/>
                </a:lnTo>
                <a:lnTo>
                  <a:pt x="13966" y="234576"/>
                </a:lnTo>
                <a:lnTo>
                  <a:pt x="30659" y="190791"/>
                </a:lnTo>
                <a:lnTo>
                  <a:pt x="53144" y="150245"/>
                </a:lnTo>
                <a:lnTo>
                  <a:pt x="80912" y="113448"/>
                </a:lnTo>
                <a:lnTo>
                  <a:pt x="113453" y="80911"/>
                </a:lnTo>
                <a:lnTo>
                  <a:pt x="150255" y="53144"/>
                </a:lnTo>
                <a:lnTo>
                  <a:pt x="190810" y="30660"/>
                </a:lnTo>
                <a:lnTo>
                  <a:pt x="234606" y="13967"/>
                </a:lnTo>
                <a:lnTo>
                  <a:pt x="281133" y="3576"/>
                </a:lnTo>
                <a:lnTo>
                  <a:pt x="329882" y="0"/>
                </a:lnTo>
                <a:lnTo>
                  <a:pt x="8684641" y="0"/>
                </a:lnTo>
                <a:lnTo>
                  <a:pt x="8733371" y="3576"/>
                </a:lnTo>
                <a:lnTo>
                  <a:pt x="8779883" y="13967"/>
                </a:lnTo>
                <a:lnTo>
                  <a:pt x="8823668" y="30660"/>
                </a:lnTo>
                <a:lnTo>
                  <a:pt x="8864214" y="53144"/>
                </a:lnTo>
                <a:lnTo>
                  <a:pt x="8901011" y="80911"/>
                </a:lnTo>
                <a:lnTo>
                  <a:pt x="8933548" y="113448"/>
                </a:lnTo>
                <a:lnTo>
                  <a:pt x="8961315" y="150245"/>
                </a:lnTo>
                <a:lnTo>
                  <a:pt x="8983799" y="190791"/>
                </a:lnTo>
                <a:lnTo>
                  <a:pt x="9000492" y="234576"/>
                </a:lnTo>
                <a:lnTo>
                  <a:pt x="9010883" y="281088"/>
                </a:lnTo>
                <a:lnTo>
                  <a:pt x="9014460" y="329819"/>
                </a:lnTo>
                <a:lnTo>
                  <a:pt x="9014460" y="6362763"/>
                </a:lnTo>
                <a:lnTo>
                  <a:pt x="9010883" y="6411512"/>
                </a:lnTo>
                <a:lnTo>
                  <a:pt x="9000492" y="6458039"/>
                </a:lnTo>
                <a:lnTo>
                  <a:pt x="8983799" y="6501835"/>
                </a:lnTo>
                <a:lnTo>
                  <a:pt x="8961315" y="6542389"/>
                </a:lnTo>
                <a:lnTo>
                  <a:pt x="8933548" y="6579192"/>
                </a:lnTo>
                <a:lnTo>
                  <a:pt x="8901011" y="6611732"/>
                </a:lnTo>
                <a:lnTo>
                  <a:pt x="8864214" y="6639500"/>
                </a:lnTo>
                <a:lnTo>
                  <a:pt x="8823668" y="6661985"/>
                </a:lnTo>
                <a:lnTo>
                  <a:pt x="8779883" y="6678678"/>
                </a:lnTo>
                <a:lnTo>
                  <a:pt x="8733371" y="6689068"/>
                </a:lnTo>
                <a:lnTo>
                  <a:pt x="8684641" y="6692644"/>
                </a:lnTo>
                <a:lnTo>
                  <a:pt x="329882" y="6692644"/>
                </a:lnTo>
                <a:lnTo>
                  <a:pt x="281133" y="6689068"/>
                </a:lnTo>
                <a:lnTo>
                  <a:pt x="234606" y="6678678"/>
                </a:lnTo>
                <a:lnTo>
                  <a:pt x="190810" y="6661985"/>
                </a:lnTo>
                <a:lnTo>
                  <a:pt x="150255" y="6639500"/>
                </a:lnTo>
                <a:lnTo>
                  <a:pt x="113453" y="6611732"/>
                </a:lnTo>
                <a:lnTo>
                  <a:pt x="80912" y="6579192"/>
                </a:lnTo>
                <a:lnTo>
                  <a:pt x="53144" y="6542389"/>
                </a:lnTo>
                <a:lnTo>
                  <a:pt x="30659" y="6501835"/>
                </a:lnTo>
                <a:lnTo>
                  <a:pt x="13966" y="6458039"/>
                </a:lnTo>
                <a:lnTo>
                  <a:pt x="3576" y="6411512"/>
                </a:lnTo>
                <a:lnTo>
                  <a:pt x="0" y="6362763"/>
                </a:lnTo>
                <a:lnTo>
                  <a:pt x="0" y="329819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246" y="1396746"/>
            <a:ext cx="9020810" cy="121285"/>
          </a:xfrm>
          <a:custGeom>
            <a:avLst/>
            <a:gdLst/>
            <a:ahLst/>
            <a:cxnLst/>
            <a:rect l="l" t="t" r="r" b="b"/>
            <a:pathLst>
              <a:path w="9020810" h="121284">
                <a:moveTo>
                  <a:pt x="9020556" y="0"/>
                </a:moveTo>
                <a:lnTo>
                  <a:pt x="0" y="0"/>
                </a:lnTo>
                <a:lnTo>
                  <a:pt x="0" y="121158"/>
                </a:lnTo>
                <a:lnTo>
                  <a:pt x="9020556" y="121158"/>
                </a:lnTo>
                <a:lnTo>
                  <a:pt x="9020556" y="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3246" y="2976372"/>
            <a:ext cx="9020810" cy="111760"/>
          </a:xfrm>
          <a:custGeom>
            <a:avLst/>
            <a:gdLst/>
            <a:ahLst/>
            <a:cxnLst/>
            <a:rect l="l" t="t" r="r" b="b"/>
            <a:pathLst>
              <a:path w="9020810" h="111760">
                <a:moveTo>
                  <a:pt x="9020556" y="0"/>
                </a:moveTo>
                <a:lnTo>
                  <a:pt x="0" y="0"/>
                </a:lnTo>
                <a:lnTo>
                  <a:pt x="0" y="111251"/>
                </a:lnTo>
                <a:lnTo>
                  <a:pt x="9020556" y="111251"/>
                </a:lnTo>
                <a:lnTo>
                  <a:pt x="9020556" y="0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246" y="70103"/>
            <a:ext cx="9014460" cy="6692900"/>
          </a:xfrm>
          <a:custGeom>
            <a:avLst/>
            <a:gdLst/>
            <a:ahLst/>
            <a:cxnLst/>
            <a:rect l="l" t="t" r="r" b="b"/>
            <a:pathLst>
              <a:path w="9014460" h="6692900">
                <a:moveTo>
                  <a:pt x="0" y="329819"/>
                </a:moveTo>
                <a:lnTo>
                  <a:pt x="3576" y="281088"/>
                </a:lnTo>
                <a:lnTo>
                  <a:pt x="13966" y="234576"/>
                </a:lnTo>
                <a:lnTo>
                  <a:pt x="30659" y="190791"/>
                </a:lnTo>
                <a:lnTo>
                  <a:pt x="53144" y="150245"/>
                </a:lnTo>
                <a:lnTo>
                  <a:pt x="80912" y="113448"/>
                </a:lnTo>
                <a:lnTo>
                  <a:pt x="113453" y="80911"/>
                </a:lnTo>
                <a:lnTo>
                  <a:pt x="150255" y="53144"/>
                </a:lnTo>
                <a:lnTo>
                  <a:pt x="190810" y="30660"/>
                </a:lnTo>
                <a:lnTo>
                  <a:pt x="234606" y="13967"/>
                </a:lnTo>
                <a:lnTo>
                  <a:pt x="281133" y="3576"/>
                </a:lnTo>
                <a:lnTo>
                  <a:pt x="329882" y="0"/>
                </a:lnTo>
                <a:lnTo>
                  <a:pt x="8684641" y="0"/>
                </a:lnTo>
                <a:lnTo>
                  <a:pt x="8733371" y="3576"/>
                </a:lnTo>
                <a:lnTo>
                  <a:pt x="8779883" y="13967"/>
                </a:lnTo>
                <a:lnTo>
                  <a:pt x="8823668" y="30660"/>
                </a:lnTo>
                <a:lnTo>
                  <a:pt x="8864214" y="53144"/>
                </a:lnTo>
                <a:lnTo>
                  <a:pt x="8901011" y="80911"/>
                </a:lnTo>
                <a:lnTo>
                  <a:pt x="8933548" y="113448"/>
                </a:lnTo>
                <a:lnTo>
                  <a:pt x="8961315" y="150245"/>
                </a:lnTo>
                <a:lnTo>
                  <a:pt x="8983799" y="190791"/>
                </a:lnTo>
                <a:lnTo>
                  <a:pt x="9000492" y="234576"/>
                </a:lnTo>
                <a:lnTo>
                  <a:pt x="9010883" y="281088"/>
                </a:lnTo>
                <a:lnTo>
                  <a:pt x="9014460" y="329819"/>
                </a:lnTo>
                <a:lnTo>
                  <a:pt x="9014460" y="6362763"/>
                </a:lnTo>
                <a:lnTo>
                  <a:pt x="9010883" y="6411512"/>
                </a:lnTo>
                <a:lnTo>
                  <a:pt x="9000492" y="6458039"/>
                </a:lnTo>
                <a:lnTo>
                  <a:pt x="8983799" y="6501835"/>
                </a:lnTo>
                <a:lnTo>
                  <a:pt x="8961315" y="6542389"/>
                </a:lnTo>
                <a:lnTo>
                  <a:pt x="8933548" y="6579192"/>
                </a:lnTo>
                <a:lnTo>
                  <a:pt x="8901011" y="6611732"/>
                </a:lnTo>
                <a:lnTo>
                  <a:pt x="8864214" y="6639500"/>
                </a:lnTo>
                <a:lnTo>
                  <a:pt x="8823668" y="6661985"/>
                </a:lnTo>
                <a:lnTo>
                  <a:pt x="8779883" y="6678678"/>
                </a:lnTo>
                <a:lnTo>
                  <a:pt x="8733371" y="6689068"/>
                </a:lnTo>
                <a:lnTo>
                  <a:pt x="8684641" y="6692644"/>
                </a:lnTo>
                <a:lnTo>
                  <a:pt x="329882" y="6692644"/>
                </a:lnTo>
                <a:lnTo>
                  <a:pt x="281133" y="6689068"/>
                </a:lnTo>
                <a:lnTo>
                  <a:pt x="234606" y="6678678"/>
                </a:lnTo>
                <a:lnTo>
                  <a:pt x="190810" y="6661985"/>
                </a:lnTo>
                <a:lnTo>
                  <a:pt x="150255" y="6639500"/>
                </a:lnTo>
                <a:lnTo>
                  <a:pt x="113453" y="6611732"/>
                </a:lnTo>
                <a:lnTo>
                  <a:pt x="80912" y="6579192"/>
                </a:lnTo>
                <a:lnTo>
                  <a:pt x="53144" y="6542389"/>
                </a:lnTo>
                <a:lnTo>
                  <a:pt x="30659" y="6501835"/>
                </a:lnTo>
                <a:lnTo>
                  <a:pt x="13966" y="6458039"/>
                </a:lnTo>
                <a:lnTo>
                  <a:pt x="3576" y="6411512"/>
                </a:lnTo>
                <a:lnTo>
                  <a:pt x="0" y="6362763"/>
                </a:lnTo>
                <a:lnTo>
                  <a:pt x="0" y="329819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540" y="-32003"/>
            <a:ext cx="7955915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6626" y="1092707"/>
            <a:ext cx="8660130" cy="2377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33425" y="6320374"/>
            <a:ext cx="292100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3246" y="1517903"/>
            <a:ext cx="9020810" cy="1518364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235"/>
              </a:lnSpc>
            </a:pPr>
            <a:endParaRPr sz="3600" dirty="0">
              <a:latin typeface="Times New Roman"/>
              <a:cs typeface="Times New Roman"/>
            </a:endParaRPr>
          </a:p>
          <a:p>
            <a:pPr marL="241300" marR="236220" algn="ctr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6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DOM</a:t>
            </a:r>
            <a:r>
              <a:rPr sz="36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6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spc="-3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JavaScript</a:t>
            </a:r>
            <a:r>
              <a:rPr sz="3600" spc="-1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36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functions</a:t>
            </a:r>
            <a:r>
              <a:rPr sz="3600" spc="-10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36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to</a:t>
            </a:r>
            <a:r>
              <a:rPr sz="3600" spc="-1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modify </a:t>
            </a:r>
            <a:r>
              <a:rPr sz="36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the</a:t>
            </a:r>
            <a:r>
              <a:rPr sz="3600" spc="-9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DOM</a:t>
            </a:r>
            <a:endParaRPr sz="3600" dirty="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9879" y="6305550"/>
            <a:ext cx="12953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20339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80" dirty="0"/>
              <a:t>Topics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535940" y="799388"/>
            <a:ext cx="7702550" cy="1397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81305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62500"/>
              <a:buFont typeface="Segoe UI Symbol"/>
              <a:buChar char="⚫"/>
              <a:tabLst>
                <a:tab pos="285115" algn="l"/>
              </a:tabLst>
            </a:pPr>
            <a:r>
              <a:rPr sz="4000" spc="-215" dirty="0">
                <a:latin typeface="Times New Roman"/>
                <a:cs typeface="Times New Roman"/>
              </a:rPr>
              <a:t>The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DOM</a:t>
            </a:r>
            <a:endParaRPr sz="4000">
              <a:latin typeface="Times New Roman"/>
              <a:cs typeface="Times New Roman"/>
            </a:endParaRPr>
          </a:p>
          <a:p>
            <a:pPr marL="285115" indent="-28130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2500"/>
              <a:buFont typeface="Segoe UI Symbol"/>
              <a:buChar char="⚫"/>
              <a:tabLst>
                <a:tab pos="285115" algn="l"/>
              </a:tabLst>
            </a:pPr>
            <a:r>
              <a:rPr sz="4000" spc="-260" dirty="0">
                <a:latin typeface="Times New Roman"/>
                <a:cs typeface="Times New Roman"/>
              </a:rPr>
              <a:t>JavaScript</a:t>
            </a:r>
            <a:r>
              <a:rPr sz="4000" spc="-125" dirty="0">
                <a:latin typeface="Times New Roman"/>
                <a:cs typeface="Times New Roman"/>
              </a:rPr>
              <a:t> </a:t>
            </a:r>
            <a:r>
              <a:rPr sz="4000" spc="-204" dirty="0">
                <a:latin typeface="Times New Roman"/>
                <a:cs typeface="Times New Roman"/>
              </a:rPr>
              <a:t>functions</a:t>
            </a:r>
            <a:r>
              <a:rPr sz="4000" spc="-9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-95" dirty="0">
                <a:latin typeface="Times New Roman"/>
                <a:cs typeface="Times New Roman"/>
              </a:rPr>
              <a:t> </a:t>
            </a:r>
            <a:r>
              <a:rPr sz="4000" spc="-254" dirty="0">
                <a:latin typeface="Times New Roman"/>
                <a:cs typeface="Times New Roman"/>
              </a:rPr>
              <a:t>modify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spc="-135" dirty="0">
                <a:latin typeface="Times New Roman"/>
                <a:cs typeface="Times New Roman"/>
              </a:rPr>
              <a:t>the</a:t>
            </a:r>
            <a:r>
              <a:rPr sz="4000" spc="-114" dirty="0">
                <a:latin typeface="Times New Roman"/>
                <a:cs typeface="Times New Roman"/>
              </a:rPr>
              <a:t> </a:t>
            </a:r>
            <a:r>
              <a:rPr sz="4000" spc="-80" dirty="0">
                <a:latin typeface="Times New Roman"/>
                <a:cs typeface="Times New Roman"/>
              </a:rPr>
              <a:t>DOM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60350" y="6320374"/>
            <a:ext cx="222250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fld id="{81D60167-4931-47E6-BA6A-407CBD079E47}" type="slidenum"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2</a:t>
            </a:fld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The</a:t>
            </a:r>
            <a:r>
              <a:rPr sz="6000" spc="-95" dirty="0"/>
              <a:t> </a:t>
            </a:r>
            <a:r>
              <a:rPr sz="6000" spc="-25" dirty="0"/>
              <a:t>DOM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612140" y="1026381"/>
            <a:ext cx="8432165" cy="15913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84480" indent="-280670">
              <a:lnSpc>
                <a:spcPct val="100000"/>
              </a:lnSpc>
              <a:spcBef>
                <a:spcPts val="505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spc="-175" dirty="0">
                <a:latin typeface="Times New Roman"/>
                <a:cs typeface="Times New Roman"/>
              </a:rPr>
              <a:t>The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Document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imes New Roman"/>
                <a:cs typeface="Times New Roman"/>
              </a:rPr>
              <a:t>Object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Model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(DOM)</a:t>
            </a:r>
            <a:endParaRPr sz="3200">
              <a:latin typeface="Times New Roman"/>
              <a:cs typeface="Times New Roman"/>
            </a:endParaRPr>
          </a:p>
          <a:p>
            <a:pPr marL="558800" marR="5080" lvl="1" indent="-3016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60070" algn="l"/>
              </a:tabLst>
            </a:pPr>
            <a:r>
              <a:rPr sz="3200" spc="-170" dirty="0">
                <a:latin typeface="Times New Roman"/>
                <a:cs typeface="Times New Roman"/>
              </a:rPr>
              <a:t>Tree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90" dirty="0">
                <a:latin typeface="Times New Roman"/>
                <a:cs typeface="Times New Roman"/>
              </a:rPr>
              <a:t>of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objects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and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attributes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created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60" dirty="0">
                <a:latin typeface="Times New Roman"/>
                <a:cs typeface="Times New Roman"/>
              </a:rPr>
              <a:t>by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web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browser 	</a:t>
            </a:r>
            <a:r>
              <a:rPr sz="3200" spc="-150" dirty="0">
                <a:latin typeface="Times New Roman"/>
                <a:cs typeface="Times New Roman"/>
              </a:rPr>
              <a:t>from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structure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of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web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page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093" y="2703576"/>
            <a:ext cx="8537072" cy="325262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0350" y="6320374"/>
            <a:ext cx="222250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fld id="{81D60167-4931-47E6-BA6A-407CBD079E47}" type="slidenum"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3</a:t>
            </a:fld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5704" y="754910"/>
            <a:ext cx="7272655" cy="482282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85115" indent="-280670">
              <a:lnSpc>
                <a:spcPct val="100000"/>
              </a:lnSpc>
              <a:spcBef>
                <a:spcPts val="505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235" dirty="0">
                <a:latin typeface="Times New Roman"/>
                <a:cs typeface="Times New Roman"/>
              </a:rPr>
              <a:t>JavaScript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can:</a:t>
            </a:r>
            <a:endParaRPr sz="360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-220" dirty="0">
                <a:latin typeface="Times New Roman"/>
                <a:cs typeface="Times New Roman"/>
              </a:rPr>
              <a:t>Change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275" dirty="0">
                <a:latin typeface="Times New Roman"/>
                <a:cs typeface="Times New Roman"/>
              </a:rPr>
              <a:t>any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310" dirty="0">
                <a:latin typeface="Times New Roman"/>
                <a:cs typeface="Times New Roman"/>
              </a:rPr>
              <a:t>HTML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element</a:t>
            </a:r>
            <a:endParaRPr sz="360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-220" dirty="0">
                <a:latin typeface="Times New Roman"/>
                <a:cs typeface="Times New Roman"/>
              </a:rPr>
              <a:t>Change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275" dirty="0">
                <a:latin typeface="Times New Roman"/>
                <a:cs typeface="Times New Roman"/>
              </a:rPr>
              <a:t>any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310" dirty="0">
                <a:latin typeface="Times New Roman"/>
                <a:cs typeface="Times New Roman"/>
              </a:rPr>
              <a:t>HTML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attribute</a:t>
            </a:r>
            <a:endParaRPr sz="360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-220" dirty="0">
                <a:latin typeface="Times New Roman"/>
                <a:cs typeface="Times New Roman"/>
              </a:rPr>
              <a:t>Change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275" dirty="0">
                <a:latin typeface="Times New Roman"/>
                <a:cs typeface="Times New Roman"/>
              </a:rPr>
              <a:t>any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409" dirty="0">
                <a:latin typeface="Times New Roman"/>
                <a:cs typeface="Times New Roman"/>
              </a:rPr>
              <a:t>CSS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Style</a:t>
            </a:r>
            <a:endParaRPr sz="360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-240" dirty="0">
                <a:latin typeface="Times New Roman"/>
                <a:cs typeface="Times New Roman"/>
              </a:rPr>
              <a:t>Remove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275" dirty="0">
                <a:latin typeface="Times New Roman"/>
                <a:cs typeface="Times New Roman"/>
              </a:rPr>
              <a:t>any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310" dirty="0">
                <a:latin typeface="Times New Roman"/>
                <a:cs typeface="Times New Roman"/>
              </a:rPr>
              <a:t>HTML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135" dirty="0">
                <a:latin typeface="Times New Roman"/>
                <a:cs typeface="Times New Roman"/>
              </a:rPr>
              <a:t>element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or</a:t>
            </a:r>
            <a:r>
              <a:rPr sz="3600" spc="-145" dirty="0">
                <a:latin typeface="Times New Roman"/>
                <a:cs typeface="Times New Roman"/>
              </a:rPr>
              <a:t> </a:t>
            </a:r>
            <a:r>
              <a:rPr sz="3600" spc="-65" dirty="0">
                <a:latin typeface="Times New Roman"/>
                <a:cs typeface="Times New Roman"/>
              </a:rPr>
              <a:t>attribute</a:t>
            </a:r>
            <a:endParaRPr sz="360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-270" dirty="0">
                <a:latin typeface="Times New Roman"/>
                <a:cs typeface="Times New Roman"/>
              </a:rPr>
              <a:t>Add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95" dirty="0">
                <a:latin typeface="Times New Roman"/>
                <a:cs typeface="Times New Roman"/>
              </a:rPr>
              <a:t>new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310" dirty="0">
                <a:latin typeface="Times New Roman"/>
                <a:cs typeface="Times New Roman"/>
              </a:rPr>
              <a:t>HTML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50" dirty="0">
                <a:latin typeface="Times New Roman"/>
                <a:cs typeface="Times New Roman"/>
              </a:rPr>
              <a:t>elements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215" dirty="0">
                <a:latin typeface="Times New Roman"/>
                <a:cs typeface="Times New Roman"/>
              </a:rPr>
              <a:t>and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75" dirty="0">
                <a:latin typeface="Times New Roman"/>
                <a:cs typeface="Times New Roman"/>
              </a:rPr>
              <a:t>attributes</a:t>
            </a:r>
            <a:endParaRPr sz="360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-190" dirty="0">
                <a:latin typeface="Times New Roman"/>
                <a:cs typeface="Times New Roman"/>
              </a:rPr>
              <a:t>React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204" dirty="0">
                <a:latin typeface="Times New Roman"/>
                <a:cs typeface="Times New Roman"/>
              </a:rPr>
              <a:t>all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180" dirty="0">
                <a:latin typeface="Times New Roman"/>
                <a:cs typeface="Times New Roman"/>
              </a:rPr>
              <a:t>existing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310" dirty="0">
                <a:latin typeface="Times New Roman"/>
                <a:cs typeface="Times New Roman"/>
              </a:rPr>
              <a:t>HTML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events</a:t>
            </a:r>
            <a:endParaRPr sz="360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-140" dirty="0">
                <a:latin typeface="Times New Roman"/>
                <a:cs typeface="Times New Roman"/>
              </a:rPr>
              <a:t>Create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195" dirty="0">
                <a:latin typeface="Times New Roman"/>
                <a:cs typeface="Times New Roman"/>
              </a:rPr>
              <a:t>new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310" dirty="0">
                <a:latin typeface="Times New Roman"/>
                <a:cs typeface="Times New Roman"/>
              </a:rPr>
              <a:t>HTML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events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29864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The</a:t>
            </a:r>
            <a:r>
              <a:rPr sz="6000" spc="-95" dirty="0"/>
              <a:t> </a:t>
            </a:r>
            <a:r>
              <a:rPr sz="6000" spc="-25" dirty="0"/>
              <a:t>DOM</a:t>
            </a:r>
            <a:endParaRPr sz="6000"/>
          </a:p>
        </p:txBody>
      </p:sp>
      <p:sp>
        <p:nvSpPr>
          <p:cNvPr id="5" name="object 5"/>
          <p:cNvSpPr txBox="1"/>
          <p:nvPr/>
        </p:nvSpPr>
        <p:spPr>
          <a:xfrm>
            <a:off x="260350" y="6320374"/>
            <a:ext cx="222250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fld id="{81D60167-4931-47E6-BA6A-407CBD079E47}" type="slidenum"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4</a:t>
            </a:fld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923594"/>
            <a:ext cx="8242934" cy="472440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495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3845" algn="l"/>
              </a:tabLst>
            </a:pPr>
            <a:r>
              <a:rPr sz="2800" spc="-170" dirty="0">
                <a:latin typeface="Times New Roman"/>
                <a:cs typeface="Times New Roman"/>
              </a:rPr>
              <a:t>In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this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model:</a:t>
            </a:r>
            <a:endParaRPr sz="280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spc="-245" dirty="0">
                <a:solidFill>
                  <a:srgbClr val="FF0000"/>
                </a:solidFill>
                <a:latin typeface="Times New Roman"/>
                <a:cs typeface="Times New Roman"/>
              </a:rPr>
              <a:t>HTML</a:t>
            </a:r>
            <a:r>
              <a:rPr sz="28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20" dirty="0">
                <a:solidFill>
                  <a:srgbClr val="FF0000"/>
                </a:solidFill>
                <a:latin typeface="Times New Roman"/>
                <a:cs typeface="Times New Roman"/>
              </a:rPr>
              <a:t>elements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14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8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objects</a:t>
            </a:r>
            <a:endParaRPr sz="2800">
              <a:latin typeface="Times New Roman"/>
              <a:cs typeface="Times New Roman"/>
            </a:endParaRPr>
          </a:p>
          <a:p>
            <a:pPr marL="558800" marR="5080" lvl="1" indent="-2635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60070" algn="l"/>
              </a:tabLst>
            </a:pPr>
            <a:r>
              <a:rPr sz="2800" spc="-245" dirty="0">
                <a:solidFill>
                  <a:srgbClr val="006FC0"/>
                </a:solidFill>
                <a:latin typeface="Times New Roman"/>
                <a:cs typeface="Times New Roman"/>
              </a:rPr>
              <a:t>HTML</a:t>
            </a:r>
            <a:r>
              <a:rPr sz="2800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120" dirty="0">
                <a:solidFill>
                  <a:srgbClr val="006FC0"/>
                </a:solidFill>
                <a:latin typeface="Times New Roman"/>
                <a:cs typeface="Times New Roman"/>
              </a:rPr>
              <a:t>elements</a:t>
            </a:r>
            <a:r>
              <a:rPr sz="28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Times New Roman"/>
                <a:cs typeface="Times New Roman"/>
              </a:rPr>
              <a:t>have</a:t>
            </a:r>
            <a:r>
              <a:rPr sz="2800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90" dirty="0">
                <a:solidFill>
                  <a:srgbClr val="006FC0"/>
                </a:solidFill>
                <a:latin typeface="Times New Roman"/>
                <a:cs typeface="Times New Roman"/>
              </a:rPr>
              <a:t>properties</a:t>
            </a:r>
            <a:r>
              <a:rPr sz="28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140" dirty="0">
                <a:solidFill>
                  <a:srgbClr val="006FC0"/>
                </a:solidFill>
                <a:latin typeface="Times New Roman"/>
                <a:cs typeface="Times New Roman"/>
              </a:rPr>
              <a:t>(like</a:t>
            </a:r>
            <a:r>
              <a:rPr sz="2800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120" dirty="0">
                <a:solidFill>
                  <a:srgbClr val="006FC0"/>
                </a:solidFill>
                <a:latin typeface="Times New Roman"/>
                <a:cs typeface="Times New Roman"/>
              </a:rPr>
              <a:t>members)</a:t>
            </a:r>
            <a:r>
              <a:rPr sz="280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95" dirty="0">
                <a:solidFill>
                  <a:srgbClr val="006FC0"/>
                </a:solidFill>
                <a:latin typeface="Times New Roman"/>
                <a:cs typeface="Times New Roman"/>
              </a:rPr>
              <a:t>that</a:t>
            </a:r>
            <a:r>
              <a:rPr sz="2800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175" dirty="0">
                <a:solidFill>
                  <a:srgbClr val="006FC0"/>
                </a:solidFill>
                <a:latin typeface="Times New Roman"/>
                <a:cs typeface="Times New Roman"/>
              </a:rPr>
              <a:t>can</a:t>
            </a:r>
            <a:r>
              <a:rPr sz="28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imes New Roman"/>
                <a:cs typeface="Times New Roman"/>
              </a:rPr>
              <a:t>be 	</a:t>
            </a:r>
            <a:r>
              <a:rPr sz="2800" spc="-10" dirty="0">
                <a:solidFill>
                  <a:srgbClr val="006FC0"/>
                </a:solidFill>
                <a:latin typeface="Times New Roman"/>
                <a:cs typeface="Times New Roman"/>
              </a:rPr>
              <a:t>altered</a:t>
            </a:r>
            <a:endParaRPr sz="2800">
              <a:latin typeface="Times New Roman"/>
              <a:cs typeface="Times New Roman"/>
            </a:endParaRPr>
          </a:p>
          <a:p>
            <a:pPr marL="558800" marR="709295" lvl="1" indent="-2635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60070" algn="l"/>
              </a:tabLst>
            </a:pPr>
            <a:r>
              <a:rPr sz="2800" spc="-145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DOM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provides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methods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that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can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access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all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HTML 	</a:t>
            </a:r>
            <a:r>
              <a:rPr sz="2800" spc="-10" dirty="0">
                <a:latin typeface="Times New Roman"/>
                <a:cs typeface="Times New Roman"/>
              </a:rPr>
              <a:t>elements</a:t>
            </a:r>
            <a:endParaRPr sz="280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spc="-145" dirty="0">
                <a:latin typeface="Times New Roman"/>
                <a:cs typeface="Times New Roman"/>
              </a:rPr>
              <a:t>The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DOM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defines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events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for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all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54" dirty="0">
                <a:latin typeface="Times New Roman"/>
                <a:cs typeface="Times New Roman"/>
              </a:rPr>
              <a:t>HTML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elements</a:t>
            </a:r>
            <a:endParaRPr sz="28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3845" algn="l"/>
              </a:tabLst>
            </a:pPr>
            <a:r>
              <a:rPr sz="2800" spc="-300" dirty="0">
                <a:latin typeface="Times New Roman"/>
                <a:cs typeface="Times New Roman"/>
              </a:rPr>
              <a:t>As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with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OO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Paradigm</a:t>
            </a:r>
            <a:endParaRPr sz="280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b="1" dirty="0">
                <a:latin typeface="Times New Roman"/>
                <a:cs typeface="Times New Roman"/>
              </a:rPr>
              <a:t>Methods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are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actions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that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can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be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performed</a:t>
            </a:r>
            <a:endParaRPr sz="280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b="1" dirty="0">
                <a:latin typeface="Times New Roman"/>
                <a:cs typeface="Times New Roman"/>
              </a:rPr>
              <a:t>Properties</a:t>
            </a:r>
            <a:r>
              <a:rPr sz="2800" b="1" spc="-140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are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values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that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can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be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altered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50272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23285" algn="l"/>
              </a:tabLst>
            </a:pPr>
            <a:r>
              <a:rPr sz="6000" dirty="0"/>
              <a:t>The</a:t>
            </a:r>
            <a:r>
              <a:rPr sz="6000" spc="-95" dirty="0"/>
              <a:t> </a:t>
            </a:r>
            <a:r>
              <a:rPr sz="6000" spc="-20" dirty="0"/>
              <a:t>HTML</a:t>
            </a:r>
            <a:r>
              <a:rPr sz="6000" dirty="0"/>
              <a:t>	</a:t>
            </a:r>
            <a:r>
              <a:rPr sz="6000" spc="-25" dirty="0"/>
              <a:t>DOM</a:t>
            </a:r>
            <a:endParaRPr sz="6000"/>
          </a:p>
        </p:txBody>
      </p:sp>
      <p:sp>
        <p:nvSpPr>
          <p:cNvPr id="5" name="object 5"/>
          <p:cNvSpPr txBox="1"/>
          <p:nvPr/>
        </p:nvSpPr>
        <p:spPr>
          <a:xfrm>
            <a:off x="260350" y="6320374"/>
            <a:ext cx="222250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fld id="{81D60167-4931-47E6-BA6A-407CBD079E47}" type="slidenum"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5</a:t>
            </a:fld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854466"/>
            <a:ext cx="8672195" cy="55022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27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30" dirty="0">
                <a:latin typeface="Times New Roman"/>
                <a:cs typeface="Times New Roman"/>
              </a:rPr>
              <a:t>References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any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element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below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get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methods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start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with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i="1" spc="-90" dirty="0">
                <a:latin typeface="Times New Roman"/>
                <a:cs typeface="Times New Roman"/>
              </a:rPr>
              <a:t>document.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160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spc="-145" dirty="0">
                <a:latin typeface="Times New Roman"/>
                <a:cs typeface="Times New Roman"/>
              </a:rPr>
              <a:t>This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represents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document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itself.</a:t>
            </a:r>
            <a:endParaRPr sz="22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29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45" dirty="0">
                <a:latin typeface="Times New Roman"/>
                <a:cs typeface="Times New Roman"/>
              </a:rPr>
              <a:t>Finding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elements: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ts val="2510"/>
              </a:lnSpc>
              <a:spcBef>
                <a:spcPts val="155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getElementById(id)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Finds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elements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with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id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matching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argument</a:t>
            </a:r>
            <a:endParaRPr sz="2200">
              <a:latin typeface="Times New Roman"/>
              <a:cs typeface="Times New Roman"/>
            </a:endParaRPr>
          </a:p>
          <a:p>
            <a:pPr marL="560070">
              <a:lnSpc>
                <a:spcPts val="2510"/>
              </a:lnSpc>
            </a:pPr>
            <a:r>
              <a:rPr sz="2200" b="1" spc="-10" dirty="0">
                <a:latin typeface="Times New Roman"/>
                <a:cs typeface="Times New Roman"/>
              </a:rPr>
              <a:t>(id=‘id’)</a:t>
            </a:r>
            <a:endParaRPr sz="2200">
              <a:latin typeface="Times New Roman"/>
              <a:cs typeface="Times New Roman"/>
            </a:endParaRPr>
          </a:p>
          <a:p>
            <a:pPr marL="560705" lvl="1" indent="-229235">
              <a:lnSpc>
                <a:spcPts val="2510"/>
              </a:lnSpc>
              <a:spcBef>
                <a:spcPts val="140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getElementByTagName(name)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Finds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elements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based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imes New Roman"/>
                <a:cs typeface="Times New Roman"/>
              </a:rPr>
              <a:t>their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tag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name</a:t>
            </a:r>
            <a:endParaRPr sz="2200">
              <a:latin typeface="Times New Roman"/>
              <a:cs typeface="Times New Roman"/>
            </a:endParaRPr>
          </a:p>
          <a:p>
            <a:pPr marL="560070">
              <a:lnSpc>
                <a:spcPts val="2510"/>
              </a:lnSpc>
            </a:pPr>
            <a:r>
              <a:rPr sz="2200" b="1" spc="75" dirty="0">
                <a:latin typeface="Times New Roman"/>
                <a:cs typeface="Times New Roman"/>
              </a:rPr>
              <a:t>&lt;tag&gt;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matches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b="1" spc="40" dirty="0">
                <a:latin typeface="Times New Roman"/>
                <a:cs typeface="Times New Roman"/>
              </a:rPr>
              <a:t>&lt;name&gt;</a:t>
            </a:r>
            <a:endParaRPr sz="2200">
              <a:latin typeface="Times New Roman"/>
              <a:cs typeface="Times New Roman"/>
            </a:endParaRPr>
          </a:p>
          <a:p>
            <a:pPr marL="560070" marR="690880" lvl="1" indent="-228600">
              <a:lnSpc>
                <a:spcPts val="2380"/>
              </a:lnSpc>
              <a:spcBef>
                <a:spcPts val="430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070" algn="l"/>
              </a:tabLst>
            </a:pPr>
            <a:r>
              <a:rPr sz="2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getElementByClass(name)</a:t>
            </a: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Finds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elements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with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85" dirty="0">
                <a:latin typeface="Times New Roman"/>
                <a:cs typeface="Times New Roman"/>
              </a:rPr>
              <a:t>a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50" dirty="0">
                <a:latin typeface="Times New Roman"/>
                <a:cs typeface="Times New Roman"/>
              </a:rPr>
              <a:t>class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matching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spc="-100" dirty="0">
                <a:latin typeface="Times New Roman"/>
                <a:cs typeface="Times New Roman"/>
              </a:rPr>
              <a:t>argument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(class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spc="210" dirty="0">
                <a:latin typeface="Times New Roman"/>
                <a:cs typeface="Times New Roman"/>
              </a:rPr>
              <a:t>=</a:t>
            </a:r>
            <a:r>
              <a:rPr sz="2200" b="1" spc="-13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‘name’)</a:t>
            </a:r>
            <a:endParaRPr sz="2200">
              <a:latin typeface="Times New Roman"/>
              <a:cs typeface="Times New Roman"/>
            </a:endParaRPr>
          </a:p>
          <a:p>
            <a:pPr marL="833119" marR="24130" lvl="2" indent="-227329">
              <a:lnSpc>
                <a:spcPts val="2050"/>
              </a:lnSpc>
              <a:spcBef>
                <a:spcPts val="430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4390" algn="l"/>
              </a:tabLst>
            </a:pPr>
            <a:r>
              <a:rPr sz="1900" b="1" spc="-35" dirty="0">
                <a:latin typeface="Times New Roman"/>
                <a:cs typeface="Times New Roman"/>
              </a:rPr>
              <a:t>Note:</a:t>
            </a:r>
            <a:r>
              <a:rPr sz="1900" b="1" spc="-140" dirty="0">
                <a:latin typeface="Times New Roman"/>
                <a:cs typeface="Times New Roman"/>
              </a:rPr>
              <a:t> </a:t>
            </a:r>
            <a:r>
              <a:rPr sz="1900" b="1" spc="-30" dirty="0">
                <a:latin typeface="Times New Roman"/>
                <a:cs typeface="Times New Roman"/>
              </a:rPr>
              <a:t>getElementXXX()</a:t>
            </a:r>
            <a:r>
              <a:rPr sz="1900" b="1" spc="-25" dirty="0">
                <a:latin typeface="Times New Roman"/>
                <a:cs typeface="Times New Roman"/>
              </a:rPr>
              <a:t> </a:t>
            </a:r>
            <a:r>
              <a:rPr sz="1900" spc="-120" dirty="0">
                <a:latin typeface="Times New Roman"/>
                <a:cs typeface="Times New Roman"/>
              </a:rPr>
              <a:t>calls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70" dirty="0">
                <a:latin typeface="Times New Roman"/>
                <a:cs typeface="Times New Roman"/>
              </a:rPr>
              <a:t>may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return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75" dirty="0">
                <a:latin typeface="Times New Roman"/>
                <a:cs typeface="Times New Roman"/>
              </a:rPr>
              <a:t>more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85" dirty="0">
                <a:latin typeface="Times New Roman"/>
                <a:cs typeface="Times New Roman"/>
              </a:rPr>
              <a:t>than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95" dirty="0">
                <a:latin typeface="Times New Roman"/>
                <a:cs typeface="Times New Roman"/>
              </a:rPr>
              <a:t>1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75" dirty="0">
                <a:latin typeface="Times New Roman"/>
                <a:cs typeface="Times New Roman"/>
              </a:rPr>
              <a:t>object.We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00" dirty="0">
                <a:latin typeface="Times New Roman"/>
                <a:cs typeface="Times New Roman"/>
              </a:rPr>
              <a:t>will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5" dirty="0">
                <a:latin typeface="Times New Roman"/>
                <a:cs typeface="Times New Roman"/>
              </a:rPr>
              <a:t>use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90" dirty="0">
                <a:latin typeface="Times New Roman"/>
                <a:cs typeface="Times New Roman"/>
              </a:rPr>
              <a:t>subscripts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to 	</a:t>
            </a:r>
            <a:r>
              <a:rPr sz="1900" spc="-130" dirty="0">
                <a:latin typeface="Times New Roman"/>
                <a:cs typeface="Times New Roman"/>
              </a:rPr>
              <a:t>access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160" dirty="0">
                <a:latin typeface="Times New Roman"/>
                <a:cs typeface="Times New Roman"/>
              </a:rPr>
              <a:t>a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114" dirty="0">
                <a:latin typeface="Times New Roman"/>
                <a:cs typeface="Times New Roman"/>
              </a:rPr>
              <a:t>specific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object.</a:t>
            </a:r>
            <a:endParaRPr sz="1900">
              <a:latin typeface="Times New Roman"/>
              <a:cs typeface="Times New Roman"/>
            </a:endParaRPr>
          </a:p>
          <a:p>
            <a:pPr marL="285115" indent="-272415">
              <a:lnSpc>
                <a:spcPts val="2735"/>
              </a:lnSpc>
              <a:spcBef>
                <a:spcPts val="229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235" dirty="0">
                <a:latin typeface="Times New Roman"/>
                <a:cs typeface="Times New Roman"/>
              </a:rPr>
              <a:t>Key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Properties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8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‘element’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variable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holding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object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returned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by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one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L="285115">
              <a:lnSpc>
                <a:spcPts val="2735"/>
              </a:lnSpc>
            </a:pP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above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get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methods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155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b="1" spc="-35" dirty="0">
                <a:latin typeface="Times New Roman"/>
                <a:cs typeface="Times New Roman"/>
              </a:rPr>
              <a:t>element.innerHTML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305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This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95" dirty="0">
                <a:latin typeface="Times New Roman"/>
                <a:cs typeface="Times New Roman"/>
              </a:rPr>
              <a:t>HTML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content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element</a:t>
            </a:r>
            <a:endParaRPr sz="22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135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b="1" spc="-25" dirty="0">
                <a:latin typeface="Times New Roman"/>
                <a:cs typeface="Times New Roman"/>
              </a:rPr>
              <a:t>element.</a:t>
            </a:r>
            <a:r>
              <a:rPr sz="2200" spc="-25" dirty="0">
                <a:latin typeface="Times New Roman"/>
                <a:cs typeface="Times New Roman"/>
              </a:rPr>
              <a:t>attribute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(where</a:t>
            </a:r>
            <a:r>
              <a:rPr sz="2200" spc="-27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‘attribute’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is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imes New Roman"/>
                <a:cs typeface="Times New Roman"/>
              </a:rPr>
              <a:t>attribute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name)</a:t>
            </a:r>
            <a:endParaRPr sz="22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135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element.style.</a:t>
            </a:r>
            <a:r>
              <a:rPr sz="2200" spc="-10" dirty="0">
                <a:latin typeface="Times New Roman"/>
                <a:cs typeface="Times New Roman"/>
              </a:rPr>
              <a:t>property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(where</a:t>
            </a:r>
            <a:r>
              <a:rPr sz="2200" spc="-28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‘property’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name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85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style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setting)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50272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23285" algn="l"/>
              </a:tabLst>
            </a:pPr>
            <a:r>
              <a:rPr sz="6000" dirty="0"/>
              <a:t>The</a:t>
            </a:r>
            <a:r>
              <a:rPr sz="6000" spc="-95" dirty="0"/>
              <a:t> </a:t>
            </a:r>
            <a:r>
              <a:rPr sz="6000" spc="-20" dirty="0"/>
              <a:t>HTML</a:t>
            </a:r>
            <a:r>
              <a:rPr sz="6000" dirty="0"/>
              <a:t>	</a:t>
            </a:r>
            <a:r>
              <a:rPr sz="6000" spc="-25" dirty="0"/>
              <a:t>DOM</a:t>
            </a:r>
            <a:endParaRPr sz="6000"/>
          </a:p>
        </p:txBody>
      </p:sp>
      <p:sp>
        <p:nvSpPr>
          <p:cNvPr id="5" name="object 5"/>
          <p:cNvSpPr txBox="1"/>
          <p:nvPr/>
        </p:nvSpPr>
        <p:spPr>
          <a:xfrm>
            <a:off x="260350" y="6320374"/>
            <a:ext cx="222250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fld id="{81D60167-4931-47E6-BA6A-407CBD079E47}" type="slidenum"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6</a:t>
            </a:fld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7684" y="2404110"/>
            <a:ext cx="4343400" cy="40995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2140" y="940307"/>
            <a:ext cx="6141720" cy="5147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Times New Roman"/>
                <a:cs typeface="Times New Roman"/>
              </a:rPr>
              <a:t>&lt;!DOCTYPE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html&gt;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&lt;html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lang="en"&gt;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&lt;head&gt;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&lt;meta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charset="UTF-</a:t>
            </a:r>
            <a:r>
              <a:rPr sz="1600" spc="-25" dirty="0">
                <a:latin typeface="Times New Roman"/>
                <a:cs typeface="Times New Roman"/>
              </a:rPr>
              <a:t>8"&gt;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&lt;meta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name="viewport"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content="width=device-</a:t>
            </a:r>
            <a:r>
              <a:rPr sz="1600" dirty="0">
                <a:latin typeface="Times New Roman"/>
                <a:cs typeface="Times New Roman"/>
              </a:rPr>
              <a:t>width,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initial-scale=1.0"&gt;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&lt;meta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http-equiv="X-UA-</a:t>
            </a:r>
            <a:r>
              <a:rPr sz="1600" dirty="0">
                <a:latin typeface="Times New Roman"/>
                <a:cs typeface="Times New Roman"/>
              </a:rPr>
              <a:t>Compatible"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content="ie=edge"&gt;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&lt;title&gt;Document&lt;/title&gt;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&lt;/head&gt;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&lt;body&gt;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&lt;h1&gt;Hello,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World!&lt;/h1&gt;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latin typeface="Times New Roman"/>
                <a:cs typeface="Times New Roman"/>
              </a:rPr>
              <a:t>&lt;ul&gt;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&lt;li&gt;List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item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1&lt;/li&gt;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&lt;li&gt;List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item</a:t>
            </a:r>
            <a:r>
              <a:rPr sz="1600" spc="-10" dirty="0">
                <a:latin typeface="Times New Roman"/>
                <a:cs typeface="Times New Roman"/>
              </a:rPr>
              <a:t> 2&lt;/li&gt;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&lt;/ul&gt;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latin typeface="Times New Roman"/>
                <a:cs typeface="Times New Roman"/>
              </a:rPr>
              <a:t>&lt;ul&gt;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&lt;li&gt;List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item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3&lt;/li&gt;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&lt;li&gt;List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item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4&lt;/li&gt;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&lt;/ul&gt;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&lt;p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 id="demo"&gt;&lt;/p&gt;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&lt;/body&gt;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&lt;/html&gt;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23285" algn="l"/>
              </a:tabLst>
            </a:pPr>
            <a:r>
              <a:rPr sz="6000" dirty="0"/>
              <a:t>The</a:t>
            </a:r>
            <a:r>
              <a:rPr sz="6000" spc="-95" dirty="0"/>
              <a:t> </a:t>
            </a:r>
            <a:r>
              <a:rPr sz="6000" spc="-20" dirty="0"/>
              <a:t>HTML</a:t>
            </a:r>
            <a:r>
              <a:rPr sz="6000" dirty="0"/>
              <a:t>	DOM</a:t>
            </a:r>
            <a:r>
              <a:rPr sz="6000" spc="-145" dirty="0"/>
              <a:t> </a:t>
            </a:r>
            <a:r>
              <a:rPr sz="6000" spc="-80" dirty="0"/>
              <a:t>Example</a:t>
            </a:r>
            <a:endParaRPr sz="6000"/>
          </a:p>
        </p:txBody>
      </p:sp>
      <p:sp>
        <p:nvSpPr>
          <p:cNvPr id="6" name="object 6"/>
          <p:cNvSpPr txBox="1"/>
          <p:nvPr/>
        </p:nvSpPr>
        <p:spPr>
          <a:xfrm>
            <a:off x="260350" y="6320374"/>
            <a:ext cx="222250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fld id="{81D60167-4931-47E6-BA6A-407CBD079E47}" type="slidenum"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7</a:t>
            </a:fld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30731"/>
            <a:ext cx="7959090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 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Console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var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6FC0"/>
                </a:solidFill>
                <a:latin typeface="Times New Roman"/>
                <a:cs typeface="Times New Roman"/>
              </a:rPr>
              <a:t>x</a:t>
            </a:r>
            <a:r>
              <a:rPr sz="28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document.getElementsByTagName("li");</a:t>
            </a:r>
            <a:endParaRPr sz="2800">
              <a:latin typeface="Times New Roman"/>
              <a:cs typeface="Times New Roman"/>
            </a:endParaRPr>
          </a:p>
          <a:p>
            <a:pPr marL="12700" marR="447802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gets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</a:t>
            </a:r>
            <a:r>
              <a:rPr sz="2800" spc="-10" dirty="0">
                <a:latin typeface="Times New Roman"/>
                <a:cs typeface="Times New Roman"/>
              </a:rPr>
              <a:t> elements console.log(x);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Times New Roman"/>
              <a:cs typeface="Times New Roman"/>
            </a:endParaRPr>
          </a:p>
          <a:p>
            <a:pPr marL="101600" marR="701040" indent="-89535">
              <a:lnSpc>
                <a:spcPct val="100000"/>
              </a:lnSpc>
            </a:pP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document.getElementById("demo").innerHTML</a:t>
            </a:r>
            <a:r>
              <a:rPr sz="28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2800" dirty="0">
                <a:latin typeface="Times New Roman"/>
                <a:cs typeface="Times New Roman"/>
              </a:rPr>
              <a:t>'1st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item: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' +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imes New Roman"/>
                <a:cs typeface="Times New Roman"/>
              </a:rPr>
              <a:t>x[0]</a:t>
            </a:r>
            <a:r>
              <a:rPr sz="2800" spc="-10" dirty="0">
                <a:latin typeface="Times New Roman"/>
                <a:cs typeface="Times New Roman"/>
              </a:rPr>
              <a:t>.innerHTML</a:t>
            </a:r>
            <a:endParaRPr sz="28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+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'&lt;br&gt;2nd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item: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'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+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imes New Roman"/>
                <a:cs typeface="Times New Roman"/>
              </a:rPr>
              <a:t>x[1]</a:t>
            </a:r>
            <a:r>
              <a:rPr sz="2800" spc="-10" dirty="0">
                <a:latin typeface="Times New Roman"/>
                <a:cs typeface="Times New Roman"/>
              </a:rPr>
              <a:t>.innerHTML</a:t>
            </a:r>
            <a:endParaRPr sz="28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+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'&lt;br&gt;3rd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item: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'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+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imes New Roman"/>
                <a:cs typeface="Times New Roman"/>
              </a:rPr>
              <a:t>x[2]</a:t>
            </a:r>
            <a:r>
              <a:rPr sz="2800" spc="-10" dirty="0">
                <a:latin typeface="Times New Roman"/>
                <a:cs typeface="Times New Roman"/>
              </a:rPr>
              <a:t>.innerHTML</a:t>
            </a:r>
            <a:endParaRPr sz="28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+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'&lt;br&gt;4th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item: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'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+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imes New Roman"/>
                <a:cs typeface="Times New Roman"/>
              </a:rPr>
              <a:t>x[3]</a:t>
            </a:r>
            <a:r>
              <a:rPr sz="2800" spc="-10" dirty="0">
                <a:latin typeface="Times New Roman"/>
                <a:cs typeface="Times New Roman"/>
              </a:rPr>
              <a:t>.innerHTML;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document.getElementById("demo").style.color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"red";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23285" algn="l"/>
              </a:tabLst>
            </a:pPr>
            <a:r>
              <a:rPr sz="6000" dirty="0"/>
              <a:t>The</a:t>
            </a:r>
            <a:r>
              <a:rPr sz="6000" spc="-95" dirty="0"/>
              <a:t> </a:t>
            </a:r>
            <a:r>
              <a:rPr sz="6000" spc="-20" dirty="0"/>
              <a:t>HTML</a:t>
            </a:r>
            <a:r>
              <a:rPr sz="6000" dirty="0"/>
              <a:t>	DOM</a:t>
            </a:r>
            <a:r>
              <a:rPr sz="6000" spc="-145" dirty="0"/>
              <a:t> </a:t>
            </a:r>
            <a:r>
              <a:rPr sz="6000" spc="-80" dirty="0"/>
              <a:t>Example</a:t>
            </a:r>
            <a:endParaRPr sz="6000"/>
          </a:p>
        </p:txBody>
      </p:sp>
      <p:sp>
        <p:nvSpPr>
          <p:cNvPr id="5" name="object 5"/>
          <p:cNvSpPr txBox="1"/>
          <p:nvPr/>
        </p:nvSpPr>
        <p:spPr>
          <a:xfrm>
            <a:off x="260350" y="6320374"/>
            <a:ext cx="222250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fld id="{81D60167-4931-47E6-BA6A-407CBD079E47}" type="slidenum"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8</a:t>
            </a:fld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23285" algn="l"/>
              </a:tabLst>
            </a:pPr>
            <a:r>
              <a:rPr sz="6000" dirty="0"/>
              <a:t>The</a:t>
            </a:r>
            <a:r>
              <a:rPr sz="6000" spc="-95" dirty="0"/>
              <a:t> </a:t>
            </a:r>
            <a:r>
              <a:rPr sz="6000" spc="-20" dirty="0"/>
              <a:t>HTML</a:t>
            </a:r>
            <a:r>
              <a:rPr sz="6000" dirty="0"/>
              <a:t>	DOM</a:t>
            </a:r>
            <a:r>
              <a:rPr sz="6000" spc="-145" dirty="0"/>
              <a:t> </a:t>
            </a:r>
            <a:r>
              <a:rPr sz="6000" spc="-80" dirty="0"/>
              <a:t>Example</a:t>
            </a:r>
            <a:endParaRPr sz="6000"/>
          </a:p>
        </p:txBody>
      </p:sp>
      <p:grpSp>
        <p:nvGrpSpPr>
          <p:cNvPr id="3" name="object 3"/>
          <p:cNvGrpSpPr/>
          <p:nvPr/>
        </p:nvGrpSpPr>
        <p:grpSpPr>
          <a:xfrm>
            <a:off x="895350" y="896111"/>
            <a:ext cx="7734300" cy="5333365"/>
            <a:chOff x="895350" y="896111"/>
            <a:chExt cx="7734300" cy="53333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915161"/>
              <a:ext cx="7696200" cy="52951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04875" y="905636"/>
              <a:ext cx="7715250" cy="5314315"/>
            </a:xfrm>
            <a:custGeom>
              <a:avLst/>
              <a:gdLst/>
              <a:ahLst/>
              <a:cxnLst/>
              <a:rect l="l" t="t" r="r" b="b"/>
              <a:pathLst>
                <a:path w="7715250" h="5314315">
                  <a:moveTo>
                    <a:pt x="0" y="5314188"/>
                  </a:moveTo>
                  <a:lnTo>
                    <a:pt x="7715250" y="5314188"/>
                  </a:lnTo>
                  <a:lnTo>
                    <a:pt x="7715250" y="0"/>
                  </a:lnTo>
                  <a:lnTo>
                    <a:pt x="0" y="0"/>
                  </a:lnTo>
                  <a:lnTo>
                    <a:pt x="0" y="5314188"/>
                  </a:lnTo>
                  <a:close/>
                </a:path>
              </a:pathLst>
            </a:custGeom>
            <a:ln w="1905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60350" y="6320374"/>
            <a:ext cx="222250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fld id="{81D60167-4931-47E6-BA6A-407CBD079E47}" type="slidenum"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9</a:t>
            </a:fld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00" y="1036320"/>
            <a:ext cx="3997325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&lt;!DOCTYPE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html&gt;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&lt;html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lang="en"&gt;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&lt;head&gt;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&lt;meta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charset="UTF-</a:t>
            </a:r>
            <a:r>
              <a:rPr sz="1400" spc="-25" dirty="0">
                <a:latin typeface="Times New Roman"/>
                <a:cs typeface="Times New Roman"/>
              </a:rPr>
              <a:t>8"&gt;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&lt;meta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name="viewport"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content="width=device-width, initial-scale=1.0"&gt;</a:t>
            </a:r>
            <a:endParaRPr sz="1400">
              <a:latin typeface="Times New Roman"/>
              <a:cs typeface="Times New Roman"/>
            </a:endParaRPr>
          </a:p>
          <a:p>
            <a:pPr marL="12700" marR="117729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&lt;meta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http-</a:t>
            </a:r>
            <a:r>
              <a:rPr sz="1400" spc="-10" dirty="0">
                <a:latin typeface="Times New Roman"/>
                <a:cs typeface="Times New Roman"/>
              </a:rPr>
              <a:t>equiv="X-</a:t>
            </a:r>
            <a:r>
              <a:rPr sz="1400" spc="-20" dirty="0">
                <a:latin typeface="Times New Roman"/>
                <a:cs typeface="Times New Roman"/>
              </a:rPr>
              <a:t>UA-</a:t>
            </a:r>
            <a:r>
              <a:rPr sz="1400" spc="-10" dirty="0">
                <a:latin typeface="Times New Roman"/>
                <a:cs typeface="Times New Roman"/>
              </a:rPr>
              <a:t>Compatible" content="ie=edge"&gt;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&lt;title&gt;Document&lt;/title&gt;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&lt;/head&gt;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&lt;h1&gt;Hello,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World!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!&lt;/h1&gt;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&lt;p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id="one"&gt;This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text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paragraph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1&lt;/p&gt;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&lt;p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id="two"&gt;This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text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paragraph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2&lt;/p&gt;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&lt;p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id="three"&gt;This</a:t>
            </a:r>
            <a:r>
              <a:rPr sz="1400" dirty="0">
                <a:latin typeface="Times New Roman"/>
                <a:cs typeface="Times New Roman"/>
              </a:rPr>
              <a:t> 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text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paragraph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3&lt;/p&gt;</a:t>
            </a:r>
            <a:endParaRPr sz="1400">
              <a:latin typeface="Times New Roman"/>
              <a:cs typeface="Times New Roman"/>
            </a:endParaRPr>
          </a:p>
          <a:p>
            <a:pPr marL="12700" marR="91186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&lt;p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class="unusual"&gt;This</a:t>
            </a:r>
            <a:r>
              <a:rPr sz="14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is an</a:t>
            </a:r>
            <a:r>
              <a:rPr sz="14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UNUSUAL paragraph&lt;/p&gt;</a:t>
            </a:r>
            <a:endParaRPr sz="1400">
              <a:latin typeface="Times New Roman"/>
              <a:cs typeface="Times New Roman"/>
            </a:endParaRPr>
          </a:p>
          <a:p>
            <a:pPr marL="12700" marR="187325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&lt;h1&gt;Below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capture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UNUSUAL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paragraph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by </a:t>
            </a:r>
            <a:r>
              <a:rPr sz="1400" spc="-10" dirty="0">
                <a:latin typeface="Times New Roman"/>
                <a:cs typeface="Times New Roman"/>
              </a:rPr>
              <a:t>A'selector'&lt;/h1&gt;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latin typeface="Times New Roman"/>
                <a:cs typeface="Times New Roman"/>
              </a:rPr>
              <a:t>&lt;hr&gt;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&lt;p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id="demo"&gt;&lt;/p&gt;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latin typeface="Times New Roman"/>
                <a:cs typeface="Times New Roman"/>
              </a:rPr>
              <a:t>&lt;hr&gt;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&lt;/html&gt;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99000" y="941324"/>
            <a:ext cx="364744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//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 console: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var</a:t>
            </a:r>
            <a:r>
              <a:rPr sz="1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document.querySelectorAll("p.unusual"); document.getElementById("demo").innerHTML</a:t>
            </a:r>
            <a:r>
              <a:rPr sz="140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endParaRPr sz="1400">
              <a:latin typeface="Times New Roman"/>
              <a:cs typeface="Times New Roman"/>
            </a:endParaRPr>
          </a:p>
          <a:p>
            <a:pPr marL="146050">
              <a:lnSpc>
                <a:spcPct val="100000"/>
              </a:lnSpc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x[0].innerHTML;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10417" y="2190305"/>
            <a:ext cx="4377690" cy="2162810"/>
            <a:chOff x="4610417" y="2190305"/>
            <a:chExt cx="4377690" cy="21628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0005" y="2199893"/>
              <a:ext cx="4358640" cy="207552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15179" y="2195067"/>
              <a:ext cx="4368165" cy="2153285"/>
            </a:xfrm>
            <a:custGeom>
              <a:avLst/>
              <a:gdLst/>
              <a:ahLst/>
              <a:cxnLst/>
              <a:rect l="l" t="t" r="r" b="b"/>
              <a:pathLst>
                <a:path w="4368165" h="2153285">
                  <a:moveTo>
                    <a:pt x="0" y="2153030"/>
                  </a:moveTo>
                  <a:lnTo>
                    <a:pt x="4368164" y="2153030"/>
                  </a:lnTo>
                  <a:lnTo>
                    <a:pt x="4368164" y="0"/>
                  </a:lnTo>
                  <a:lnTo>
                    <a:pt x="0" y="0"/>
                  </a:lnTo>
                  <a:lnTo>
                    <a:pt x="0" y="2153030"/>
                  </a:lnTo>
                  <a:close/>
                </a:path>
              </a:pathLst>
            </a:custGeom>
            <a:ln w="9525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23285" algn="l"/>
              </a:tabLst>
            </a:pPr>
            <a:r>
              <a:rPr sz="6000" dirty="0"/>
              <a:t>The</a:t>
            </a:r>
            <a:r>
              <a:rPr sz="6000" spc="-95" dirty="0"/>
              <a:t> </a:t>
            </a:r>
            <a:r>
              <a:rPr sz="6000" spc="-20" dirty="0"/>
              <a:t>HTML</a:t>
            </a:r>
            <a:r>
              <a:rPr sz="6000" dirty="0"/>
              <a:t>	DOM</a:t>
            </a:r>
            <a:r>
              <a:rPr sz="6000" spc="-145" dirty="0"/>
              <a:t> </a:t>
            </a:r>
            <a:r>
              <a:rPr sz="6000" spc="-80" dirty="0"/>
              <a:t>Example</a:t>
            </a:r>
            <a:endParaRPr sz="6000"/>
          </a:p>
        </p:txBody>
      </p:sp>
      <p:sp>
        <p:nvSpPr>
          <p:cNvPr id="9" name="object 9"/>
          <p:cNvSpPr txBox="1"/>
          <p:nvPr/>
        </p:nvSpPr>
        <p:spPr>
          <a:xfrm>
            <a:off x="260350" y="6320374"/>
            <a:ext cx="222250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fld id="{81D60167-4931-47E6-BA6A-407CBD079E47}" type="slidenum"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10</a:t>
            </a:fld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00" y="1036320"/>
            <a:ext cx="3997325" cy="536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&lt;!DOCTYPE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html&gt;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&lt;html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lang="en"&gt;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&lt;head&gt;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&lt;meta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charset="UTF-</a:t>
            </a:r>
            <a:r>
              <a:rPr sz="1400" spc="-25" dirty="0">
                <a:latin typeface="Times New Roman"/>
                <a:cs typeface="Times New Roman"/>
              </a:rPr>
              <a:t>8"&gt;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&lt;meta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name="viewport"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content="width=device-width, initial-scale=1.0"&gt;</a:t>
            </a:r>
            <a:endParaRPr sz="1400">
              <a:latin typeface="Times New Roman"/>
              <a:cs typeface="Times New Roman"/>
            </a:endParaRPr>
          </a:p>
          <a:p>
            <a:pPr marL="12700" marR="117729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&lt;meta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http-</a:t>
            </a:r>
            <a:r>
              <a:rPr sz="1400" spc="-10" dirty="0">
                <a:latin typeface="Times New Roman"/>
                <a:cs typeface="Times New Roman"/>
              </a:rPr>
              <a:t>equiv="X-</a:t>
            </a:r>
            <a:r>
              <a:rPr sz="1400" spc="-20" dirty="0">
                <a:latin typeface="Times New Roman"/>
                <a:cs typeface="Times New Roman"/>
              </a:rPr>
              <a:t>UA-</a:t>
            </a:r>
            <a:r>
              <a:rPr sz="1400" spc="-10" dirty="0">
                <a:latin typeface="Times New Roman"/>
                <a:cs typeface="Times New Roman"/>
              </a:rPr>
              <a:t>Compatible" content="ie=edge"&gt;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&lt;title&gt;Document&lt;/title&gt;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&lt;/head&gt;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&lt;h1&gt;Hello,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World!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!&lt;/h1&gt;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&lt;p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id="one"&gt;This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text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paragraph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1&lt;/p&gt;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&lt;p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id="two"&gt;This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text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paragraph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2&lt;/p&gt;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&lt;p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id="three"&gt;This</a:t>
            </a:r>
            <a:r>
              <a:rPr sz="1400" dirty="0">
                <a:latin typeface="Times New Roman"/>
                <a:cs typeface="Times New Roman"/>
              </a:rPr>
              <a:t> 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text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paragraph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3&lt;/p&gt;</a:t>
            </a:r>
            <a:endParaRPr sz="1400">
              <a:latin typeface="Times New Roman"/>
              <a:cs typeface="Times New Roman"/>
            </a:endParaRPr>
          </a:p>
          <a:p>
            <a:pPr marL="12700" marR="91186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&lt;p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class="unusual"&gt;This</a:t>
            </a:r>
            <a:r>
              <a:rPr sz="14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is an</a:t>
            </a:r>
            <a:r>
              <a:rPr sz="14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UNUSUAL paragraph&lt;/p&gt;</a:t>
            </a:r>
            <a:endParaRPr sz="1400">
              <a:latin typeface="Times New Roman"/>
              <a:cs typeface="Times New Roman"/>
            </a:endParaRPr>
          </a:p>
          <a:p>
            <a:pPr marL="12700" marR="187325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&lt;h1&gt;Below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capture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UNUSUAL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paragraph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by </a:t>
            </a:r>
            <a:r>
              <a:rPr sz="1400" spc="-10" dirty="0">
                <a:latin typeface="Times New Roman"/>
                <a:cs typeface="Times New Roman"/>
              </a:rPr>
              <a:t>A'selector'&lt;/h1&gt;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latin typeface="Times New Roman"/>
                <a:cs typeface="Times New Roman"/>
              </a:rPr>
              <a:t>&lt;hr&gt;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&lt;p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id="demo"&gt;&lt;/p&gt;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latin typeface="Times New Roman"/>
                <a:cs typeface="Times New Roman"/>
              </a:rPr>
              <a:t>&lt;hr&gt;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&lt;script</a:t>
            </a:r>
            <a:r>
              <a:rPr sz="1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src="demo.js"&gt;&lt;/script&gt;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&lt;/html&gt;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99000" y="941324"/>
            <a:ext cx="364744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//</a:t>
            </a:r>
            <a:r>
              <a:rPr sz="1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demo.js: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var</a:t>
            </a:r>
            <a:r>
              <a:rPr sz="1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document.querySelectorAll("p.unusual"); document.getElementById("demo").innerHTML</a:t>
            </a:r>
            <a:r>
              <a:rPr sz="140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endParaRPr sz="1400">
              <a:latin typeface="Times New Roman"/>
              <a:cs typeface="Times New Roman"/>
            </a:endParaRPr>
          </a:p>
          <a:p>
            <a:pPr marL="146050">
              <a:lnSpc>
                <a:spcPct val="100000"/>
              </a:lnSpc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x[0].innerHTML;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10417" y="2114105"/>
            <a:ext cx="4377690" cy="2162810"/>
            <a:chOff x="4610417" y="2114105"/>
            <a:chExt cx="4377690" cy="21628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0005" y="2123693"/>
              <a:ext cx="4358640" cy="207552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15179" y="2118867"/>
              <a:ext cx="4368165" cy="2153285"/>
            </a:xfrm>
            <a:custGeom>
              <a:avLst/>
              <a:gdLst/>
              <a:ahLst/>
              <a:cxnLst/>
              <a:rect l="l" t="t" r="r" b="b"/>
              <a:pathLst>
                <a:path w="4368165" h="2153285">
                  <a:moveTo>
                    <a:pt x="0" y="2153030"/>
                  </a:moveTo>
                  <a:lnTo>
                    <a:pt x="4368164" y="2153030"/>
                  </a:lnTo>
                  <a:lnTo>
                    <a:pt x="4368164" y="0"/>
                  </a:lnTo>
                  <a:lnTo>
                    <a:pt x="0" y="0"/>
                  </a:lnTo>
                  <a:lnTo>
                    <a:pt x="0" y="2153030"/>
                  </a:lnTo>
                  <a:close/>
                </a:path>
              </a:pathLst>
            </a:custGeom>
            <a:ln w="9525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23285" algn="l"/>
              </a:tabLst>
            </a:pPr>
            <a:r>
              <a:rPr sz="6000" dirty="0"/>
              <a:t>The</a:t>
            </a:r>
            <a:r>
              <a:rPr sz="6000" spc="-95" dirty="0"/>
              <a:t> </a:t>
            </a:r>
            <a:r>
              <a:rPr sz="6000" spc="-20" dirty="0"/>
              <a:t>HTML</a:t>
            </a:r>
            <a:r>
              <a:rPr sz="6000" dirty="0"/>
              <a:t>	DOM</a:t>
            </a:r>
            <a:r>
              <a:rPr sz="6000" spc="-145" dirty="0"/>
              <a:t> </a:t>
            </a:r>
            <a:r>
              <a:rPr sz="6000" spc="-80" dirty="0"/>
              <a:t>Example</a:t>
            </a:r>
            <a:endParaRPr sz="60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&lt;!DOCTYPE</a:t>
            </a:r>
            <a:r>
              <a:rPr spc="-40" dirty="0"/>
              <a:t> </a:t>
            </a:r>
            <a:r>
              <a:rPr spc="-10" dirty="0"/>
              <a:t>html&gt;</a:t>
            </a:r>
          </a:p>
          <a:p>
            <a:pPr marL="12700">
              <a:lnSpc>
                <a:spcPct val="100000"/>
              </a:lnSpc>
            </a:pPr>
            <a:r>
              <a:rPr dirty="0"/>
              <a:t>&lt;html</a:t>
            </a:r>
            <a:r>
              <a:rPr spc="-5" dirty="0"/>
              <a:t> </a:t>
            </a:r>
            <a:r>
              <a:rPr spc="-10" dirty="0"/>
              <a:t>lang="en"&gt;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&lt;head&gt;</a:t>
            </a:r>
          </a:p>
          <a:p>
            <a:pPr marL="12700">
              <a:lnSpc>
                <a:spcPct val="100000"/>
              </a:lnSpc>
            </a:pPr>
            <a:r>
              <a:rPr dirty="0"/>
              <a:t>&lt;meta</a:t>
            </a:r>
            <a:r>
              <a:rPr spc="40" dirty="0"/>
              <a:t> </a:t>
            </a:r>
            <a:r>
              <a:rPr spc="-10" dirty="0"/>
              <a:t>charset="UTF-</a:t>
            </a:r>
            <a:r>
              <a:rPr spc="-25" dirty="0"/>
              <a:t>8"&gt;</a:t>
            </a:r>
          </a:p>
          <a:p>
            <a:pPr marL="12700" marR="5080">
              <a:lnSpc>
                <a:spcPct val="100000"/>
              </a:lnSpc>
            </a:pPr>
            <a:r>
              <a:rPr dirty="0"/>
              <a:t>&lt;meta</a:t>
            </a:r>
            <a:r>
              <a:rPr spc="60" dirty="0"/>
              <a:t> </a:t>
            </a:r>
            <a:r>
              <a:rPr spc="-10" dirty="0"/>
              <a:t>name="viewport"</a:t>
            </a:r>
            <a:r>
              <a:rPr spc="70" dirty="0"/>
              <a:t> </a:t>
            </a:r>
            <a:r>
              <a:rPr spc="-10" dirty="0"/>
              <a:t>content="width=device-width, initial-scale=1.0"&gt;</a:t>
            </a:r>
          </a:p>
          <a:p>
            <a:pPr marL="12700" marR="1177290">
              <a:lnSpc>
                <a:spcPct val="100000"/>
              </a:lnSpc>
            </a:pPr>
            <a:r>
              <a:rPr dirty="0"/>
              <a:t>&lt;meta</a:t>
            </a:r>
            <a:r>
              <a:rPr spc="60" dirty="0"/>
              <a:t> </a:t>
            </a:r>
            <a:r>
              <a:rPr dirty="0"/>
              <a:t>http-</a:t>
            </a:r>
            <a:r>
              <a:rPr spc="-10" dirty="0"/>
              <a:t>equiv="X-</a:t>
            </a:r>
            <a:r>
              <a:rPr spc="-20" dirty="0"/>
              <a:t>UA-</a:t>
            </a:r>
            <a:r>
              <a:rPr spc="-10" dirty="0"/>
              <a:t>Compatible" content="ie=edge"&gt;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&lt;title&gt;Document&lt;/title&gt;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&lt;/head&gt;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&lt;body&gt;</a:t>
            </a:r>
          </a:p>
          <a:p>
            <a:pPr marL="12700">
              <a:lnSpc>
                <a:spcPct val="100000"/>
              </a:lnSpc>
            </a:pPr>
            <a:r>
              <a:rPr dirty="0"/>
              <a:t>&lt;h1&gt;Hello,</a:t>
            </a:r>
            <a:r>
              <a:rPr spc="-65" dirty="0"/>
              <a:t> </a:t>
            </a:r>
            <a:r>
              <a:rPr spc="-20" dirty="0"/>
              <a:t>World!</a:t>
            </a:r>
            <a:r>
              <a:rPr spc="-60" dirty="0"/>
              <a:t> </a:t>
            </a:r>
            <a:r>
              <a:rPr spc="-10" dirty="0"/>
              <a:t>!&lt;/h1&gt;</a:t>
            </a:r>
          </a:p>
          <a:p>
            <a:pPr marL="12700">
              <a:lnSpc>
                <a:spcPct val="100000"/>
              </a:lnSpc>
            </a:pPr>
            <a:r>
              <a:rPr dirty="0"/>
              <a:t>&lt;p</a:t>
            </a:r>
            <a:r>
              <a:rPr spc="-45" dirty="0"/>
              <a:t> </a:t>
            </a:r>
            <a:r>
              <a:rPr dirty="0"/>
              <a:t>id="one"&gt;This</a:t>
            </a:r>
            <a:r>
              <a:rPr spc="-2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text</a:t>
            </a:r>
            <a:r>
              <a:rPr spc="-35" dirty="0"/>
              <a:t> </a:t>
            </a:r>
            <a:r>
              <a:rPr dirty="0"/>
              <a:t>from</a:t>
            </a:r>
            <a:r>
              <a:rPr spc="-50" dirty="0"/>
              <a:t> </a:t>
            </a:r>
            <a:r>
              <a:rPr dirty="0"/>
              <a:t>paragraph</a:t>
            </a:r>
            <a:r>
              <a:rPr spc="-30" dirty="0"/>
              <a:t> </a:t>
            </a:r>
            <a:r>
              <a:rPr spc="-10" dirty="0"/>
              <a:t>1&lt;/p&gt;</a:t>
            </a:r>
          </a:p>
          <a:p>
            <a:pPr marL="12700">
              <a:lnSpc>
                <a:spcPct val="100000"/>
              </a:lnSpc>
            </a:pPr>
            <a:r>
              <a:rPr dirty="0"/>
              <a:t>&lt;p</a:t>
            </a:r>
            <a:r>
              <a:rPr spc="-25" dirty="0"/>
              <a:t> </a:t>
            </a:r>
            <a:r>
              <a:rPr dirty="0"/>
              <a:t>id="two"&gt;This</a:t>
            </a:r>
            <a:r>
              <a:rPr spc="-2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text</a:t>
            </a:r>
            <a:r>
              <a:rPr spc="-25" dirty="0"/>
              <a:t> </a:t>
            </a:r>
            <a:r>
              <a:rPr dirty="0"/>
              <a:t>from</a:t>
            </a:r>
            <a:r>
              <a:rPr spc="-40" dirty="0"/>
              <a:t> </a:t>
            </a:r>
            <a:r>
              <a:rPr dirty="0"/>
              <a:t>paragraph</a:t>
            </a:r>
            <a:r>
              <a:rPr spc="-25" dirty="0"/>
              <a:t> </a:t>
            </a:r>
            <a:r>
              <a:rPr spc="-10" dirty="0"/>
              <a:t>2&lt;/p&gt;</a:t>
            </a:r>
          </a:p>
          <a:p>
            <a:pPr marL="12700">
              <a:lnSpc>
                <a:spcPct val="100000"/>
              </a:lnSpc>
            </a:pPr>
            <a:r>
              <a:rPr dirty="0"/>
              <a:t>&lt;p</a:t>
            </a:r>
            <a:r>
              <a:rPr spc="-25" dirty="0"/>
              <a:t> </a:t>
            </a:r>
            <a:r>
              <a:rPr spc="-10" dirty="0"/>
              <a:t>id="three"&gt;This</a:t>
            </a:r>
            <a:r>
              <a:rPr dirty="0"/>
              <a:t> is</a:t>
            </a:r>
            <a:r>
              <a:rPr spc="-5" dirty="0"/>
              <a:t> </a:t>
            </a:r>
            <a:r>
              <a:rPr dirty="0"/>
              <a:t>text</a:t>
            </a:r>
            <a:r>
              <a:rPr spc="-15" dirty="0"/>
              <a:t> </a:t>
            </a:r>
            <a:r>
              <a:rPr dirty="0"/>
              <a:t>from</a:t>
            </a:r>
            <a:r>
              <a:rPr spc="-15" dirty="0"/>
              <a:t> </a:t>
            </a:r>
            <a:r>
              <a:rPr dirty="0"/>
              <a:t>paragraph</a:t>
            </a:r>
            <a:r>
              <a:rPr spc="-15" dirty="0"/>
              <a:t> </a:t>
            </a:r>
            <a:r>
              <a:rPr spc="-10" dirty="0"/>
              <a:t>3&lt;/p&gt;</a:t>
            </a:r>
          </a:p>
          <a:p>
            <a:pPr marL="12700" marR="911860">
              <a:lnSpc>
                <a:spcPct val="100000"/>
              </a:lnSpc>
            </a:pPr>
            <a:r>
              <a:rPr dirty="0">
                <a:solidFill>
                  <a:srgbClr val="FF0000"/>
                </a:solidFill>
              </a:rPr>
              <a:t>&lt;p</a:t>
            </a:r>
            <a:r>
              <a:rPr spc="-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class="unusual"&gt;This</a:t>
            </a:r>
            <a:r>
              <a:rPr spc="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is an</a:t>
            </a:r>
            <a:r>
              <a:rPr spc="1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UNUSUAL paragraph&lt;/p&gt;</a:t>
            </a:r>
          </a:p>
          <a:p>
            <a:pPr marL="12700" marR="187325">
              <a:lnSpc>
                <a:spcPct val="100000"/>
              </a:lnSpc>
            </a:pPr>
            <a:r>
              <a:rPr dirty="0"/>
              <a:t>&lt;h1&gt;Below</a:t>
            </a:r>
            <a:r>
              <a:rPr spc="-25" dirty="0"/>
              <a:t> </a:t>
            </a:r>
            <a:r>
              <a:rPr dirty="0"/>
              <a:t>we</a:t>
            </a:r>
            <a:r>
              <a:rPr spc="-25" dirty="0"/>
              <a:t> </a:t>
            </a:r>
            <a:r>
              <a:rPr dirty="0"/>
              <a:t>capture</a:t>
            </a:r>
            <a:r>
              <a:rPr spc="-2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UNUSUAL</a:t>
            </a:r>
            <a:r>
              <a:rPr spc="-70" dirty="0"/>
              <a:t> </a:t>
            </a:r>
            <a:r>
              <a:rPr dirty="0"/>
              <a:t>paragraph</a:t>
            </a:r>
            <a:r>
              <a:rPr spc="-35" dirty="0"/>
              <a:t> </a:t>
            </a:r>
            <a:r>
              <a:rPr spc="-25" dirty="0"/>
              <a:t>by </a:t>
            </a:r>
            <a:r>
              <a:rPr spc="-10" dirty="0"/>
              <a:t>A'selector'&lt;/h1&gt;</a:t>
            </a:r>
          </a:p>
          <a:p>
            <a:pPr marL="12700">
              <a:lnSpc>
                <a:spcPct val="100000"/>
              </a:lnSpc>
            </a:pPr>
            <a:r>
              <a:rPr spc="-20" dirty="0"/>
              <a:t>&lt;hr&gt;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FF0000"/>
                </a:solidFill>
              </a:rPr>
              <a:t>&lt;p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id="demo"&gt;&lt;/p&gt;</a:t>
            </a:r>
          </a:p>
          <a:p>
            <a:pPr marL="12700">
              <a:lnSpc>
                <a:spcPct val="100000"/>
              </a:lnSpc>
            </a:pPr>
            <a:r>
              <a:rPr spc="-20" dirty="0"/>
              <a:t>&lt;hr&gt;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99000" y="941324"/>
            <a:ext cx="3647440" cy="1518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&lt;script&gt;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var</a:t>
            </a:r>
            <a:r>
              <a:rPr sz="1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document.querySelectorAll("p.unusual"); document.getElementById("demo").innerHTML</a:t>
            </a:r>
            <a:r>
              <a:rPr sz="140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endParaRPr sz="1400">
              <a:latin typeface="Times New Roman"/>
              <a:cs typeface="Times New Roman"/>
            </a:endParaRPr>
          </a:p>
          <a:p>
            <a:pPr marL="146050">
              <a:lnSpc>
                <a:spcPct val="100000"/>
              </a:lnSpc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x[0].innerHTML;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&lt;/script&gt;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&lt;/html&gt;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27943" y="2935541"/>
            <a:ext cx="4377690" cy="2162175"/>
            <a:chOff x="4627943" y="2935541"/>
            <a:chExt cx="4377690" cy="21621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7531" y="2945130"/>
              <a:ext cx="4358640" cy="207478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32705" y="2940304"/>
              <a:ext cx="4368165" cy="2152650"/>
            </a:xfrm>
            <a:custGeom>
              <a:avLst/>
              <a:gdLst/>
              <a:ahLst/>
              <a:cxnLst/>
              <a:rect l="l" t="t" r="r" b="b"/>
              <a:pathLst>
                <a:path w="4368165" h="2152650">
                  <a:moveTo>
                    <a:pt x="0" y="2152269"/>
                  </a:moveTo>
                  <a:lnTo>
                    <a:pt x="4368165" y="2152269"/>
                  </a:lnTo>
                  <a:lnTo>
                    <a:pt x="4368165" y="0"/>
                  </a:lnTo>
                  <a:lnTo>
                    <a:pt x="0" y="0"/>
                  </a:lnTo>
                  <a:lnTo>
                    <a:pt x="0" y="2152269"/>
                  </a:lnTo>
                  <a:close/>
                </a:path>
              </a:pathLst>
            </a:custGeom>
            <a:ln w="9525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23285" algn="l"/>
              </a:tabLst>
            </a:pPr>
            <a:r>
              <a:rPr sz="6000" dirty="0"/>
              <a:t>The</a:t>
            </a:r>
            <a:r>
              <a:rPr sz="6000" spc="-95" dirty="0"/>
              <a:t> </a:t>
            </a:r>
            <a:r>
              <a:rPr sz="6000" spc="-20" dirty="0"/>
              <a:t>HTML</a:t>
            </a:r>
            <a:r>
              <a:rPr sz="6000" dirty="0"/>
              <a:t>	DOM</a:t>
            </a:r>
            <a:r>
              <a:rPr sz="6000" spc="-145" dirty="0"/>
              <a:t> </a:t>
            </a:r>
            <a:r>
              <a:rPr sz="6000" spc="-80" dirty="0"/>
              <a:t>Example</a:t>
            </a:r>
            <a:endParaRPr sz="60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8834"/>
            <a:ext cx="852614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/>
              <a:t>The</a:t>
            </a:r>
            <a:r>
              <a:rPr sz="3400" spc="-60" dirty="0"/>
              <a:t> </a:t>
            </a:r>
            <a:r>
              <a:rPr sz="3400" dirty="0"/>
              <a:t>HTML</a:t>
            </a:r>
            <a:r>
              <a:rPr sz="3400" spc="-70" dirty="0"/>
              <a:t> </a:t>
            </a:r>
            <a:r>
              <a:rPr sz="3400" dirty="0"/>
              <a:t>DOM</a:t>
            </a:r>
            <a:r>
              <a:rPr sz="3400" spc="-70" dirty="0"/>
              <a:t> </a:t>
            </a:r>
            <a:r>
              <a:rPr sz="3400" dirty="0"/>
              <a:t>-</a:t>
            </a:r>
            <a:r>
              <a:rPr sz="3400" spc="-60" dirty="0"/>
              <a:t> </a:t>
            </a:r>
            <a:r>
              <a:rPr sz="3400" spc="-80" dirty="0"/>
              <a:t>Writing</a:t>
            </a:r>
            <a:r>
              <a:rPr sz="3400" spc="-65" dirty="0"/>
              <a:t> </a:t>
            </a:r>
            <a:r>
              <a:rPr sz="3400" spc="-10" dirty="0"/>
              <a:t>into</a:t>
            </a:r>
            <a:r>
              <a:rPr sz="3400" spc="-60" dirty="0"/>
              <a:t> </a:t>
            </a:r>
            <a:r>
              <a:rPr sz="3400" dirty="0"/>
              <a:t>the</a:t>
            </a:r>
            <a:r>
              <a:rPr sz="3400" spc="-60" dirty="0"/>
              <a:t> </a:t>
            </a:r>
            <a:r>
              <a:rPr sz="3400" dirty="0"/>
              <a:t>HTML</a:t>
            </a:r>
            <a:r>
              <a:rPr sz="3400" spc="-60" dirty="0"/>
              <a:t> </a:t>
            </a:r>
            <a:r>
              <a:rPr sz="3400" spc="-10" dirty="0"/>
              <a:t>Stream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453390" y="730249"/>
            <a:ext cx="16802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&lt;!DOCTYPE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html&gt;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390" y="974090"/>
            <a:ext cx="21145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&lt;html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lang="en"&gt;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&lt;head&gt;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&lt;meta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charset="UTF-</a:t>
            </a:r>
            <a:r>
              <a:rPr sz="1600" spc="-25" dirty="0">
                <a:latin typeface="Times New Roman"/>
                <a:cs typeface="Times New Roman"/>
              </a:rPr>
              <a:t>8"&gt;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390" y="1705610"/>
            <a:ext cx="5165725" cy="465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&lt;meta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name="viewport" </a:t>
            </a:r>
            <a:r>
              <a:rPr sz="1600" spc="-10" dirty="0">
                <a:latin typeface="Times New Roman"/>
                <a:cs typeface="Times New Roman"/>
              </a:rPr>
              <a:t>content="width=device-</a:t>
            </a:r>
            <a:r>
              <a:rPr sz="1600" dirty="0">
                <a:latin typeface="Times New Roman"/>
                <a:cs typeface="Times New Roman"/>
              </a:rPr>
              <a:t>width,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initial- scale=1.0"&gt;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&lt;meta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http-equiv="X-UA-</a:t>
            </a:r>
            <a:r>
              <a:rPr sz="1600" dirty="0">
                <a:latin typeface="Times New Roman"/>
                <a:cs typeface="Times New Roman"/>
              </a:rPr>
              <a:t>Compatible"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content="ie=edge"&gt;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&lt;title&gt;Document&lt;/title&gt;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Times New Roman"/>
                <a:cs typeface="Times New Roman"/>
              </a:rPr>
              <a:t>&lt;/head&gt;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&lt;body&gt;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&lt;h1&gt;Hello,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World!&lt;/h1&gt;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latin typeface="Times New Roman"/>
                <a:cs typeface="Times New Roman"/>
              </a:rPr>
              <a:t>&lt;ul&gt;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&lt;li&gt;List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item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1&lt;/li&gt;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&lt;li&gt;List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item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2&lt;/li&gt;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&lt;/ul&gt;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latin typeface="Times New Roman"/>
                <a:cs typeface="Times New Roman"/>
              </a:rPr>
              <a:t>&lt;ul&gt;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&lt;li&gt;List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item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3&lt;/li&gt;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&lt;li&gt;List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item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4&lt;/li&gt;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&lt;/ul&gt;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&lt;p</a:t>
            </a:r>
            <a:r>
              <a:rPr sz="1600" spc="-10" dirty="0">
                <a:latin typeface="Times New Roman"/>
                <a:cs typeface="Times New Roman"/>
              </a:rPr>
              <a:t> id="demo"&gt;&lt;/p&gt;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&lt;script&gt;document.write("Hello,</a:t>
            </a:r>
            <a:r>
              <a:rPr sz="16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today</a:t>
            </a:r>
            <a:r>
              <a:rPr sz="16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is:</a:t>
            </a:r>
            <a:r>
              <a:rPr sz="16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"</a:t>
            </a:r>
            <a:r>
              <a:rPr sz="160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sz="16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Date());&lt;/script&gt;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&lt;/body&gt;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&lt;/html&gt;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892234" y="2733611"/>
            <a:ext cx="6115050" cy="2834005"/>
            <a:chOff x="2892234" y="2733611"/>
            <a:chExt cx="6115050" cy="283400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1696" y="2743199"/>
              <a:ext cx="6096000" cy="272146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896997" y="2738373"/>
              <a:ext cx="6105525" cy="2824480"/>
            </a:xfrm>
            <a:custGeom>
              <a:avLst/>
              <a:gdLst/>
              <a:ahLst/>
              <a:cxnLst/>
              <a:rect l="l" t="t" r="r" b="b"/>
              <a:pathLst>
                <a:path w="6105525" h="2824479">
                  <a:moveTo>
                    <a:pt x="0" y="2824353"/>
                  </a:moveTo>
                  <a:lnTo>
                    <a:pt x="6105525" y="2824353"/>
                  </a:lnTo>
                  <a:lnTo>
                    <a:pt x="6105525" y="0"/>
                  </a:lnTo>
                  <a:lnTo>
                    <a:pt x="0" y="0"/>
                  </a:lnTo>
                  <a:lnTo>
                    <a:pt x="0" y="2824353"/>
                  </a:lnTo>
                  <a:close/>
                </a:path>
              </a:pathLst>
            </a:custGeom>
            <a:ln w="9525">
              <a:solidFill>
                <a:srgbClr val="422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787902" y="726440"/>
            <a:ext cx="45415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JavaScript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document.write()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will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add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text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directly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into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HTML</a:t>
            </a:r>
            <a:r>
              <a:rPr sz="2400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page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58495"/>
            <a:ext cx="79216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The</a:t>
            </a:r>
            <a:r>
              <a:rPr sz="4000" spc="-60" dirty="0"/>
              <a:t> </a:t>
            </a:r>
            <a:r>
              <a:rPr sz="4000" dirty="0"/>
              <a:t>HTML</a:t>
            </a:r>
            <a:r>
              <a:rPr sz="4000" spc="-55" dirty="0"/>
              <a:t> </a:t>
            </a:r>
            <a:r>
              <a:rPr sz="4000" dirty="0"/>
              <a:t>DOM</a:t>
            </a:r>
            <a:r>
              <a:rPr sz="4000" spc="-75" dirty="0"/>
              <a:t> </a:t>
            </a:r>
            <a:r>
              <a:rPr sz="4000" dirty="0"/>
              <a:t>-</a:t>
            </a:r>
            <a:r>
              <a:rPr sz="4000" spc="-60" dirty="0"/>
              <a:t> </a:t>
            </a:r>
            <a:r>
              <a:rPr sz="4000" spc="-25" dirty="0"/>
              <a:t>Changing</a:t>
            </a:r>
            <a:r>
              <a:rPr sz="4000" spc="-85" dirty="0"/>
              <a:t> </a:t>
            </a:r>
            <a:r>
              <a:rPr sz="4000" spc="-45" dirty="0"/>
              <a:t>Attributes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12140" y="870204"/>
            <a:ext cx="7782559" cy="231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210" marR="478155" indent="-271145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5115" algn="l"/>
              </a:tabLst>
            </a:pPr>
            <a:r>
              <a:rPr sz="2800" spc="-345" dirty="0">
                <a:latin typeface="Times New Roman"/>
                <a:cs typeface="Times New Roman"/>
              </a:rPr>
              <a:t>You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can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change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attribute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35" dirty="0">
                <a:latin typeface="Times New Roman"/>
                <a:cs typeface="Times New Roman"/>
              </a:rPr>
              <a:t>by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getting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element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and 	</a:t>
            </a:r>
            <a:r>
              <a:rPr sz="2800" spc="-195" dirty="0">
                <a:latin typeface="Times New Roman"/>
                <a:cs typeface="Times New Roman"/>
              </a:rPr>
              <a:t>assigning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value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80" dirty="0">
                <a:latin typeface="Times New Roman"/>
                <a:cs typeface="Times New Roman"/>
              </a:rPr>
              <a:t> the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attribute</a:t>
            </a:r>
            <a:endParaRPr sz="2800">
              <a:latin typeface="Times New Roman"/>
              <a:cs typeface="Times New Roman"/>
            </a:endParaRPr>
          </a:p>
          <a:p>
            <a:pPr marL="331470">
              <a:lnSpc>
                <a:spcPct val="100000"/>
              </a:lnSpc>
              <a:spcBef>
                <a:spcPts val="400"/>
              </a:spcBef>
            </a:pPr>
            <a:r>
              <a:rPr sz="2800" b="1" spc="-55" dirty="0">
                <a:latin typeface="Times New Roman"/>
                <a:cs typeface="Times New Roman"/>
              </a:rPr>
              <a:t>&lt;IMG </a:t>
            </a:r>
            <a:r>
              <a:rPr sz="2800" b="1" dirty="0">
                <a:latin typeface="Times New Roman"/>
                <a:cs typeface="Times New Roman"/>
              </a:rPr>
              <a:t>id="image1"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src="Paul1.jpg"&gt;</a:t>
            </a:r>
            <a:endParaRPr sz="2800">
              <a:latin typeface="Times New Roman"/>
              <a:cs typeface="Times New Roman"/>
            </a:endParaRPr>
          </a:p>
          <a:p>
            <a:pPr marL="410209" marR="5080" lvl="1" indent="-114935">
              <a:lnSpc>
                <a:spcPts val="3760"/>
              </a:lnSpc>
              <a:spcBef>
                <a:spcPts val="10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410209" algn="l"/>
                <a:tab pos="558800" algn="l"/>
              </a:tabLst>
            </a:pPr>
            <a:r>
              <a:rPr sz="2800" spc="-165" dirty="0">
                <a:latin typeface="Times New Roman"/>
                <a:cs typeface="Times New Roman"/>
              </a:rPr>
              <a:t>	Can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change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src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attribute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with: </a:t>
            </a:r>
            <a:r>
              <a:rPr sz="2800" spc="-120" dirty="0">
                <a:solidFill>
                  <a:srgbClr val="FF0000"/>
                </a:solidFill>
                <a:latin typeface="Times New Roman"/>
                <a:cs typeface="Times New Roman"/>
              </a:rPr>
              <a:t>document.getElementById("image1").src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28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90" dirty="0">
                <a:solidFill>
                  <a:srgbClr val="FF0000"/>
                </a:solidFill>
                <a:latin typeface="Times New Roman"/>
                <a:cs typeface="Times New Roman"/>
              </a:rPr>
              <a:t>"Paul2.jpg";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109728"/>
            <a:ext cx="87693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The</a:t>
            </a:r>
            <a:r>
              <a:rPr sz="4800" spc="-85" dirty="0"/>
              <a:t> </a:t>
            </a:r>
            <a:r>
              <a:rPr sz="4800" dirty="0"/>
              <a:t>HTML</a:t>
            </a:r>
            <a:r>
              <a:rPr sz="4800" spc="-80" dirty="0"/>
              <a:t> </a:t>
            </a:r>
            <a:r>
              <a:rPr sz="4800" dirty="0"/>
              <a:t>DOM</a:t>
            </a:r>
            <a:r>
              <a:rPr sz="4800" spc="-105" dirty="0"/>
              <a:t> </a:t>
            </a:r>
            <a:r>
              <a:rPr sz="4800" dirty="0"/>
              <a:t>–</a:t>
            </a:r>
            <a:r>
              <a:rPr sz="4800" spc="-85" dirty="0"/>
              <a:t> </a:t>
            </a:r>
            <a:r>
              <a:rPr sz="4800" spc="-50" dirty="0"/>
              <a:t>Changing</a:t>
            </a:r>
            <a:r>
              <a:rPr sz="4800" spc="-85" dirty="0"/>
              <a:t> </a:t>
            </a:r>
            <a:r>
              <a:rPr sz="4800" spc="-10" dirty="0"/>
              <a:t>Styles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681990" y="939545"/>
            <a:ext cx="8373745" cy="4694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845" marR="542290" indent="-280670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5115" algn="l"/>
              </a:tabLst>
            </a:pPr>
            <a:r>
              <a:rPr sz="3200" spc="-395" dirty="0">
                <a:latin typeface="Times New Roman"/>
                <a:cs typeface="Times New Roman"/>
              </a:rPr>
              <a:t>You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15" dirty="0">
                <a:latin typeface="Times New Roman"/>
                <a:cs typeface="Times New Roman"/>
              </a:rPr>
              <a:t>can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change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style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60" dirty="0">
                <a:latin typeface="Times New Roman"/>
                <a:cs typeface="Times New Roman"/>
              </a:rPr>
              <a:t>by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25" dirty="0">
                <a:latin typeface="Times New Roman"/>
                <a:cs typeface="Times New Roman"/>
              </a:rPr>
              <a:t>assigning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54" dirty="0">
                <a:latin typeface="Times New Roman"/>
                <a:cs typeface="Times New Roman"/>
              </a:rPr>
              <a:t>any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of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the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style 	properties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on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an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element</a:t>
            </a:r>
            <a:endParaRPr sz="3200">
              <a:latin typeface="Times New Roman"/>
              <a:cs typeface="Times New Roman"/>
            </a:endParaRPr>
          </a:p>
          <a:p>
            <a:pPr marL="284480" indent="-28067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spc="-175" dirty="0">
                <a:latin typeface="Times New Roman"/>
                <a:cs typeface="Times New Roman"/>
              </a:rPr>
              <a:t>The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format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220" dirty="0">
                <a:latin typeface="Times New Roman"/>
                <a:cs typeface="Times New Roman"/>
              </a:rPr>
              <a:t>access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75" dirty="0">
                <a:latin typeface="Times New Roman"/>
                <a:cs typeface="Times New Roman"/>
              </a:rPr>
              <a:t>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style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property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is:</a:t>
            </a:r>
            <a:endParaRPr sz="3200">
              <a:latin typeface="Times New Roman"/>
              <a:cs typeface="Times New Roman"/>
            </a:endParaRPr>
          </a:p>
          <a:p>
            <a:pPr marL="410209">
              <a:lnSpc>
                <a:spcPct val="100000"/>
              </a:lnSpc>
              <a:spcBef>
                <a:spcPts val="400"/>
              </a:spcBef>
            </a:pPr>
            <a:r>
              <a:rPr sz="3200" spc="-10" dirty="0">
                <a:latin typeface="Times New Roman"/>
                <a:cs typeface="Times New Roman"/>
              </a:rPr>
              <a:t>&lt;object&gt;.style.&lt;propertyname&gt;</a:t>
            </a:r>
            <a:endParaRPr sz="3200">
              <a:latin typeface="Times New Roman"/>
              <a:cs typeface="Times New Roman"/>
            </a:endParaRPr>
          </a:p>
          <a:p>
            <a:pPr marL="560070" marR="2496820" lvl="1" indent="-228600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375"/>
              <a:buFont typeface="Arial MT"/>
              <a:buChar char="•"/>
              <a:tabLst>
                <a:tab pos="560070" algn="l"/>
              </a:tabLst>
            </a:pPr>
            <a:r>
              <a:rPr sz="3200" b="1" spc="90" dirty="0">
                <a:latin typeface="Times New Roman"/>
                <a:cs typeface="Times New Roman"/>
              </a:rPr>
              <a:t>&lt;object&gt;</a:t>
            </a:r>
            <a:r>
              <a:rPr sz="3200" b="1" spc="-65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is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object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imes New Roman"/>
                <a:cs typeface="Times New Roman"/>
              </a:rPr>
              <a:t>returned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280" dirty="0">
                <a:latin typeface="Times New Roman"/>
                <a:cs typeface="Times New Roman"/>
              </a:rPr>
              <a:t>by </a:t>
            </a:r>
            <a:r>
              <a:rPr sz="3200" spc="-204" dirty="0">
                <a:latin typeface="Times New Roman"/>
                <a:cs typeface="Times New Roman"/>
              </a:rPr>
              <a:t>getElementByXXX()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call</a:t>
            </a:r>
            <a:r>
              <a:rPr sz="3200" b="1" spc="-10" dirty="0"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560070" marR="737235" lvl="1" indent="-228600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375"/>
              <a:buFont typeface="Arial MT"/>
              <a:buChar char="•"/>
              <a:tabLst>
                <a:tab pos="560070" algn="l"/>
              </a:tabLst>
            </a:pPr>
            <a:r>
              <a:rPr sz="3200" b="1" dirty="0">
                <a:latin typeface="Times New Roman"/>
                <a:cs typeface="Times New Roman"/>
              </a:rPr>
              <a:t>style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is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just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60" dirty="0">
                <a:latin typeface="Times New Roman"/>
                <a:cs typeface="Times New Roman"/>
              </a:rPr>
              <a:t>a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90" dirty="0">
                <a:latin typeface="Times New Roman"/>
                <a:cs typeface="Times New Roman"/>
              </a:rPr>
              <a:t>keyword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indicate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upcoming </a:t>
            </a:r>
            <a:r>
              <a:rPr sz="3200" spc="-170" dirty="0">
                <a:latin typeface="Times New Roman"/>
                <a:cs typeface="Times New Roman"/>
              </a:rPr>
              <a:t>field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is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75" dirty="0">
                <a:latin typeface="Times New Roman"/>
                <a:cs typeface="Times New Roman"/>
              </a:rPr>
              <a:t>a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style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attribute</a:t>
            </a:r>
            <a:endParaRPr sz="3200">
              <a:latin typeface="Times New Roman"/>
              <a:cs typeface="Times New Roman"/>
            </a:endParaRPr>
          </a:p>
          <a:p>
            <a:pPr marL="559435" lvl="1" indent="-22796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375"/>
              <a:buFont typeface="Arial MT"/>
              <a:buChar char="•"/>
              <a:tabLst>
                <a:tab pos="559435" algn="l"/>
              </a:tabLst>
            </a:pPr>
            <a:r>
              <a:rPr sz="3200" b="1" dirty="0">
                <a:latin typeface="Times New Roman"/>
                <a:cs typeface="Times New Roman"/>
              </a:rPr>
              <a:t>&lt;propertyname&gt;</a:t>
            </a:r>
            <a:r>
              <a:rPr sz="3200" b="1" spc="35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name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90" dirty="0">
                <a:latin typeface="Times New Roman"/>
                <a:cs typeface="Times New Roman"/>
              </a:rPr>
              <a:t>of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365" dirty="0">
                <a:latin typeface="Times New Roman"/>
                <a:cs typeface="Times New Roman"/>
              </a:rPr>
              <a:t>CSS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property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97179"/>
            <a:ext cx="85718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The</a:t>
            </a:r>
            <a:r>
              <a:rPr sz="3600" spc="-75" dirty="0"/>
              <a:t> </a:t>
            </a:r>
            <a:r>
              <a:rPr sz="3600" dirty="0"/>
              <a:t>HTML</a:t>
            </a:r>
            <a:r>
              <a:rPr sz="3600" spc="-75" dirty="0"/>
              <a:t> </a:t>
            </a:r>
            <a:r>
              <a:rPr sz="3600" dirty="0"/>
              <a:t>DOM</a:t>
            </a:r>
            <a:r>
              <a:rPr sz="3600" spc="-70" dirty="0"/>
              <a:t> </a:t>
            </a:r>
            <a:r>
              <a:rPr sz="3600" dirty="0"/>
              <a:t>–</a:t>
            </a:r>
            <a:r>
              <a:rPr sz="3600" spc="-75" dirty="0"/>
              <a:t> </a:t>
            </a:r>
            <a:r>
              <a:rPr sz="3600" spc="-20" dirty="0"/>
              <a:t>Changing</a:t>
            </a:r>
            <a:r>
              <a:rPr sz="3600" spc="-85" dirty="0"/>
              <a:t> </a:t>
            </a:r>
            <a:r>
              <a:rPr sz="3600" spc="-10" dirty="0"/>
              <a:t>Styles</a:t>
            </a:r>
            <a:r>
              <a:rPr sz="3600" spc="-60" dirty="0"/>
              <a:t> </a:t>
            </a:r>
            <a:r>
              <a:rPr sz="3600" dirty="0"/>
              <a:t>-</a:t>
            </a:r>
            <a:r>
              <a:rPr sz="3600" spc="-70" dirty="0"/>
              <a:t> </a:t>
            </a:r>
            <a:r>
              <a:rPr sz="3600" spc="-20" dirty="0"/>
              <a:t>Example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193794" y="979931"/>
            <a:ext cx="457454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7034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var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x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document.getElementsByTagName("li"); document.getElementById("demo").innerHTML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= </a:t>
            </a:r>
            <a:r>
              <a:rPr sz="1600" dirty="0">
                <a:latin typeface="Times New Roman"/>
                <a:cs typeface="Times New Roman"/>
              </a:rPr>
              <a:t>'1st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list item: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'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+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x[0].innerHTML</a:t>
            </a:r>
            <a:endParaRPr sz="16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+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'&lt;br&gt;2nd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list item: '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+</a:t>
            </a:r>
            <a:r>
              <a:rPr sz="1600" spc="-10" dirty="0">
                <a:latin typeface="Times New Roman"/>
                <a:cs typeface="Times New Roman"/>
              </a:rPr>
              <a:t> x[1].innerHTML</a:t>
            </a:r>
            <a:endParaRPr sz="16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+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'&lt;br&gt;3rd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list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tiem: '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+</a:t>
            </a:r>
            <a:r>
              <a:rPr sz="1600" spc="-10" dirty="0">
                <a:latin typeface="Times New Roman"/>
                <a:cs typeface="Times New Roman"/>
              </a:rPr>
              <a:t> x[2].innerHTML</a:t>
            </a:r>
            <a:endParaRPr sz="1600">
              <a:latin typeface="Times New Roman"/>
              <a:cs typeface="Times New Roman"/>
            </a:endParaRPr>
          </a:p>
          <a:p>
            <a:pPr marL="12700" marR="5080" indent="508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+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'&lt;br&gt;4th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list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item: '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+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x[3].innerHTML; document.getElementById("demo").style.color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"red";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x[1].style.color</a:t>
            </a:r>
            <a:r>
              <a:rPr sz="16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6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"red";</a:t>
            </a:r>
            <a:endParaRPr sz="1600">
              <a:latin typeface="Times New Roman"/>
              <a:cs typeface="Times New Roman"/>
            </a:endParaRPr>
          </a:p>
          <a:p>
            <a:pPr marL="12700" marR="1769745">
              <a:lnSpc>
                <a:spcPct val="100000"/>
              </a:lnSpc>
            </a:pP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x[3].style.color</a:t>
            </a:r>
            <a:r>
              <a:rPr sz="1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6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"green"; x[1].style.fontSize="16pt"; x[1].style.borderStyle</a:t>
            </a:r>
            <a:r>
              <a:rPr sz="16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6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"dashed"; x[1].style.borderWidth</a:t>
            </a:r>
            <a:r>
              <a:rPr sz="16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6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"2pt";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990600"/>
            <a:ext cx="3547745" cy="5360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Times New Roman"/>
                <a:cs typeface="Times New Roman"/>
              </a:rPr>
              <a:t>&lt;!DOCTYPE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html&gt;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&lt;html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lang="en"&gt;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&lt;head&gt;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&lt;meta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charset="UTF-</a:t>
            </a:r>
            <a:r>
              <a:rPr sz="1400" spc="-25" dirty="0">
                <a:latin typeface="Times New Roman"/>
                <a:cs typeface="Times New Roman"/>
              </a:rPr>
              <a:t>8"&gt;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Times New Roman"/>
                <a:cs typeface="Times New Roman"/>
              </a:rPr>
              <a:t>&lt;meta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name="viewport"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content="width=device- </a:t>
            </a:r>
            <a:r>
              <a:rPr sz="1400" dirty="0">
                <a:latin typeface="Times New Roman"/>
                <a:cs typeface="Times New Roman"/>
              </a:rPr>
              <a:t>width,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initial-scale=1.0"&gt;</a:t>
            </a:r>
            <a:endParaRPr sz="1400">
              <a:latin typeface="Times New Roman"/>
              <a:cs typeface="Times New Roman"/>
            </a:endParaRPr>
          </a:p>
          <a:p>
            <a:pPr marL="12700" marR="72771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&lt;meta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http-</a:t>
            </a:r>
            <a:r>
              <a:rPr sz="1400" spc="-10" dirty="0">
                <a:latin typeface="Times New Roman"/>
                <a:cs typeface="Times New Roman"/>
              </a:rPr>
              <a:t>equiv="X-</a:t>
            </a:r>
            <a:r>
              <a:rPr sz="1400" spc="-20" dirty="0">
                <a:latin typeface="Times New Roman"/>
                <a:cs typeface="Times New Roman"/>
              </a:rPr>
              <a:t>UA-</a:t>
            </a:r>
            <a:r>
              <a:rPr sz="1400" spc="-10" dirty="0">
                <a:latin typeface="Times New Roman"/>
                <a:cs typeface="Times New Roman"/>
              </a:rPr>
              <a:t>Compatible" content="ie=edge"&gt;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&lt;title&gt;Document&lt;/title&gt;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&lt;/head&gt;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&lt;h1&gt;Hello,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World!&lt;/h1&gt;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latin typeface="Times New Roman"/>
                <a:cs typeface="Times New Roman"/>
              </a:rPr>
              <a:t>&lt;ul&gt;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&lt;li&gt;List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item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1&lt;/li&gt;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&lt;li&gt;List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item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2&lt;/li&gt;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&lt;/ul&gt;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latin typeface="Times New Roman"/>
                <a:cs typeface="Times New Roman"/>
              </a:rPr>
              <a:t>&lt;ul&gt;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&lt;li&gt;List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item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3&lt;/li&gt;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&lt;li&gt;List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item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4&lt;/li&gt;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&lt;/ul&gt;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&lt;p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id="demo"&gt;&lt;/p&gt;</a:t>
            </a:r>
            <a:endParaRPr sz="1400">
              <a:latin typeface="Times New Roman"/>
              <a:cs typeface="Times New Roman"/>
            </a:endParaRPr>
          </a:p>
          <a:p>
            <a:pPr marL="12700" marR="33528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&lt;script&gt;document.write("Hello,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today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is: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"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+ </a:t>
            </a:r>
            <a:r>
              <a:rPr sz="1400" spc="-10" dirty="0">
                <a:latin typeface="Times New Roman"/>
                <a:cs typeface="Times New Roman"/>
              </a:rPr>
              <a:t>Date());&lt;/script&gt;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&lt;/html&gt;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7011" y="4082034"/>
            <a:ext cx="4475988" cy="232181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1976"/>
            <a:ext cx="69742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28565" algn="l"/>
              </a:tabLst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HTML</a:t>
            </a:r>
            <a:r>
              <a:rPr spc="-70" dirty="0"/>
              <a:t> </a:t>
            </a:r>
            <a:r>
              <a:rPr dirty="0"/>
              <a:t>DOM</a:t>
            </a:r>
            <a:r>
              <a:rPr spc="-70" dirty="0"/>
              <a:t> </a:t>
            </a:r>
            <a:r>
              <a:rPr spc="-50" dirty="0"/>
              <a:t>-</a:t>
            </a:r>
            <a:r>
              <a:rPr dirty="0"/>
              <a:t>	</a:t>
            </a:r>
            <a:r>
              <a:rPr spc="-10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9504" y="831765"/>
            <a:ext cx="8549640" cy="490791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84480" indent="-280670">
              <a:lnSpc>
                <a:spcPct val="100000"/>
              </a:lnSpc>
              <a:spcBef>
                <a:spcPts val="555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spc="-195" dirty="0">
                <a:latin typeface="Times New Roman"/>
                <a:cs typeface="Times New Roman"/>
              </a:rPr>
              <a:t>Can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execute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code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80" dirty="0">
                <a:latin typeface="Times New Roman"/>
                <a:cs typeface="Times New Roman"/>
              </a:rPr>
              <a:t>when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an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i="1" spc="-330" dirty="0">
                <a:latin typeface="Times New Roman"/>
                <a:cs typeface="Times New Roman"/>
              </a:rPr>
              <a:t>event</a:t>
            </a:r>
            <a:r>
              <a:rPr sz="3200" i="1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occurs.</a:t>
            </a:r>
            <a:endParaRPr sz="3200">
              <a:latin typeface="Times New Roman"/>
              <a:cs typeface="Times New Roman"/>
            </a:endParaRPr>
          </a:p>
          <a:p>
            <a:pPr marL="559435" lvl="1" indent="-285750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000"/>
              <a:buFont typeface="Segoe UI Symbol"/>
              <a:buChar char="⚫"/>
              <a:tabLst>
                <a:tab pos="559435" algn="l"/>
              </a:tabLst>
            </a:pPr>
            <a:r>
              <a:rPr sz="3000" spc="-185" dirty="0">
                <a:latin typeface="Times New Roman"/>
                <a:cs typeface="Times New Roman"/>
              </a:rPr>
              <a:t>Events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include:</a:t>
            </a:r>
            <a:endParaRPr sz="30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30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  <a:tab pos="4805045" algn="l"/>
              </a:tabLst>
            </a:pPr>
            <a:r>
              <a:rPr sz="2800" spc="-120" dirty="0">
                <a:latin typeface="Times New Roman"/>
                <a:cs typeface="Times New Roman"/>
              </a:rPr>
              <a:t>When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user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clicks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mouse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(onclick=)</a:t>
            </a:r>
            <a:endParaRPr sz="28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00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  <a:tab pos="6136005" algn="l"/>
              </a:tabLst>
            </a:pPr>
            <a:r>
              <a:rPr sz="2800" spc="-120" dirty="0">
                <a:latin typeface="Times New Roman"/>
                <a:cs typeface="Times New Roman"/>
              </a:rPr>
              <a:t>When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web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page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20" dirty="0">
                <a:latin typeface="Times New Roman"/>
                <a:cs typeface="Times New Roman"/>
              </a:rPr>
              <a:t>has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loaded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(onload=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60" dirty="0">
                <a:latin typeface="Times New Roman"/>
                <a:cs typeface="Times New Roman"/>
              </a:rPr>
              <a:t>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onunload=)</a:t>
            </a:r>
            <a:endParaRPr sz="28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00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</a:tabLst>
            </a:pPr>
            <a:r>
              <a:rPr sz="2800" spc="-120" dirty="0">
                <a:latin typeface="Times New Roman"/>
                <a:cs typeface="Times New Roman"/>
              </a:rPr>
              <a:t>When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an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image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20" dirty="0">
                <a:latin typeface="Times New Roman"/>
                <a:cs typeface="Times New Roman"/>
              </a:rPr>
              <a:t>has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been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loaded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(onload=)</a:t>
            </a:r>
            <a:endParaRPr sz="2800">
              <a:latin typeface="Times New Roman"/>
              <a:cs typeface="Times New Roman"/>
            </a:endParaRPr>
          </a:p>
          <a:p>
            <a:pPr marL="605790" marR="5080" lvl="2" indent="-36195">
              <a:lnSpc>
                <a:spcPts val="3760"/>
              </a:lnSpc>
              <a:spcBef>
                <a:spcPts val="190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  <a:tab pos="6279515" algn="l"/>
              </a:tabLst>
            </a:pPr>
            <a:r>
              <a:rPr sz="2800" spc="-120" dirty="0">
                <a:latin typeface="Times New Roman"/>
                <a:cs typeface="Times New Roman"/>
              </a:rPr>
              <a:t>	When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the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mouse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4" dirty="0">
                <a:latin typeface="Times New Roman"/>
                <a:cs typeface="Times New Roman"/>
              </a:rPr>
              <a:t>moves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over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an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element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10" dirty="0">
                <a:latin typeface="Times New Roman"/>
                <a:cs typeface="Times New Roman"/>
              </a:rPr>
              <a:t>(onmouseover=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60" dirty="0">
                <a:latin typeface="Times New Roman"/>
                <a:cs typeface="Times New Roman"/>
              </a:rPr>
              <a:t>, </a:t>
            </a:r>
            <a:r>
              <a:rPr sz="2800" spc="-10" dirty="0">
                <a:latin typeface="Times New Roman"/>
                <a:cs typeface="Times New Roman"/>
              </a:rPr>
              <a:t>onmouseout=)</a:t>
            </a:r>
            <a:endParaRPr sz="28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210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</a:tabLst>
            </a:pPr>
            <a:r>
              <a:rPr sz="2800" spc="-120" dirty="0">
                <a:latin typeface="Times New Roman"/>
                <a:cs typeface="Times New Roman"/>
              </a:rPr>
              <a:t>When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an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input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field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changed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(onchange=)</a:t>
            </a:r>
            <a:endParaRPr sz="28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00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</a:tabLst>
            </a:pPr>
            <a:r>
              <a:rPr sz="2800" spc="-120" dirty="0">
                <a:latin typeface="Times New Roman"/>
                <a:cs typeface="Times New Roman"/>
              </a:rPr>
              <a:t>When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an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45" dirty="0">
                <a:latin typeface="Times New Roman"/>
                <a:cs typeface="Times New Roman"/>
              </a:rPr>
              <a:t>HTML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form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submitted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(onsubmit=)</a:t>
            </a:r>
            <a:endParaRPr sz="28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05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</a:tabLst>
            </a:pPr>
            <a:r>
              <a:rPr sz="2800" spc="-120" dirty="0">
                <a:latin typeface="Times New Roman"/>
                <a:cs typeface="Times New Roman"/>
              </a:rPr>
              <a:t>When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user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strokes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15" dirty="0">
                <a:latin typeface="Times New Roman"/>
                <a:cs typeface="Times New Roman"/>
              </a:rPr>
              <a:t>key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(onkeypress=)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17932"/>
            <a:ext cx="82975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The</a:t>
            </a:r>
            <a:r>
              <a:rPr sz="4400" spc="-45" dirty="0"/>
              <a:t> </a:t>
            </a:r>
            <a:r>
              <a:rPr sz="4400" dirty="0"/>
              <a:t>HTML</a:t>
            </a:r>
            <a:r>
              <a:rPr sz="4400" spc="-45" dirty="0"/>
              <a:t> </a:t>
            </a:r>
            <a:r>
              <a:rPr sz="4400" dirty="0"/>
              <a:t>DOM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50" dirty="0"/>
              <a:t> </a:t>
            </a:r>
            <a:r>
              <a:rPr sz="4400" dirty="0"/>
              <a:t>Events</a:t>
            </a:r>
            <a:r>
              <a:rPr sz="4400" spc="-50" dirty="0"/>
              <a:t> </a:t>
            </a:r>
            <a:r>
              <a:rPr sz="4400" dirty="0"/>
              <a:t>-</a:t>
            </a:r>
            <a:r>
              <a:rPr sz="4400" spc="-50" dirty="0"/>
              <a:t> </a:t>
            </a:r>
            <a:r>
              <a:rPr sz="4400" spc="-35" dirty="0"/>
              <a:t>Example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2853" y="3555258"/>
            <a:ext cx="1573618" cy="57692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&lt;!DOCTYPE</a:t>
            </a:r>
            <a:r>
              <a:rPr spc="-60" dirty="0"/>
              <a:t> </a:t>
            </a:r>
            <a:r>
              <a:rPr spc="-10" dirty="0"/>
              <a:t>html&gt;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&lt;html&gt;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&lt;body&gt;</a:t>
            </a:r>
          </a:p>
          <a:p>
            <a:pPr marL="12700">
              <a:lnSpc>
                <a:spcPct val="100000"/>
              </a:lnSpc>
            </a:pPr>
            <a:r>
              <a:rPr dirty="0"/>
              <a:t>&lt;h1</a:t>
            </a:r>
            <a:r>
              <a:rPr spc="-40" dirty="0"/>
              <a:t> </a:t>
            </a:r>
            <a:r>
              <a:rPr dirty="0"/>
              <a:t>id="id1"&gt;My</a:t>
            </a:r>
            <a:r>
              <a:rPr spc="-45" dirty="0"/>
              <a:t> </a:t>
            </a:r>
            <a:r>
              <a:rPr dirty="0"/>
              <a:t>Heading</a:t>
            </a:r>
            <a:r>
              <a:rPr spc="-40" dirty="0"/>
              <a:t> </a:t>
            </a:r>
            <a:r>
              <a:rPr spc="-10" dirty="0"/>
              <a:t>1&lt;/h1&gt;</a:t>
            </a:r>
          </a:p>
          <a:p>
            <a:pPr marL="12700">
              <a:lnSpc>
                <a:spcPct val="100000"/>
              </a:lnSpc>
            </a:pPr>
            <a:r>
              <a:rPr spc="-10" dirty="0">
                <a:solidFill>
                  <a:srgbClr val="FF0000"/>
                </a:solidFill>
              </a:rPr>
              <a:t>&lt;!-</a:t>
            </a:r>
            <a:r>
              <a:rPr dirty="0">
                <a:solidFill>
                  <a:srgbClr val="FF0000"/>
                </a:solidFill>
              </a:rPr>
              <a:t>-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we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can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put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JavaScript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code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in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the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onclick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action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--</a:t>
            </a:r>
            <a:r>
              <a:rPr spc="-50" dirty="0">
                <a:solidFill>
                  <a:srgbClr val="FF0000"/>
                </a:solidFill>
              </a:rPr>
              <a:t>&gt;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FF0000"/>
                </a:solidFill>
              </a:rPr>
              <a:t>&lt;button</a:t>
            </a:r>
            <a:r>
              <a:rPr spc="1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type="button"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onclick="document.getElementById('id1').style.color</a:t>
            </a:r>
            <a:r>
              <a:rPr spc="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=</a:t>
            </a:r>
            <a:r>
              <a:rPr spc="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'red'"&gt;Click</a:t>
            </a:r>
            <a:r>
              <a:rPr spc="1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Me!&lt;/button&gt;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&lt;/body&gt;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&lt;/html&gt;</a:t>
            </a:r>
          </a:p>
          <a:p>
            <a:pPr marL="1802764">
              <a:lnSpc>
                <a:spcPct val="100000"/>
              </a:lnSpc>
              <a:spcBef>
                <a:spcPts val="990"/>
              </a:spcBef>
            </a:pPr>
            <a:r>
              <a:rPr sz="1800" dirty="0"/>
              <a:t>Before</a:t>
            </a:r>
            <a:r>
              <a:rPr sz="1800" spc="-65" dirty="0"/>
              <a:t> </a:t>
            </a:r>
            <a:r>
              <a:rPr sz="1800" dirty="0"/>
              <a:t>clicking</a:t>
            </a:r>
            <a:r>
              <a:rPr sz="1800" spc="-35" dirty="0"/>
              <a:t> </a:t>
            </a:r>
            <a:r>
              <a:rPr sz="1800" dirty="0"/>
              <a:t>the</a:t>
            </a:r>
            <a:r>
              <a:rPr sz="1800" spc="-35" dirty="0"/>
              <a:t> </a:t>
            </a:r>
            <a:r>
              <a:rPr sz="1800" dirty="0"/>
              <a:t>‘Click</a:t>
            </a:r>
            <a:r>
              <a:rPr sz="1800" spc="-35" dirty="0"/>
              <a:t> </a:t>
            </a:r>
            <a:r>
              <a:rPr sz="1800" spc="-10" dirty="0"/>
              <a:t>Me!’</a:t>
            </a:r>
            <a:r>
              <a:rPr sz="1800" spc="-130" dirty="0"/>
              <a:t> </a:t>
            </a:r>
            <a:r>
              <a:rPr sz="1800" spc="-10" dirty="0"/>
              <a:t>button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2226817" y="4275328"/>
            <a:ext cx="34055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After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clicking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‘Click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Me!’</a:t>
            </a:r>
            <a:r>
              <a:rPr sz="1800" spc="-1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button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0084" y="4804459"/>
            <a:ext cx="1771337" cy="65743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5702"/>
            <a:ext cx="83940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The</a:t>
            </a:r>
            <a:r>
              <a:rPr sz="4800" spc="-85" dirty="0"/>
              <a:t> </a:t>
            </a:r>
            <a:r>
              <a:rPr sz="4800" dirty="0"/>
              <a:t>HTML</a:t>
            </a:r>
            <a:r>
              <a:rPr sz="4800" spc="-80" dirty="0"/>
              <a:t> </a:t>
            </a:r>
            <a:r>
              <a:rPr sz="4800" dirty="0"/>
              <a:t>DOM</a:t>
            </a:r>
            <a:r>
              <a:rPr sz="4800" spc="-110" dirty="0"/>
              <a:t> </a:t>
            </a:r>
            <a:r>
              <a:rPr sz="4800" dirty="0"/>
              <a:t>–</a:t>
            </a:r>
            <a:r>
              <a:rPr sz="4800" spc="-85" dirty="0"/>
              <a:t> </a:t>
            </a:r>
            <a:r>
              <a:rPr sz="4800" spc="-40" dirty="0"/>
              <a:t>Building</a:t>
            </a:r>
            <a:r>
              <a:rPr sz="4800" spc="-85" dirty="0"/>
              <a:t> </a:t>
            </a:r>
            <a:r>
              <a:rPr sz="4800" spc="-20" dirty="0"/>
              <a:t>HTML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459740" y="896874"/>
            <a:ext cx="8505190" cy="4751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3210" marR="772160" indent="-271145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5115" algn="l"/>
              </a:tabLst>
            </a:pPr>
            <a:r>
              <a:rPr sz="2800" spc="-185" dirty="0">
                <a:latin typeface="Times New Roman"/>
                <a:cs typeface="Times New Roman"/>
              </a:rPr>
              <a:t>JavaScript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can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modify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DOM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document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add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or 	</a:t>
            </a:r>
            <a:r>
              <a:rPr sz="2800" spc="-155" dirty="0">
                <a:latin typeface="Times New Roman"/>
                <a:cs typeface="Times New Roman"/>
              </a:rPr>
              <a:t>remove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elements</a:t>
            </a:r>
            <a:endParaRPr sz="2800" dirty="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3845" algn="l"/>
              </a:tabLst>
            </a:pPr>
            <a:r>
              <a:rPr sz="2800" spc="-165" dirty="0">
                <a:latin typeface="Times New Roman"/>
                <a:cs typeface="Times New Roman"/>
              </a:rPr>
              <a:t>Use</a:t>
            </a:r>
            <a:r>
              <a:rPr sz="2800" spc="-32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‘createXXX()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methods:</a:t>
            </a:r>
            <a:endParaRPr sz="2800" dirty="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b="1" spc="-20" dirty="0">
                <a:latin typeface="Times New Roman"/>
                <a:cs typeface="Times New Roman"/>
              </a:rPr>
              <a:t>createElement()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Creates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returns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new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element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node</a:t>
            </a:r>
            <a:endParaRPr sz="2800" dirty="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createTextNode()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Creates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node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that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holds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text</a:t>
            </a:r>
            <a:endParaRPr sz="2800" dirty="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3845" algn="l"/>
              </a:tabLst>
            </a:pPr>
            <a:r>
              <a:rPr sz="2800" spc="-165" dirty="0">
                <a:latin typeface="Times New Roman"/>
                <a:cs typeface="Times New Roman"/>
              </a:rPr>
              <a:t>Use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various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methods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add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remove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nodes:</a:t>
            </a:r>
            <a:endParaRPr sz="2800" dirty="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addChild()</a:t>
            </a:r>
            <a:r>
              <a:rPr sz="2800" b="1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290" dirty="0">
                <a:latin typeface="Times New Roman"/>
                <a:cs typeface="Times New Roman"/>
              </a:rPr>
              <a:t> </a:t>
            </a:r>
            <a:r>
              <a:rPr sz="2800" spc="-215" dirty="0">
                <a:latin typeface="Times New Roman"/>
                <a:cs typeface="Times New Roman"/>
              </a:rPr>
              <a:t>Adds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child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node</a:t>
            </a:r>
            <a:endParaRPr sz="2800" dirty="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b="1" dirty="0">
                <a:latin typeface="Times New Roman"/>
                <a:cs typeface="Times New Roman"/>
              </a:rPr>
              <a:t>insertBefore()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Inserts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new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node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before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specific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child</a:t>
            </a:r>
            <a:endParaRPr sz="2800" dirty="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removeChild()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95" dirty="0">
                <a:latin typeface="Times New Roman"/>
                <a:cs typeface="Times New Roman"/>
              </a:rPr>
              <a:t>Removes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node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from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the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DOM</a:t>
            </a:r>
            <a:endParaRPr sz="2800" dirty="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b="1" dirty="0">
                <a:latin typeface="Times New Roman"/>
                <a:cs typeface="Times New Roman"/>
              </a:rPr>
              <a:t>replaceChild()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Replaces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one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child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node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with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another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13538"/>
            <a:ext cx="850773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dirty="0"/>
              <a:t>The</a:t>
            </a:r>
            <a:r>
              <a:rPr sz="3800" spc="-70" dirty="0"/>
              <a:t> </a:t>
            </a:r>
            <a:r>
              <a:rPr sz="3800" dirty="0"/>
              <a:t>HTML</a:t>
            </a:r>
            <a:r>
              <a:rPr sz="3800" spc="-55" dirty="0"/>
              <a:t> </a:t>
            </a:r>
            <a:r>
              <a:rPr sz="3800" dirty="0"/>
              <a:t>DOM</a:t>
            </a:r>
            <a:r>
              <a:rPr sz="3800" spc="-45" dirty="0"/>
              <a:t> </a:t>
            </a:r>
            <a:r>
              <a:rPr sz="3800" dirty="0"/>
              <a:t>–</a:t>
            </a:r>
            <a:r>
              <a:rPr sz="3800" spc="-65" dirty="0"/>
              <a:t> </a:t>
            </a:r>
            <a:r>
              <a:rPr sz="3800" spc="-30" dirty="0"/>
              <a:t>Building </a:t>
            </a:r>
            <a:r>
              <a:rPr sz="3800" dirty="0"/>
              <a:t>HTML</a:t>
            </a:r>
            <a:r>
              <a:rPr sz="3800" spc="-55" dirty="0"/>
              <a:t> </a:t>
            </a:r>
            <a:r>
              <a:rPr sz="3800" spc="-20" dirty="0"/>
              <a:t>Example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383540" y="720089"/>
            <a:ext cx="147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Times New Roman"/>
                <a:cs typeface="Times New Roman"/>
              </a:rPr>
              <a:t>&lt;!DOCTYPE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html&gt;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&lt;html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lang="en"&gt;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1146809"/>
            <a:ext cx="6408420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Times New Roman"/>
                <a:cs typeface="Times New Roman"/>
              </a:rPr>
              <a:t>&lt;head&gt;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&lt;meta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charset="UTF-</a:t>
            </a:r>
            <a:r>
              <a:rPr sz="1400" spc="-25" dirty="0">
                <a:latin typeface="Times New Roman"/>
                <a:cs typeface="Times New Roman"/>
              </a:rPr>
              <a:t>8"&gt;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&lt;title&gt;Document&lt;/title&gt;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&lt;/head&gt;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&lt;div</a:t>
            </a:r>
            <a:r>
              <a:rPr sz="1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id="theDiv"&gt;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&lt;h1&gt;Hello,</a:t>
            </a:r>
            <a:r>
              <a:rPr sz="14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Times New Roman"/>
                <a:cs typeface="Times New Roman"/>
              </a:rPr>
              <a:t>World!</a:t>
            </a:r>
            <a:r>
              <a:rPr sz="14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!&lt;/h1&gt;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&lt;p</a:t>
            </a:r>
            <a:r>
              <a:rPr sz="1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id="one"&gt;This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1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text</a:t>
            </a:r>
            <a:r>
              <a:rPr sz="1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1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paragraph</a:t>
            </a:r>
            <a:r>
              <a:rPr sz="1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1&lt;/p&gt;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&lt;p</a:t>
            </a:r>
            <a:r>
              <a:rPr sz="1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id="two"&gt;This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1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text</a:t>
            </a:r>
            <a:r>
              <a:rPr sz="1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1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paragraph</a:t>
            </a:r>
            <a:r>
              <a:rPr sz="1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2&lt;/p&gt;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&lt;p</a:t>
            </a:r>
            <a:r>
              <a:rPr sz="1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id="four"&gt;This</a:t>
            </a:r>
            <a:r>
              <a:rPr sz="1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1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text</a:t>
            </a:r>
            <a:r>
              <a:rPr sz="1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1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paragraph</a:t>
            </a:r>
            <a:r>
              <a:rPr sz="1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Times New Roman"/>
                <a:cs typeface="Times New Roman"/>
              </a:rPr>
              <a:t>4&lt;/p&gt;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&lt;button</a:t>
            </a:r>
            <a:r>
              <a:rPr sz="14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onclick="remv(document.getElementById('two'))"&gt;Click</a:t>
            </a:r>
            <a:r>
              <a:rPr sz="14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40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remove</a:t>
            </a:r>
            <a:r>
              <a:rPr sz="14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p2&lt;/button&gt;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&lt;/div&gt;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&lt;script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src="demo.js"&gt;&lt;/script&gt;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&lt;/html&gt;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demo.js: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var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newPara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document.createElement("p");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var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content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document.createTextNode("This</a:t>
            </a:r>
            <a:r>
              <a:rPr sz="14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new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paragraph.");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newPara.appendChild(content);</a:t>
            </a:r>
            <a:endParaRPr sz="1400">
              <a:latin typeface="Times New Roman"/>
              <a:cs typeface="Times New Roman"/>
            </a:endParaRPr>
          </a:p>
          <a:p>
            <a:pPr marL="12700" marR="2619375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var</a:t>
            </a:r>
            <a:r>
              <a:rPr sz="1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divElem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document.getElementById("theDiv"); divElem.appendChild(newPara);</a:t>
            </a:r>
            <a:endParaRPr sz="1400">
              <a:latin typeface="Times New Roman"/>
              <a:cs typeface="Times New Roman"/>
            </a:endParaRPr>
          </a:p>
          <a:p>
            <a:pPr marL="101600" marR="3159760" indent="-89535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function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remv(element)</a:t>
            </a:r>
            <a:r>
              <a:rPr sz="1400" spc="-50" dirty="0">
                <a:latin typeface="Times New Roman"/>
                <a:cs typeface="Times New Roman"/>
              </a:rPr>
              <a:t> { </a:t>
            </a:r>
            <a:r>
              <a:rPr sz="1400" spc="-10" dirty="0">
                <a:latin typeface="Times New Roman"/>
                <a:cs typeface="Times New Roman"/>
              </a:rPr>
              <a:t>element.parentNode.removeChild(element);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0970" y="1367574"/>
            <a:ext cx="1632769" cy="16959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1518" y="3853329"/>
            <a:ext cx="1800691" cy="156625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960107" y="987044"/>
            <a:ext cx="1149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Before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click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23531" y="3382517"/>
            <a:ext cx="1009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After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click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13538"/>
            <a:ext cx="850773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dirty="0"/>
              <a:t>The</a:t>
            </a:r>
            <a:r>
              <a:rPr sz="3800" spc="-70" dirty="0"/>
              <a:t> </a:t>
            </a:r>
            <a:r>
              <a:rPr sz="3800" dirty="0"/>
              <a:t>HTML</a:t>
            </a:r>
            <a:r>
              <a:rPr sz="3800" spc="-55" dirty="0"/>
              <a:t> </a:t>
            </a:r>
            <a:r>
              <a:rPr sz="3800" dirty="0"/>
              <a:t>DOM</a:t>
            </a:r>
            <a:r>
              <a:rPr sz="3800" spc="-45" dirty="0"/>
              <a:t> </a:t>
            </a:r>
            <a:r>
              <a:rPr sz="3800" dirty="0"/>
              <a:t>–</a:t>
            </a:r>
            <a:r>
              <a:rPr sz="3800" spc="-65" dirty="0"/>
              <a:t> </a:t>
            </a:r>
            <a:r>
              <a:rPr sz="3800" spc="-30" dirty="0"/>
              <a:t>Building </a:t>
            </a:r>
            <a:r>
              <a:rPr sz="3800" dirty="0"/>
              <a:t>HTML</a:t>
            </a:r>
            <a:r>
              <a:rPr sz="3800" spc="-55" dirty="0"/>
              <a:t> </a:t>
            </a:r>
            <a:r>
              <a:rPr sz="3800" spc="-20" dirty="0"/>
              <a:t>Example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459740" y="829563"/>
            <a:ext cx="14732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Times New Roman"/>
                <a:cs typeface="Times New Roman"/>
              </a:rPr>
              <a:t>&lt;!DOCTYPE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html&gt;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1042924"/>
            <a:ext cx="6299835" cy="4933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Times New Roman"/>
                <a:cs typeface="Times New Roman"/>
              </a:rPr>
              <a:t>&lt;html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lang="en"&gt;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&lt;head&gt;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&lt;meta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charset="UTF-</a:t>
            </a:r>
            <a:r>
              <a:rPr sz="1400" spc="-25" dirty="0">
                <a:latin typeface="Times New Roman"/>
                <a:cs typeface="Times New Roman"/>
              </a:rPr>
              <a:t>8"&gt;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&lt;title&gt;Document&lt;/title&gt;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&lt;/head&gt;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&lt;div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id="theDiv"&gt;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&lt;h1&gt;Hello,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World!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!&lt;/h1&gt;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&lt;p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id="one"&gt;This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text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paragraph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1&lt;/p&gt;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&lt;p</a:t>
            </a:r>
            <a:r>
              <a:rPr sz="1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id="two"&gt;This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1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text</a:t>
            </a:r>
            <a:r>
              <a:rPr sz="1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1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paragraph</a:t>
            </a:r>
            <a:r>
              <a:rPr sz="1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2&lt;/p&gt;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&lt;p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id="four"&gt;This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text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paragraph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4&lt;/p&gt;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&lt;button</a:t>
            </a:r>
            <a:r>
              <a:rPr sz="14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onclick="repl(document.getElementById('two'))"&gt;Click</a:t>
            </a:r>
            <a:r>
              <a:rPr sz="14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4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replace</a:t>
            </a:r>
            <a:r>
              <a:rPr sz="14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p2&lt;/button&gt;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&lt;/div&gt;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&lt;script&gt;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function</a:t>
            </a:r>
            <a:r>
              <a:rPr sz="14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repl(element)</a:t>
            </a:r>
            <a:r>
              <a:rPr sz="14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6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var</a:t>
            </a:r>
            <a:r>
              <a:rPr sz="1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para</a:t>
            </a:r>
            <a:r>
              <a:rPr sz="1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 document.createElement("p");</a:t>
            </a:r>
            <a:endParaRPr sz="1400">
              <a:latin typeface="Times New Roman"/>
              <a:cs typeface="Times New Roman"/>
            </a:endParaRPr>
          </a:p>
          <a:p>
            <a:pPr marL="101600" marR="144272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var</a:t>
            </a:r>
            <a:r>
              <a:rPr sz="1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node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document.createTextNode("This</a:t>
            </a:r>
            <a:r>
              <a:rPr sz="14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is a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new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paragraph!"); para.appendChild(node);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element.parentNode.replaceChild(para,</a:t>
            </a:r>
            <a:r>
              <a:rPr sz="1400" spc="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element);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&lt;/script&gt;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&lt;/html&gt;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3676" y="1365944"/>
            <a:ext cx="1913449" cy="16687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2444" y="3684775"/>
            <a:ext cx="2044996" cy="17830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912609" y="862838"/>
            <a:ext cx="1200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Before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Click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26580" y="3302253"/>
            <a:ext cx="1059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After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Click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C5E61-1C29-8BA2-9F45-6C3EAF041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32" y="457201"/>
            <a:ext cx="7975268" cy="1143000"/>
          </a:xfrm>
        </p:spPr>
        <p:txBody>
          <a:bodyPr/>
          <a:lstStyle/>
          <a:p>
            <a:r>
              <a:rPr lang="en-IN" dirty="0"/>
              <a:t>Events in JavaScript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79ABC-B891-0C6C-84BF-E1ABC2857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732" y="1593575"/>
            <a:ext cx="8660130" cy="3939540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JavaScript, events are actions or occurrences that happen in the browser and can be detected and responded to by JavaScript.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represent interactions between the user and the web page.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user clicks a button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 A web page loads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 A key is pressed on the keyboard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4. A form submits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allows us to write code that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these events — this process is called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handling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4637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8811E-C453-41B5-BE19-730BAB4E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207" y="250210"/>
            <a:ext cx="8127393" cy="830997"/>
          </a:xfrm>
        </p:spPr>
        <p:txBody>
          <a:bodyPr/>
          <a:lstStyle/>
          <a:p>
            <a:r>
              <a:rPr lang="en-IN" dirty="0"/>
              <a:t>What is an Event?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4D3CB-C840-9E68-8C85-AC379AA1E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4003" y="990600"/>
            <a:ext cx="8305800" cy="5755422"/>
          </a:xfrm>
        </p:spPr>
        <p:txBody>
          <a:bodyPr/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signal that something has happened.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event occurs, the browser generates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object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contains information about that event.</a:t>
            </a:r>
          </a:p>
          <a:p>
            <a:pPr>
              <a:defRPr sz="2000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defRPr sz="2000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&lt;button onclick="alert('Button clicked!')"&gt;Click Me&lt;/button&gt;</a:t>
            </a:r>
          </a:p>
          <a:p>
            <a:pPr>
              <a:defRPr sz="2000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button is clicked: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browser detects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event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the JavaScript code inside the attribute (alert() in this case)</a:t>
            </a: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954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997D-8EC6-4D68-446C-59B9A539B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40" y="-32003"/>
            <a:ext cx="7955915" cy="1661993"/>
          </a:xfrm>
        </p:spPr>
        <p:txBody>
          <a:bodyPr/>
          <a:lstStyle/>
          <a:p>
            <a:r>
              <a:rPr lang="en-IN" dirty="0"/>
              <a:t>Event Flow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82FCE-F6DD-23DB-6417-7A1AD3892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890" y="609600"/>
            <a:ext cx="8660130" cy="6709529"/>
          </a:xfrm>
        </p:spPr>
        <p:txBody>
          <a:bodyPr/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main models that describe how events propagate (move) through the DOM (Document Object Model):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Event Capturing (Trickling Down)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event starts from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(document)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moves down to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element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Capturing phase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top to bottom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Event Bubbling (Going Up)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event starts from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element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bubbles up to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element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Bubbling phase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bottom to top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Diagram:</a:t>
            </a:r>
          </a:p>
          <a:p>
            <a:pPr lvl="5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→ body → div → button</a:t>
            </a:r>
          </a:p>
          <a:p>
            <a:pPr lvl="5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↑                     ↓</a:t>
            </a:r>
          </a:p>
          <a:p>
            <a:pPr lvl="5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Capturing Phase     Bubbling Phase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3403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2A2D-CF9A-AD5C-0000-2A4FBE7B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685800"/>
            <a:ext cx="7955915" cy="1661993"/>
          </a:xfrm>
        </p:spPr>
        <p:txBody>
          <a:bodyPr/>
          <a:lstStyle/>
          <a:p>
            <a:br>
              <a:rPr lang="en-IN" dirty="0"/>
            </a:br>
            <a:r>
              <a:rPr lang="en-IN" b="1" dirty="0"/>
              <a:t>Event Handling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08C20-7922-4C92-276D-38C07160F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447800"/>
            <a:ext cx="8660130" cy="35702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handling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writing JavaScript code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 to an event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ways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handle events in JavaScript: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 Event Handling (HTML Attribute Method)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DOM Event Handling (Property Method)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Event Handling (addEventListener() Method)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20715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BF4DB-E2B5-202A-E18D-786C8F067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400"/>
            <a:ext cx="8989060" cy="2492990"/>
          </a:xfrm>
        </p:spPr>
        <p:txBody>
          <a:bodyPr/>
          <a:lstStyle/>
          <a:p>
            <a:br>
              <a:rPr lang="en-IN" dirty="0"/>
            </a:br>
            <a:r>
              <a:rPr lang="en-IN" dirty="0"/>
              <a:t>Inline Event Handling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D07EC-2796-6EBA-0EC1-EB5BE02B4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2743200"/>
            <a:ext cx="8660130" cy="2031325"/>
          </a:xfrm>
        </p:spPr>
        <p:txBody>
          <a:bodyPr/>
          <a:lstStyle/>
          <a:p>
            <a:endParaRPr lang="en-US" dirty="0"/>
          </a:p>
          <a:p>
            <a:pPr>
              <a:defRPr sz="2000"/>
            </a:pPr>
            <a:r>
              <a:rPr lang="en-US" dirty="0"/>
              <a:t>Event handler written directly inside HTML attribute.</a:t>
            </a:r>
          </a:p>
          <a:p>
            <a:pPr>
              <a:defRPr sz="2000"/>
            </a:pPr>
            <a:endParaRPr lang="en-US" dirty="0"/>
          </a:p>
          <a:p>
            <a:endParaRPr lang="en-IN" dirty="0"/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r>
              <a:rPr lang="en-IN" sz="2000" dirty="0"/>
              <a:t>&lt;button onclick="alert('Hello!')"&gt;Click Me&lt;/button&gt;</a:t>
            </a:r>
          </a:p>
          <a:p>
            <a:pPr>
              <a:defRPr sz="2000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0698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8CD07-7DD9-E6C3-6FA8-7E21E1FF2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40" y="-32003"/>
            <a:ext cx="8912860" cy="1661993"/>
          </a:xfrm>
        </p:spPr>
        <p:txBody>
          <a:bodyPr/>
          <a:lstStyle/>
          <a:p>
            <a:r>
              <a:rPr lang="en-IN" dirty="0"/>
              <a:t>Traditional DOM Event Handling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73F5E-23F0-F282-CA53-230B4B063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686" y="1905000"/>
            <a:ext cx="8660130" cy="4370427"/>
          </a:xfrm>
        </p:spPr>
        <p:txBody>
          <a:bodyPr/>
          <a:lstStyle/>
          <a:p>
            <a:endParaRPr lang="en-US" dirty="0"/>
          </a:p>
          <a:p>
            <a:pPr>
              <a:defRPr sz="2000"/>
            </a:pPr>
            <a:r>
              <a:rPr lang="en-US" dirty="0"/>
              <a:t>Assign function directly to an element’s event property.</a:t>
            </a:r>
          </a:p>
          <a:p>
            <a:pPr>
              <a:defRPr sz="2000"/>
            </a:pPr>
            <a:endParaRPr lang="en-US" dirty="0"/>
          </a:p>
          <a:p>
            <a:endParaRPr lang="en-US" dirty="0"/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r>
              <a:rPr lang="en-US" sz="2400" dirty="0" err="1"/>
              <a:t>document.getElementById</a:t>
            </a:r>
            <a:r>
              <a:rPr lang="en-US" sz="2400" dirty="0"/>
              <a:t>("</a:t>
            </a:r>
            <a:r>
              <a:rPr lang="en-US" sz="2400" dirty="0" err="1"/>
              <a:t>btn</a:t>
            </a:r>
            <a:r>
              <a:rPr lang="en-US" sz="2400" dirty="0"/>
              <a:t>").onclick = function() {</a:t>
            </a:r>
            <a:br>
              <a:rPr lang="en-US" sz="2400" dirty="0"/>
            </a:br>
            <a:r>
              <a:rPr lang="en-US" sz="2400" dirty="0"/>
              <a:t>  alert("Clicked!");</a:t>
            </a:r>
            <a:br>
              <a:rPr lang="en-US" sz="2400" dirty="0"/>
            </a:br>
            <a:r>
              <a:rPr lang="en-US" sz="2400" dirty="0"/>
              <a:t>}; </a:t>
            </a:r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endParaRPr lang="en-US" dirty="0"/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endParaRPr lang="en-US" dirty="0"/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one event handler can be attached to a single event — later assignments overwrite the previous ones</a:t>
            </a:r>
          </a:p>
          <a:p>
            <a:pPr>
              <a:defRPr sz="2000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3333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56B2-70C5-B137-23DB-996BE281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40" y="-32003"/>
            <a:ext cx="7955915" cy="830997"/>
          </a:xfrm>
        </p:spPr>
        <p:txBody>
          <a:bodyPr/>
          <a:lstStyle/>
          <a:p>
            <a:r>
              <a:rPr lang="en-IN" dirty="0"/>
              <a:t>Modern Event Handling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2D245-8125-F88E-8A62-6228D8F30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626" y="1092707"/>
            <a:ext cx="8660130" cy="5816977"/>
          </a:xfrm>
        </p:spPr>
        <p:txBody>
          <a:bodyPr/>
          <a:lstStyle/>
          <a:p>
            <a:endParaRPr lang="en-US" dirty="0"/>
          </a:p>
          <a:p>
            <a:pPr>
              <a:defRPr sz="2000"/>
            </a:pPr>
            <a:r>
              <a:rPr lang="en-US" dirty="0"/>
              <a:t>Using </a:t>
            </a:r>
            <a:r>
              <a:rPr lang="en-US" dirty="0" err="1"/>
              <a:t>addEventListener</a:t>
            </a:r>
            <a:r>
              <a:rPr lang="en-US" dirty="0"/>
              <a:t>() to attach multiple handlers.</a:t>
            </a:r>
          </a:p>
          <a:p>
            <a:endParaRPr lang="en-IN" dirty="0"/>
          </a:p>
          <a:p>
            <a:endParaRPr lang="en-IN" dirty="0"/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r>
              <a:rPr lang="en-IN" sz="1800" dirty="0" err="1"/>
              <a:t>element.addEventListener</a:t>
            </a:r>
            <a:r>
              <a:rPr lang="en-IN" sz="1800" dirty="0"/>
              <a:t>("click", function() {</a:t>
            </a:r>
            <a:br>
              <a:rPr lang="en-IN" sz="1800" dirty="0"/>
            </a:br>
            <a:r>
              <a:rPr lang="en-IN" sz="1800" dirty="0"/>
              <a:t>  alert("Button clicked!");</a:t>
            </a:r>
            <a:br>
              <a:rPr lang="en-IN" sz="1800" dirty="0"/>
            </a:br>
            <a:r>
              <a:rPr lang="en-IN" sz="1800" dirty="0"/>
              <a:t>});</a:t>
            </a:r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endParaRPr lang="en-IN" sz="1800" dirty="0"/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r>
              <a:rPr lang="en-IN" sz="1800" dirty="0"/>
              <a:t>&lt;button id="</a:t>
            </a:r>
            <a:r>
              <a:rPr lang="en-IN" sz="1800" dirty="0" err="1"/>
              <a:t>btn</a:t>
            </a:r>
            <a:r>
              <a:rPr lang="en-IN" sz="1800" dirty="0"/>
              <a:t>"&gt;Click Me&lt;/button&gt;</a:t>
            </a:r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endParaRPr lang="en-IN" sz="1800" dirty="0"/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r>
              <a:rPr lang="en-IN" sz="1800" dirty="0"/>
              <a:t>&lt;script&gt;</a:t>
            </a:r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r>
              <a:rPr lang="en-IN" sz="1800" dirty="0" err="1"/>
              <a:t>document.getElementById</a:t>
            </a:r>
            <a:r>
              <a:rPr lang="en-IN" sz="1800" dirty="0"/>
              <a:t>("</a:t>
            </a:r>
            <a:r>
              <a:rPr lang="en-IN" sz="1800" dirty="0" err="1"/>
              <a:t>btn</a:t>
            </a:r>
            <a:r>
              <a:rPr lang="en-IN" sz="1800" dirty="0"/>
              <a:t>").</a:t>
            </a:r>
            <a:r>
              <a:rPr lang="en-IN" sz="1800" dirty="0" err="1"/>
              <a:t>addEventListener</a:t>
            </a:r>
            <a:r>
              <a:rPr lang="en-IN" sz="1800" dirty="0"/>
              <a:t>("click", function() {</a:t>
            </a:r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r>
              <a:rPr lang="en-IN" sz="1800" dirty="0"/>
              <a:t>  alert("Button clicked using </a:t>
            </a:r>
            <a:r>
              <a:rPr lang="en-IN" sz="1800" dirty="0" err="1"/>
              <a:t>addEventListener</a:t>
            </a:r>
            <a:r>
              <a:rPr lang="en-IN" sz="1800" dirty="0"/>
              <a:t>!");</a:t>
            </a:r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r>
              <a:rPr lang="en-IN" sz="1800" dirty="0"/>
              <a:t>});</a:t>
            </a:r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r>
              <a:rPr lang="en-IN" sz="1800" dirty="0"/>
              <a:t>&lt;/script&gt;</a:t>
            </a:r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endParaRPr lang="en-IN" dirty="0"/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Can add multiple event listeners for the same event.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Works well with event capturing and bubbling.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Cleaner and more modern approach.</a:t>
            </a:r>
          </a:p>
          <a:p>
            <a:pPr>
              <a:defRPr sz="1600">
                <a:solidFill>
                  <a:srgbClr val="006600"/>
                </a:solidFill>
                <a:latin typeface="Consolas"/>
              </a:defRPr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3563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3685-4E4F-2D93-574D-6F89C19AD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12"/>
            <a:ext cx="7955915" cy="830997"/>
          </a:xfrm>
        </p:spPr>
        <p:txBody>
          <a:bodyPr/>
          <a:lstStyle/>
          <a:p>
            <a:r>
              <a:rPr lang="en-IN" dirty="0"/>
              <a:t>Common Events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05D22E-3DB7-F020-E036-9C4497AE9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009568"/>
              </p:ext>
            </p:extLst>
          </p:nvPr>
        </p:nvGraphicFramePr>
        <p:xfrm>
          <a:off x="990600" y="1219200"/>
          <a:ext cx="7239000" cy="457200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41025">
                  <a:extLst>
                    <a:ext uri="{9D8B030D-6E8A-4147-A177-3AD203B41FA5}">
                      <a16:colId xmlns:a16="http://schemas.microsoft.com/office/drawing/2014/main" val="578269209"/>
                    </a:ext>
                  </a:extLst>
                </a:gridCol>
                <a:gridCol w="2840621">
                  <a:extLst>
                    <a:ext uri="{9D8B030D-6E8A-4147-A177-3AD203B41FA5}">
                      <a16:colId xmlns:a16="http://schemas.microsoft.com/office/drawing/2014/main" val="2498198669"/>
                    </a:ext>
                  </a:extLst>
                </a:gridCol>
                <a:gridCol w="2657354">
                  <a:extLst>
                    <a:ext uri="{9D8B030D-6E8A-4147-A177-3AD203B41FA5}">
                      <a16:colId xmlns:a16="http://schemas.microsoft.com/office/drawing/2014/main" val="1845316912"/>
                    </a:ext>
                  </a:extLst>
                </a:gridCol>
              </a:tblGrid>
              <a:tr h="4063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Category</a:t>
                      </a:r>
                      <a:endParaRPr lang="en-IN" sz="1400"/>
                    </a:p>
                  </a:txBody>
                  <a:tcPr marL="52846" marR="52846" marT="26423" marB="264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Event Name</a:t>
                      </a:r>
                      <a:endParaRPr lang="en-IN" sz="1400"/>
                    </a:p>
                  </a:txBody>
                  <a:tcPr marL="52846" marR="52846" marT="26423" marB="264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Description</a:t>
                      </a:r>
                      <a:endParaRPr lang="en-IN" sz="1400" dirty="0"/>
                    </a:p>
                  </a:txBody>
                  <a:tcPr marL="52846" marR="52846" marT="26423" marB="26423" anchor="ctr"/>
                </a:tc>
                <a:extLst>
                  <a:ext uri="{0D108BD9-81ED-4DB2-BD59-A6C34878D82A}">
                    <a16:rowId xmlns:a16="http://schemas.microsoft.com/office/drawing/2014/main" val="2167758981"/>
                  </a:ext>
                </a:extLst>
              </a:tr>
              <a:tr h="1320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Mouse Events</a:t>
                      </a:r>
                      <a:endParaRPr lang="en-IN" sz="1200" dirty="0"/>
                    </a:p>
                  </a:txBody>
                  <a:tcPr marL="52846" marR="52846" marT="26423" marB="26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click, dblclick, mouseover, mouseout, mousedown, mouseup, mousemove</a:t>
                      </a:r>
                    </a:p>
                  </a:txBody>
                  <a:tcPr marL="52846" marR="52846" marT="26423" marB="26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Triggered by mouse actions</a:t>
                      </a:r>
                    </a:p>
                  </a:txBody>
                  <a:tcPr marL="52846" marR="52846" marT="26423" marB="26423" anchor="ctr"/>
                </a:tc>
                <a:extLst>
                  <a:ext uri="{0D108BD9-81ED-4DB2-BD59-A6C34878D82A}">
                    <a16:rowId xmlns:a16="http://schemas.microsoft.com/office/drawing/2014/main" val="3123008808"/>
                  </a:ext>
                </a:extLst>
              </a:tr>
              <a:tr h="711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Keyboard Events</a:t>
                      </a:r>
                      <a:endParaRPr lang="en-IN" sz="1200"/>
                    </a:p>
                  </a:txBody>
                  <a:tcPr marL="52846" marR="52846" marT="26423" marB="26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keydown, keypress, keyup</a:t>
                      </a:r>
                    </a:p>
                  </a:txBody>
                  <a:tcPr marL="52846" marR="52846" marT="26423" marB="26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Triggered when keys are pressed</a:t>
                      </a:r>
                    </a:p>
                  </a:txBody>
                  <a:tcPr marL="52846" marR="52846" marT="26423" marB="26423" anchor="ctr"/>
                </a:tc>
                <a:extLst>
                  <a:ext uri="{0D108BD9-81ED-4DB2-BD59-A6C34878D82A}">
                    <a16:rowId xmlns:a16="http://schemas.microsoft.com/office/drawing/2014/main" val="2401816947"/>
                  </a:ext>
                </a:extLst>
              </a:tr>
              <a:tr h="711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Form Events</a:t>
                      </a:r>
                      <a:endParaRPr lang="en-IN" sz="1200"/>
                    </a:p>
                  </a:txBody>
                  <a:tcPr marL="52846" marR="52846" marT="26423" marB="26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submit, focus, blur, change, input, reset</a:t>
                      </a:r>
                    </a:p>
                  </a:txBody>
                  <a:tcPr marL="52846" marR="52846" marT="26423" marB="26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Triggered during form interactions</a:t>
                      </a:r>
                    </a:p>
                  </a:txBody>
                  <a:tcPr marL="52846" marR="52846" marT="26423" marB="26423" anchor="ctr"/>
                </a:tc>
                <a:extLst>
                  <a:ext uri="{0D108BD9-81ED-4DB2-BD59-A6C34878D82A}">
                    <a16:rowId xmlns:a16="http://schemas.microsoft.com/office/drawing/2014/main" val="880505997"/>
                  </a:ext>
                </a:extLst>
              </a:tr>
              <a:tr h="711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Window Events</a:t>
                      </a:r>
                      <a:endParaRPr lang="en-IN" sz="1200"/>
                    </a:p>
                  </a:txBody>
                  <a:tcPr marL="52846" marR="52846" marT="26423" marB="26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load, resize, scroll, unload, beforeunload</a:t>
                      </a:r>
                    </a:p>
                  </a:txBody>
                  <a:tcPr marL="52846" marR="52846" marT="26423" marB="26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Triggered on the browser window or document</a:t>
                      </a:r>
                    </a:p>
                  </a:txBody>
                  <a:tcPr marL="52846" marR="52846" marT="26423" marB="26423" anchor="ctr"/>
                </a:tc>
                <a:extLst>
                  <a:ext uri="{0D108BD9-81ED-4DB2-BD59-A6C34878D82A}">
                    <a16:rowId xmlns:a16="http://schemas.microsoft.com/office/drawing/2014/main" val="1499248603"/>
                  </a:ext>
                </a:extLst>
              </a:tr>
              <a:tr h="711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Clipboard Events</a:t>
                      </a:r>
                      <a:endParaRPr lang="en-IN" sz="1200"/>
                    </a:p>
                  </a:txBody>
                  <a:tcPr marL="52846" marR="52846" marT="26423" marB="26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copy, cut, paste</a:t>
                      </a:r>
                    </a:p>
                  </a:txBody>
                  <a:tcPr marL="52846" marR="52846" marT="26423" marB="26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Triggered when using clipboard actions</a:t>
                      </a:r>
                    </a:p>
                  </a:txBody>
                  <a:tcPr marL="52846" marR="52846" marT="26423" marB="26423" anchor="ctr"/>
                </a:tc>
                <a:extLst>
                  <a:ext uri="{0D108BD9-81ED-4DB2-BD59-A6C34878D82A}">
                    <a16:rowId xmlns:a16="http://schemas.microsoft.com/office/drawing/2014/main" val="2768777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52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1453-7DDD-DC67-7A2E-A9A73229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40" y="-32003"/>
            <a:ext cx="7955915" cy="830997"/>
          </a:xfrm>
        </p:spPr>
        <p:txBody>
          <a:bodyPr/>
          <a:lstStyle/>
          <a:p>
            <a:r>
              <a:rPr lang="en-IN" dirty="0"/>
              <a:t>Removing Event Listeners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B09B2-8F4D-F7DB-4849-3B36B08A0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626" y="1092707"/>
            <a:ext cx="8660130" cy="4924425"/>
          </a:xfrm>
        </p:spPr>
        <p:txBody>
          <a:bodyPr/>
          <a:lstStyle/>
          <a:p>
            <a:endParaRPr lang="en-IN" dirty="0"/>
          </a:p>
          <a:p>
            <a:pPr>
              <a:defRPr sz="2000"/>
            </a:pPr>
            <a:r>
              <a:rPr lang="en-IN" dirty="0"/>
              <a:t>Use </a:t>
            </a:r>
            <a:r>
              <a:rPr lang="en-IN" dirty="0" err="1"/>
              <a:t>removeEventListener</a:t>
            </a:r>
            <a:r>
              <a:rPr lang="en-IN" dirty="0"/>
              <a:t>() to detach handlers.</a:t>
            </a:r>
          </a:p>
          <a:p>
            <a:endParaRPr lang="en-IN" dirty="0"/>
          </a:p>
          <a:p>
            <a:r>
              <a:rPr lang="en-IN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greet() {</a:t>
            </a:r>
          </a:p>
          <a:p>
            <a:r>
              <a:rPr lang="en-IN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alert("Hello!");</a:t>
            </a:r>
          </a:p>
          <a:p>
            <a:r>
              <a:rPr lang="en-IN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btn.addEventListener</a:t>
            </a:r>
            <a:r>
              <a:rPr lang="en-IN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("click", greet);</a:t>
            </a:r>
          </a:p>
          <a:p>
            <a:endParaRPr lang="en-IN"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btn.removeEventListener</a:t>
            </a:r>
            <a:r>
              <a:rPr lang="en-IN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("click", greet);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79646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2C1C4-A20A-713B-0762-8AE516083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7955915" cy="984885"/>
          </a:xfrm>
        </p:spPr>
        <p:txBody>
          <a:bodyPr/>
          <a:lstStyle/>
          <a:p>
            <a:r>
              <a:rPr lang="en-US" sz="3200" dirty="0"/>
              <a:t>Handling events from the Body, Button, Textbox, password elements.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A57D4-2E63-95DC-6DBF-20DB276B13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76400"/>
            <a:ext cx="8082820" cy="471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66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99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1374</TotalTime>
  <Words>3107</Words>
  <Application>Microsoft Office PowerPoint</Application>
  <PresentationFormat>On-screen Show (4:3)</PresentationFormat>
  <Paragraphs>447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 MT</vt:lpstr>
      <vt:lpstr>Franklin Gothic Medium</vt:lpstr>
      <vt:lpstr>Segoe UI Symbol</vt:lpstr>
      <vt:lpstr>Times New Roman</vt:lpstr>
      <vt:lpstr>Office Theme</vt:lpstr>
      <vt:lpstr>PowerPoint Presentation</vt:lpstr>
      <vt:lpstr>Topics</vt:lpstr>
      <vt:lpstr>The DOM</vt:lpstr>
      <vt:lpstr>The DOM</vt:lpstr>
      <vt:lpstr>The HTML DOM</vt:lpstr>
      <vt:lpstr>The HTML DOM</vt:lpstr>
      <vt:lpstr>The HTML DOM Example</vt:lpstr>
      <vt:lpstr>The HTML DOM Example</vt:lpstr>
      <vt:lpstr>The HTML DOM Example</vt:lpstr>
      <vt:lpstr>The HTML DOM Example</vt:lpstr>
      <vt:lpstr>The HTML DOM Example</vt:lpstr>
      <vt:lpstr>The HTML DOM Example</vt:lpstr>
      <vt:lpstr>The HTML DOM - Writing into the HTML Stream</vt:lpstr>
      <vt:lpstr>The HTML DOM - Changing Attributes</vt:lpstr>
      <vt:lpstr>The HTML DOM – Changing Styles</vt:lpstr>
      <vt:lpstr>The HTML DOM – Changing Styles - Example</vt:lpstr>
      <vt:lpstr>The HTML DOM - Events</vt:lpstr>
      <vt:lpstr>The HTML DOM – Events - Example</vt:lpstr>
      <vt:lpstr>The HTML DOM – Building HTML</vt:lpstr>
      <vt:lpstr>The HTML DOM – Building HTML Example</vt:lpstr>
      <vt:lpstr>The HTML DOM – Building HTML Example</vt:lpstr>
      <vt:lpstr>Events in JavaScript </vt:lpstr>
      <vt:lpstr>What is an Event?</vt:lpstr>
      <vt:lpstr>Event Flow </vt:lpstr>
      <vt:lpstr> Event Handling</vt:lpstr>
      <vt:lpstr> Inline Event Handling </vt:lpstr>
      <vt:lpstr>Traditional DOM Event Handling</vt:lpstr>
      <vt:lpstr>Modern Event Handling</vt:lpstr>
      <vt:lpstr>Common Events</vt:lpstr>
      <vt:lpstr>Removing Event Listeners</vt:lpstr>
      <vt:lpstr>Handling events from the Body, Button, Textbox, password elements.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</dc:title>
  <cp:lastModifiedBy>Divyashree R</cp:lastModifiedBy>
  <cp:revision>5</cp:revision>
  <dcterms:created xsi:type="dcterms:W3CDTF">2025-08-12T14:34:08Z</dcterms:created>
  <dcterms:modified xsi:type="dcterms:W3CDTF">2025-10-07T14:36:40Z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2020-09-14T00:00:00Z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2025-08-12T00:00:00Z</vt:filetime>
  </property>
  <property fmtid="{D5CDD505-2E9C-101B-9397-08002B2CF9AE}" pid="5" name="Producer">
    <vt:lpwstr>Microsoft® PowerPoint® for Microsoft 365</vt:lpwstr>
  </property>
</Properties>
</file>