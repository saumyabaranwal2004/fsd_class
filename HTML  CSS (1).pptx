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7.jpg" ContentType="image/jpg"/>
  <Override PartName="/ppt/media/image18.jpg" ContentType="image/jp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28.jpg" ContentType="image/jpg"/>
  <Override PartName="/ppt/media/image30.jpg" ContentType="image/jpg"/>
  <Override PartName="/ppt/media/image32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6" r:id="rId9"/>
    <p:sldId id="276" r:id="rId10"/>
    <p:sldId id="323" r:id="rId11"/>
    <p:sldId id="324" r:id="rId12"/>
    <p:sldId id="325" r:id="rId13"/>
    <p:sldId id="273" r:id="rId14"/>
    <p:sldId id="274" r:id="rId15"/>
    <p:sldId id="267" r:id="rId16"/>
    <p:sldId id="265" r:id="rId17"/>
    <p:sldId id="261" r:id="rId18"/>
    <p:sldId id="268" r:id="rId19"/>
    <p:sldId id="327" r:id="rId20"/>
    <p:sldId id="328" r:id="rId21"/>
    <p:sldId id="329" r:id="rId22"/>
    <p:sldId id="262" r:id="rId23"/>
    <p:sldId id="269" r:id="rId24"/>
    <p:sldId id="270" r:id="rId25"/>
    <p:sldId id="271" r:id="rId26"/>
    <p:sldId id="272" r:id="rId27"/>
    <p:sldId id="275" r:id="rId28"/>
    <p:sldId id="277" r:id="rId29"/>
    <p:sldId id="278" r:id="rId30"/>
    <p:sldId id="279" r:id="rId31"/>
    <p:sldId id="280" r:id="rId32"/>
    <p:sldId id="281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  <p:sldId id="307" r:id="rId67"/>
    <p:sldId id="308" r:id="rId68"/>
    <p:sldId id="309" r:id="rId69"/>
    <p:sldId id="310" r:id="rId70"/>
    <p:sldId id="311" r:id="rId71"/>
    <p:sldId id="312" r:id="rId72"/>
    <p:sldId id="313" r:id="rId73"/>
    <p:sldId id="314" r:id="rId74"/>
    <p:sldId id="315" r:id="rId75"/>
    <p:sldId id="316" r:id="rId76"/>
    <p:sldId id="317" r:id="rId77"/>
    <p:sldId id="318" r:id="rId78"/>
    <p:sldId id="319" r:id="rId79"/>
    <p:sldId id="320" r:id="rId8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923547-3BFE-4097-A1FA-32F3A456AAA1}" v="2" dt="2026-10-07T11:43:38.01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mya baranwal" userId="60c1b86e5f1945ba" providerId="LiveId" clId="{9707D639-12B8-464C-BF8F-3464A2CD59E8}"/>
    <pc:docChg chg="modSld">
      <pc:chgData name="saumya baranwal" userId="60c1b86e5f1945ba" providerId="LiveId" clId="{9707D639-12B8-464C-BF8F-3464A2CD59E8}" dt="2026-10-07T11:43:39.144" v="5"/>
      <pc:docMkLst>
        <pc:docMk/>
      </pc:docMkLst>
      <pc:sldChg chg="addSp delSp modSp mod">
        <pc:chgData name="saumya baranwal" userId="60c1b86e5f1945ba" providerId="LiveId" clId="{9707D639-12B8-464C-BF8F-3464A2CD59E8}" dt="2026-10-07T11:43:39.144" v="5"/>
        <pc:sldMkLst>
          <pc:docMk/>
          <pc:sldMk cId="0" sldId="283"/>
        </pc:sldMkLst>
        <pc:spChg chg="add del mod">
          <ac:chgData name="saumya baranwal" userId="60c1b86e5f1945ba" providerId="LiveId" clId="{9707D639-12B8-464C-BF8F-3464A2CD59E8}" dt="2026-10-07T11:43:37.631" v="2"/>
          <ac:spMkLst>
            <pc:docMk/>
            <pc:sldMk cId="0" sldId="283"/>
            <ac:spMk id="5" creationId="{E0C103D2-3461-3569-93EE-D37F7AC4132A}"/>
          </ac:spMkLst>
        </pc:spChg>
        <pc:spChg chg="add del mod">
          <ac:chgData name="saumya baranwal" userId="60c1b86e5f1945ba" providerId="LiveId" clId="{9707D639-12B8-464C-BF8F-3464A2CD59E8}" dt="2026-10-07T11:43:39.144" v="5"/>
          <ac:spMkLst>
            <pc:docMk/>
            <pc:sldMk cId="0" sldId="283"/>
            <ac:spMk id="6" creationId="{BA90C8F7-56B6-B9BF-55A0-B15071F0AE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53E91-28EF-43D7-B917-95897367DBC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6EFB1-BE62-47DC-A6EC-30DD4D9269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29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0170">
              <a:lnSpc>
                <a:spcPts val="16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0170">
              <a:lnSpc>
                <a:spcPts val="16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32636" y="1321053"/>
            <a:ext cx="2214879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0170">
              <a:lnSpc>
                <a:spcPts val="16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0170">
              <a:lnSpc>
                <a:spcPts val="16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246" y="1396746"/>
            <a:ext cx="9020810" cy="121285"/>
          </a:xfrm>
          <a:custGeom>
            <a:avLst/>
            <a:gdLst/>
            <a:ahLst/>
            <a:cxnLst/>
            <a:rect l="l" t="t" r="r" b="b"/>
            <a:pathLst>
              <a:path w="9020810" h="121284">
                <a:moveTo>
                  <a:pt x="9020556" y="0"/>
                </a:moveTo>
                <a:lnTo>
                  <a:pt x="0" y="0"/>
                </a:lnTo>
                <a:lnTo>
                  <a:pt x="0" y="121158"/>
                </a:lnTo>
                <a:lnTo>
                  <a:pt x="9020556" y="121158"/>
                </a:lnTo>
                <a:lnTo>
                  <a:pt x="9020556" y="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246" y="2976372"/>
            <a:ext cx="9020810" cy="111760"/>
          </a:xfrm>
          <a:custGeom>
            <a:avLst/>
            <a:gdLst/>
            <a:ahLst/>
            <a:cxnLst/>
            <a:rect l="l" t="t" r="r" b="b"/>
            <a:pathLst>
              <a:path w="9020810" h="111760">
                <a:moveTo>
                  <a:pt x="9020556" y="0"/>
                </a:moveTo>
                <a:lnTo>
                  <a:pt x="0" y="0"/>
                </a:lnTo>
                <a:lnTo>
                  <a:pt x="0" y="111251"/>
                </a:lnTo>
                <a:lnTo>
                  <a:pt x="9020556" y="111251"/>
                </a:lnTo>
                <a:lnTo>
                  <a:pt x="9020556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0170">
              <a:lnSpc>
                <a:spcPts val="16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rtl="0"/>
            <a:fld id="{00000000-1234-1234-1234-123412341234}" type="slidenum">
              <a:rPr lang="en-US" smtClean="0"/>
              <a:pPr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2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246" y="70103"/>
            <a:ext cx="9014460" cy="6692900"/>
          </a:xfrm>
          <a:custGeom>
            <a:avLst/>
            <a:gdLst/>
            <a:ahLst/>
            <a:cxnLst/>
            <a:rect l="l" t="t" r="r" b="b"/>
            <a:pathLst>
              <a:path w="9014460" h="6692900">
                <a:moveTo>
                  <a:pt x="0" y="329819"/>
                </a:moveTo>
                <a:lnTo>
                  <a:pt x="3576" y="281088"/>
                </a:lnTo>
                <a:lnTo>
                  <a:pt x="13966" y="234576"/>
                </a:lnTo>
                <a:lnTo>
                  <a:pt x="30659" y="190791"/>
                </a:lnTo>
                <a:lnTo>
                  <a:pt x="53144" y="150245"/>
                </a:lnTo>
                <a:lnTo>
                  <a:pt x="80912" y="113448"/>
                </a:lnTo>
                <a:lnTo>
                  <a:pt x="113453" y="80911"/>
                </a:lnTo>
                <a:lnTo>
                  <a:pt x="150255" y="53144"/>
                </a:lnTo>
                <a:lnTo>
                  <a:pt x="190810" y="30660"/>
                </a:lnTo>
                <a:lnTo>
                  <a:pt x="234606" y="13967"/>
                </a:lnTo>
                <a:lnTo>
                  <a:pt x="281133" y="3576"/>
                </a:lnTo>
                <a:lnTo>
                  <a:pt x="329882" y="0"/>
                </a:lnTo>
                <a:lnTo>
                  <a:pt x="8684641" y="0"/>
                </a:lnTo>
                <a:lnTo>
                  <a:pt x="8733371" y="3576"/>
                </a:lnTo>
                <a:lnTo>
                  <a:pt x="8779883" y="13967"/>
                </a:lnTo>
                <a:lnTo>
                  <a:pt x="8823668" y="30660"/>
                </a:lnTo>
                <a:lnTo>
                  <a:pt x="8864214" y="53144"/>
                </a:lnTo>
                <a:lnTo>
                  <a:pt x="8901011" y="80911"/>
                </a:lnTo>
                <a:lnTo>
                  <a:pt x="8933548" y="113448"/>
                </a:lnTo>
                <a:lnTo>
                  <a:pt x="8961315" y="150245"/>
                </a:lnTo>
                <a:lnTo>
                  <a:pt x="8983799" y="190791"/>
                </a:lnTo>
                <a:lnTo>
                  <a:pt x="9000492" y="234576"/>
                </a:lnTo>
                <a:lnTo>
                  <a:pt x="9010883" y="281088"/>
                </a:lnTo>
                <a:lnTo>
                  <a:pt x="9014460" y="329819"/>
                </a:lnTo>
                <a:lnTo>
                  <a:pt x="9014460" y="6362763"/>
                </a:lnTo>
                <a:lnTo>
                  <a:pt x="9010883" y="6411512"/>
                </a:lnTo>
                <a:lnTo>
                  <a:pt x="9000492" y="6458039"/>
                </a:lnTo>
                <a:lnTo>
                  <a:pt x="8983799" y="6501835"/>
                </a:lnTo>
                <a:lnTo>
                  <a:pt x="8961315" y="6542389"/>
                </a:lnTo>
                <a:lnTo>
                  <a:pt x="8933548" y="6579192"/>
                </a:lnTo>
                <a:lnTo>
                  <a:pt x="8901011" y="6611732"/>
                </a:lnTo>
                <a:lnTo>
                  <a:pt x="8864214" y="6639500"/>
                </a:lnTo>
                <a:lnTo>
                  <a:pt x="8823668" y="6661985"/>
                </a:lnTo>
                <a:lnTo>
                  <a:pt x="8779883" y="6678678"/>
                </a:lnTo>
                <a:lnTo>
                  <a:pt x="8733371" y="6689068"/>
                </a:lnTo>
                <a:lnTo>
                  <a:pt x="8684641" y="6692644"/>
                </a:lnTo>
                <a:lnTo>
                  <a:pt x="329882" y="6692644"/>
                </a:lnTo>
                <a:lnTo>
                  <a:pt x="281133" y="6689068"/>
                </a:lnTo>
                <a:lnTo>
                  <a:pt x="234606" y="6678678"/>
                </a:lnTo>
                <a:lnTo>
                  <a:pt x="190810" y="6661985"/>
                </a:lnTo>
                <a:lnTo>
                  <a:pt x="150255" y="6639500"/>
                </a:lnTo>
                <a:lnTo>
                  <a:pt x="113453" y="6611732"/>
                </a:lnTo>
                <a:lnTo>
                  <a:pt x="80912" y="6579192"/>
                </a:lnTo>
                <a:lnTo>
                  <a:pt x="53144" y="6542389"/>
                </a:lnTo>
                <a:lnTo>
                  <a:pt x="30659" y="6501835"/>
                </a:lnTo>
                <a:lnTo>
                  <a:pt x="13966" y="6458039"/>
                </a:lnTo>
                <a:lnTo>
                  <a:pt x="3576" y="6411512"/>
                </a:lnTo>
                <a:lnTo>
                  <a:pt x="0" y="6362763"/>
                </a:lnTo>
                <a:lnTo>
                  <a:pt x="0" y="329819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-125730"/>
            <a:ext cx="8529319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696363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77182" y="2740659"/>
            <a:ext cx="398399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1902" y="6320374"/>
            <a:ext cx="297815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0170">
              <a:lnSpc>
                <a:spcPts val="16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target.com/path/file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someserver.com/some_web_page.html#MoreStyle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pr_list-style-type.asp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595" y="1600200"/>
            <a:ext cx="9020810" cy="2123658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60"/>
              </a:lnSpc>
              <a:tabLst>
                <a:tab pos="1254125" algn="l"/>
              </a:tabLst>
            </a:pPr>
            <a:r>
              <a:rPr lang="en-US" sz="4800" spc="-25" dirty="0">
                <a:solidFill>
                  <a:srgbClr val="FFFFFF"/>
                </a:solidFill>
                <a:latin typeface="Times New Roman"/>
                <a:cs typeface="Times New Roman"/>
              </a:rPr>
              <a:t>Full stack development</a:t>
            </a:r>
            <a:endParaRPr lang="en-US" sz="4800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ts val="5360"/>
              </a:lnSpc>
              <a:tabLst>
                <a:tab pos="1254125" algn="l"/>
              </a:tabLst>
            </a:pPr>
            <a:r>
              <a:rPr lang="en-US" sz="48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Chapter 1</a:t>
            </a:r>
            <a:endParaRPr sz="4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2889250" algn="l"/>
              </a:tabLst>
            </a:pPr>
            <a:r>
              <a:rPr sz="4800" spc="-10" dirty="0">
                <a:solidFill>
                  <a:srgbClr val="FFFFFF"/>
                </a:solidFill>
                <a:latin typeface="Times New Roman"/>
                <a:cs typeface="Times New Roman"/>
              </a:rPr>
              <a:t>HTML</a:t>
            </a:r>
            <a:r>
              <a:rPr sz="48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48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4800" spc="-25" dirty="0">
                <a:solidFill>
                  <a:srgbClr val="FFFFFF"/>
                </a:solidFill>
                <a:latin typeface="Times New Roman"/>
                <a:cs typeface="Times New Roman"/>
              </a:rPr>
              <a:t>CSS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9879" y="6305550"/>
            <a:ext cx="12953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4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127" y="533400"/>
            <a:ext cx="20339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0" dirty="0"/>
              <a:t>Topics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1413422" y="1619250"/>
            <a:ext cx="1569720" cy="1397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360" dirty="0">
                <a:latin typeface="Times New Roman"/>
                <a:cs typeface="Times New Roman"/>
              </a:rPr>
              <a:t>HTML</a:t>
            </a:r>
            <a:endParaRPr sz="4000" dirty="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484" dirty="0">
                <a:latin typeface="Times New Roman"/>
                <a:cs typeface="Times New Roman"/>
              </a:rPr>
              <a:t>CSS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66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6000" spc="-20" dirty="0"/>
              <a:t>HTML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383539" y="933788"/>
            <a:ext cx="8529319" cy="4832733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6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90" dirty="0">
                <a:latin typeface="Times New Roman"/>
                <a:cs typeface="Times New Roman"/>
              </a:rPr>
              <a:t>Hypertext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Markup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Language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4765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4615"/>
              <a:buFont typeface="Segoe UI Symbol"/>
              <a:buChar char="⚫"/>
              <a:tabLst>
                <a:tab pos="558800" algn="l"/>
              </a:tabLst>
            </a:pPr>
            <a:r>
              <a:rPr sz="2600" spc="-135" dirty="0">
                <a:latin typeface="Times New Roman"/>
                <a:cs typeface="Times New Roman"/>
              </a:rPr>
              <a:t>Describes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structure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web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page</a:t>
            </a:r>
            <a:endParaRPr sz="2600" dirty="0">
              <a:latin typeface="Times New Roman"/>
              <a:cs typeface="Times New Roman"/>
            </a:endParaRPr>
          </a:p>
          <a:p>
            <a:pPr marL="558800" lvl="1" indent="-247650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615"/>
              <a:buFont typeface="Segoe UI Symbol"/>
              <a:buChar char="⚫"/>
              <a:tabLst>
                <a:tab pos="558800" algn="l"/>
              </a:tabLst>
            </a:pPr>
            <a:r>
              <a:rPr sz="2600" spc="-135" dirty="0">
                <a:latin typeface="Times New Roman"/>
                <a:cs typeface="Times New Roman"/>
              </a:rPr>
              <a:t>Contains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i="1" spc="-280" dirty="0">
                <a:solidFill>
                  <a:srgbClr val="FF0000"/>
                </a:solidFill>
                <a:latin typeface="Times New Roman"/>
                <a:cs typeface="Times New Roman"/>
              </a:rPr>
              <a:t>elements</a:t>
            </a:r>
            <a:endParaRPr sz="26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25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spc="-120" dirty="0">
                <a:latin typeface="Times New Roman"/>
                <a:cs typeface="Times New Roman"/>
              </a:rPr>
              <a:t>Elements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describe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how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render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content</a:t>
            </a:r>
            <a:endParaRPr sz="2400" dirty="0"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spc="-120" dirty="0">
                <a:latin typeface="Times New Roman"/>
                <a:cs typeface="Times New Roman"/>
              </a:rPr>
              <a:t>Elements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enclosed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3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Tags</a:t>
            </a:r>
            <a:endParaRPr sz="2400" dirty="0">
              <a:latin typeface="Times New Roman"/>
              <a:cs typeface="Times New Roman"/>
            </a:endParaRPr>
          </a:p>
          <a:p>
            <a:pPr marL="558800" lvl="1" indent="-247650">
              <a:lnSpc>
                <a:spcPct val="100000"/>
              </a:lnSpc>
              <a:spcBef>
                <a:spcPts val="370"/>
              </a:spcBef>
              <a:buClr>
                <a:srgbClr val="9B2C1F"/>
              </a:buClr>
              <a:buSzPct val="84615"/>
              <a:buFont typeface="Segoe UI Symbol"/>
              <a:buChar char="⚫"/>
              <a:tabLst>
                <a:tab pos="558800" algn="l"/>
              </a:tabLst>
            </a:pPr>
            <a:r>
              <a:rPr sz="2600" i="1" spc="-385" dirty="0">
                <a:solidFill>
                  <a:srgbClr val="FF0000"/>
                </a:solidFill>
                <a:latin typeface="Times New Roman"/>
                <a:cs typeface="Times New Roman"/>
              </a:rPr>
              <a:t>Tags</a:t>
            </a:r>
            <a:r>
              <a:rPr sz="2600" i="1" spc="-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surround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describe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content</a:t>
            </a:r>
            <a:endParaRPr sz="2600" dirty="0"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25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spc="-75" dirty="0">
                <a:latin typeface="Times New Roman"/>
                <a:cs typeface="Times New Roman"/>
              </a:rPr>
              <a:t>Start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tag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angle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brackets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(i.e.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&lt;body&gt;)</a:t>
            </a:r>
            <a:endParaRPr sz="2400" dirty="0"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spc="-160" dirty="0">
                <a:latin typeface="Times New Roman"/>
                <a:cs typeface="Times New Roman"/>
              </a:rPr>
              <a:t>End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tag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3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Text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leading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slash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angle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brackets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(i.e.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&lt;/body&gt;)</a:t>
            </a:r>
            <a:endParaRPr sz="2400" dirty="0"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spc="-250" dirty="0">
                <a:latin typeface="Times New Roman"/>
                <a:cs typeface="Times New Roman"/>
              </a:rPr>
              <a:t>Tags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must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properly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nested!</a:t>
            </a:r>
            <a:endParaRPr sz="2400" dirty="0">
              <a:latin typeface="Times New Roman"/>
              <a:cs typeface="Times New Roman"/>
            </a:endParaRPr>
          </a:p>
          <a:p>
            <a:pPr marL="558800" lvl="1" indent="-247650">
              <a:lnSpc>
                <a:spcPct val="100000"/>
              </a:lnSpc>
              <a:spcBef>
                <a:spcPts val="370"/>
              </a:spcBef>
              <a:buClr>
                <a:srgbClr val="9B2C1F"/>
              </a:buClr>
              <a:buSzPct val="84615"/>
              <a:buFont typeface="Segoe UI Symbol"/>
              <a:buChar char="⚫"/>
              <a:tabLst>
                <a:tab pos="558800" algn="l"/>
              </a:tabLst>
            </a:pPr>
            <a:r>
              <a:rPr sz="2600" i="1" spc="-229" dirty="0">
                <a:solidFill>
                  <a:srgbClr val="FF0000"/>
                </a:solidFill>
                <a:latin typeface="Times New Roman"/>
                <a:cs typeface="Times New Roman"/>
              </a:rPr>
              <a:t>Attributes</a:t>
            </a:r>
            <a:r>
              <a:rPr sz="2600" i="1" spc="-2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contained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inside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tags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refine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operation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tag</a:t>
            </a:r>
            <a:endParaRPr sz="2600" dirty="0"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30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spc="-120" dirty="0">
                <a:latin typeface="Times New Roman"/>
                <a:cs typeface="Times New Roman"/>
              </a:rPr>
              <a:t>Format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is: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&lt;tagname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attr1=value,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attr2=value…&gt;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9879" y="6305550"/>
            <a:ext cx="12953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132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HTML</a:t>
            </a:r>
            <a:r>
              <a:rPr sz="4800" spc="-105" dirty="0"/>
              <a:t> </a:t>
            </a:r>
            <a:r>
              <a:rPr lang="en-US" sz="4800" dirty="0"/>
              <a:t>Structure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1324038" y="1246726"/>
            <a:ext cx="268414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&lt;!DOCTYPE </a:t>
            </a:r>
            <a:r>
              <a:rPr sz="1800" spc="-10" dirty="0">
                <a:latin typeface="Times New Roman"/>
                <a:cs typeface="Times New Roman"/>
              </a:rPr>
              <a:t>HTML&gt;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&lt;html&gt;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&lt;head&gt;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&lt;title&gt;My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Page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Title!&lt;/title&gt;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&lt;/head&gt;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&lt;body&gt;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4038" y="2999745"/>
            <a:ext cx="6067362" cy="19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&lt;h1&gt;Introduction&lt;/h1&gt;</a:t>
            </a:r>
            <a:endParaRPr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HTML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web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page.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‘paragraph’.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Web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browser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introduce </a:t>
            </a:r>
            <a:r>
              <a:rPr sz="1800" dirty="0">
                <a:latin typeface="Times New Roman"/>
                <a:cs typeface="Times New Roman"/>
              </a:rPr>
              <a:t>line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breaks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nicely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browser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window.&lt;/p&gt;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&lt;/body&gt;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&lt;/html&gt;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87567" y="1147571"/>
            <a:ext cx="63703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Tags</a:t>
            </a:r>
            <a:endParaRPr sz="1800" b="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41600" y="1292482"/>
            <a:ext cx="3733165" cy="855344"/>
          </a:xfrm>
          <a:custGeom>
            <a:avLst/>
            <a:gdLst/>
            <a:ahLst/>
            <a:cxnLst/>
            <a:rect l="l" t="t" r="r" b="b"/>
            <a:pathLst>
              <a:path w="3733165" h="855344">
                <a:moveTo>
                  <a:pt x="3467100" y="0"/>
                </a:moveTo>
                <a:lnTo>
                  <a:pt x="30480" y="322072"/>
                </a:lnTo>
              </a:path>
              <a:path w="3733165" h="855344">
                <a:moveTo>
                  <a:pt x="3546729" y="9905"/>
                </a:moveTo>
                <a:lnTo>
                  <a:pt x="106680" y="627126"/>
                </a:lnTo>
              </a:path>
              <a:path w="3733165" h="855344">
                <a:moveTo>
                  <a:pt x="3546729" y="92201"/>
                </a:moveTo>
                <a:lnTo>
                  <a:pt x="0" y="779144"/>
                </a:lnTo>
              </a:path>
              <a:path w="3733165" h="855344">
                <a:moveTo>
                  <a:pt x="3733165" y="92201"/>
                </a:moveTo>
                <a:lnTo>
                  <a:pt x="2011679" y="855344"/>
                </a:lnTo>
              </a:path>
            </a:pathLst>
          </a:custGeom>
          <a:ln w="9525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717" y="457200"/>
            <a:ext cx="54857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HTML</a:t>
            </a:r>
            <a:r>
              <a:rPr sz="5400" spc="-30" dirty="0"/>
              <a:t> </a:t>
            </a:r>
            <a:r>
              <a:rPr sz="5400" dirty="0"/>
              <a:t>–</a:t>
            </a:r>
            <a:r>
              <a:rPr sz="5400" spc="-45" dirty="0"/>
              <a:t> </a:t>
            </a:r>
            <a:r>
              <a:rPr sz="5400" dirty="0"/>
              <a:t>Basic</a:t>
            </a:r>
            <a:r>
              <a:rPr sz="5400" spc="-60" dirty="0"/>
              <a:t> </a:t>
            </a:r>
            <a:r>
              <a:rPr sz="5400" spc="-105" dirty="0"/>
              <a:t>Tags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603504" y="1640522"/>
            <a:ext cx="7778496" cy="359842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b="1" spc="60" dirty="0">
                <a:latin typeface="Times New Roman"/>
                <a:cs typeface="Times New Roman"/>
              </a:rPr>
              <a:t>&lt;html&gt;&lt;/html&gt;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-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Surround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entire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document</a:t>
            </a:r>
            <a:endParaRPr sz="2600" dirty="0">
              <a:latin typeface="Times New Roman"/>
              <a:cs typeface="Times New Roman"/>
            </a:endParaRPr>
          </a:p>
          <a:p>
            <a:pPr marL="283210" marR="5080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b="1" dirty="0">
                <a:latin typeface="Times New Roman"/>
                <a:cs typeface="Times New Roman"/>
              </a:rPr>
              <a:t>&lt;head&gt;&lt;/head&gt;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-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Surround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header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material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(titles,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css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info, 	etc.)</a:t>
            </a:r>
            <a:endParaRPr sz="26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b="1" dirty="0">
                <a:latin typeface="Times New Roman"/>
                <a:cs typeface="Times New Roman"/>
              </a:rPr>
              <a:t>&lt;body&gt;&lt;/body&gt;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-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Contains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main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content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page</a:t>
            </a:r>
            <a:endParaRPr sz="2600" dirty="0">
              <a:latin typeface="Times New Roman"/>
              <a:cs typeface="Times New Roman"/>
            </a:endParaRPr>
          </a:p>
          <a:p>
            <a:pPr marL="283210" marR="375920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b="1" spc="195" dirty="0">
                <a:latin typeface="Times New Roman"/>
                <a:cs typeface="Times New Roman"/>
              </a:rPr>
              <a:t>&lt;p&gt;&lt;/p&gt;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-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Hold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single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paragraph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browser</a:t>
            </a:r>
            <a:r>
              <a:rPr sz="2600" spc="-50" dirty="0">
                <a:latin typeface="Times New Roman"/>
                <a:cs typeface="Times New Roman"/>
              </a:rPr>
              <a:t> will 	</a:t>
            </a:r>
            <a:r>
              <a:rPr sz="2600" spc="-10" dirty="0">
                <a:latin typeface="Times New Roman"/>
                <a:cs typeface="Times New Roman"/>
              </a:rPr>
              <a:t>typeset.</a:t>
            </a:r>
            <a:endParaRPr sz="2600" dirty="0">
              <a:latin typeface="Times New Roman"/>
              <a:cs typeface="Times New Roman"/>
            </a:endParaRPr>
          </a:p>
          <a:p>
            <a:pPr marL="283210" marR="806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b="1" spc="110" dirty="0">
                <a:latin typeface="Times New Roman"/>
                <a:cs typeface="Times New Roman"/>
              </a:rPr>
              <a:t>&lt;h1&gt;&lt;/h1&gt;,</a:t>
            </a:r>
            <a:r>
              <a:rPr sz="2600" b="1" spc="-145" dirty="0">
                <a:latin typeface="Times New Roman"/>
                <a:cs typeface="Times New Roman"/>
              </a:rPr>
              <a:t> </a:t>
            </a:r>
            <a:r>
              <a:rPr sz="2600" b="1" spc="110" dirty="0">
                <a:latin typeface="Times New Roman"/>
                <a:cs typeface="Times New Roman"/>
              </a:rPr>
              <a:t>&lt;h2&gt;&lt;/h2&gt;,</a:t>
            </a:r>
            <a:r>
              <a:rPr sz="2600" b="1" spc="-1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…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-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Hold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heading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line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that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is 	</a:t>
            </a:r>
            <a:r>
              <a:rPr sz="2600" spc="-140" dirty="0">
                <a:latin typeface="Times New Roman"/>
                <a:cs typeface="Times New Roman"/>
              </a:rPr>
              <a:t>used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mark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sections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document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reader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514350" y="685800"/>
            <a:ext cx="78867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l" rtl="0">
              <a:lnSpc>
                <a:spcPct val="90000"/>
              </a:lnSpc>
              <a:buClr>
                <a:srgbClr val="000000"/>
              </a:buClr>
              <a:buSzPts val="4400"/>
            </a:pPr>
            <a:r>
              <a:rPr lang="en-US" sz="5900" dirty="0">
                <a:sym typeface="Quattrocento Sans"/>
              </a:rPr>
              <a:t>HTML Headings</a:t>
            </a:r>
            <a:endParaRPr sz="5900" dirty="0"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628650" y="2240031"/>
            <a:ext cx="8058150" cy="30931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HTML headings are defined with the </a:t>
            </a:r>
            <a:r>
              <a:rPr lang="en-US" dirty="0">
                <a:solidFill>
                  <a:srgbClr val="DC143C"/>
                </a:solidFill>
                <a:ea typeface="Times New Roman"/>
                <a:sym typeface="Times New Roman"/>
              </a:rPr>
              <a:t>&lt;h1&gt;</a:t>
            </a: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 to </a:t>
            </a:r>
            <a:r>
              <a:rPr lang="en-US" dirty="0">
                <a:solidFill>
                  <a:srgbClr val="DC143C"/>
                </a:solidFill>
                <a:ea typeface="Times New Roman"/>
                <a:sym typeface="Times New Roman"/>
              </a:rPr>
              <a:t>&lt;h6&gt;</a:t>
            </a: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 tags.</a:t>
            </a:r>
            <a:endParaRPr dirty="0">
              <a:solidFill>
                <a:schemeClr val="dk1"/>
              </a:solidFill>
              <a:ea typeface="Times New Roman"/>
              <a:sym typeface="Times New Roman"/>
            </a:endParaRPr>
          </a:p>
          <a:p>
            <a:pPr algn="l" rtl="0">
              <a:buClr>
                <a:srgbClr val="DC143C"/>
              </a:buClr>
              <a:buSzPts val="1600"/>
            </a:pPr>
            <a:r>
              <a:rPr lang="en-US" dirty="0">
                <a:solidFill>
                  <a:srgbClr val="DC143C"/>
                </a:solidFill>
                <a:ea typeface="Times New Roman"/>
                <a:sym typeface="Times New Roman"/>
              </a:rPr>
              <a:t>&lt;h1&gt;</a:t>
            </a: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 defines the most important heading. </a:t>
            </a:r>
            <a:r>
              <a:rPr lang="en-US" dirty="0">
                <a:solidFill>
                  <a:srgbClr val="DC143C"/>
                </a:solidFill>
                <a:ea typeface="Times New Roman"/>
                <a:sym typeface="Times New Roman"/>
              </a:rPr>
              <a:t>&lt;h6&gt;</a:t>
            </a: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 defines the least important heading: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&lt;!DOCTYPE html&gt;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&lt;html&gt;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&lt;body&gt;</a:t>
            </a:r>
            <a:endParaRPr dirty="0"/>
          </a:p>
          <a:p>
            <a:pPr algn="l" rtl="0">
              <a:buClr>
                <a:schemeClr val="dk1"/>
              </a:buClr>
              <a:buSzPts val="1600"/>
            </a:pPr>
            <a:endParaRPr dirty="0">
              <a:solidFill>
                <a:srgbClr val="000000"/>
              </a:solidFill>
              <a:ea typeface="Times New Roman"/>
              <a:sym typeface="Times New Roman"/>
            </a:endParaRPr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&lt;h1&gt;This is heading 1&lt;/h1&gt;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&lt;h2&gt;This is heading 2&lt;/h2&gt;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&lt;h3&gt;This is heading 3&lt;/h3&gt;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&lt;h4&gt;This is heading 4&lt;/h4&gt;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&lt;h5&gt;This is heading 5&lt;/h5&gt;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&lt;h6&gt;This is heading 6&lt;/h6&gt;</a:t>
            </a:r>
            <a:endParaRPr dirty="0"/>
          </a:p>
          <a:p>
            <a:pPr algn="l" rtl="0">
              <a:buClr>
                <a:schemeClr val="dk1"/>
              </a:buClr>
              <a:buSzPts val="1600"/>
            </a:pPr>
            <a:endParaRPr dirty="0">
              <a:solidFill>
                <a:srgbClr val="000000"/>
              </a:solidFill>
              <a:ea typeface="Times New Roman"/>
              <a:sym typeface="Times New Roman"/>
            </a:endParaRPr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&lt;/body&gt;</a:t>
            </a:r>
            <a:endParaRPr dirty="0"/>
          </a:p>
          <a:p>
            <a:pPr algn="l" rtl="0">
              <a:buClr>
                <a:srgbClr val="000000"/>
              </a:buClr>
              <a:buSzPts val="1600"/>
            </a:pPr>
            <a:r>
              <a:rPr lang="en-US" dirty="0">
                <a:solidFill>
                  <a:srgbClr val="000000"/>
                </a:solidFill>
                <a:ea typeface="Times New Roman"/>
                <a:sym typeface="Times New Roman"/>
              </a:rPr>
              <a:t>&lt;/html&gt;</a:t>
            </a:r>
            <a:endParaRPr dirty="0">
              <a:solidFill>
                <a:srgbClr val="000000"/>
              </a:solidFill>
              <a:ea typeface="Times New Roman"/>
              <a:sym typeface="Times New Roman"/>
            </a:endParaRPr>
          </a:p>
          <a:p>
            <a:pPr algn="l" rtl="0">
              <a:buClr>
                <a:schemeClr val="dk1"/>
              </a:buClr>
              <a:buSzPts val="1100"/>
            </a:pPr>
            <a:endParaRPr sz="825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l" rtl="0">
              <a:buClr>
                <a:schemeClr val="dk1"/>
              </a:buClr>
              <a:buSzPts val="1100"/>
            </a:pPr>
            <a:endParaRPr sz="825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6456" y="2764631"/>
            <a:ext cx="2464594" cy="2278857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533400" y="990600"/>
            <a:ext cx="84582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algn="l" rtl="0"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US" sz="5900" dirty="0">
                <a:solidFill>
                  <a:srgbClr val="696363"/>
                </a:solidFill>
                <a:latin typeface="Franklin Gothic Medium"/>
                <a:ea typeface="+mj-ea"/>
                <a:sym typeface="Arial"/>
              </a:rPr>
              <a:t>Paragraph</a:t>
            </a:r>
            <a:endParaRPr sz="5900" dirty="0">
              <a:solidFill>
                <a:srgbClr val="696363"/>
              </a:solidFill>
              <a:latin typeface="Franklin Gothic Medium"/>
              <a:ea typeface="+mj-ea"/>
            </a:endParaRPr>
          </a:p>
          <a:p>
            <a:pPr marL="171450" indent="-48101"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i="0" dirty="0">
                <a:latin typeface="Arial"/>
                <a:ea typeface="Arial"/>
                <a:cs typeface="Arial"/>
                <a:sym typeface="Arial"/>
              </a:rPr>
              <a:t>HTML paragraphs are defined with &lt;p&gt; tags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i="0" dirty="0">
                <a:latin typeface="Arial"/>
                <a:ea typeface="Arial"/>
                <a:cs typeface="Arial"/>
                <a:sym typeface="Arial"/>
              </a:rPr>
              <a:t>&lt;!DOCTYPE html&gt;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i="0" dirty="0">
                <a:latin typeface="Arial"/>
                <a:ea typeface="Arial"/>
                <a:cs typeface="Arial"/>
                <a:sym typeface="Arial"/>
              </a:rPr>
              <a:t>&lt;html&gt;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i="0" dirty="0">
                <a:latin typeface="Arial"/>
                <a:ea typeface="Arial"/>
                <a:cs typeface="Arial"/>
                <a:sym typeface="Arial"/>
              </a:rPr>
              <a:t>&lt;body&gt;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i="0" dirty="0">
                <a:latin typeface="Arial"/>
                <a:ea typeface="Arial"/>
                <a:cs typeface="Arial"/>
                <a:sym typeface="Arial"/>
              </a:rPr>
              <a:t>&lt;p&gt;This is a paragraph.&lt;/p&gt;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i="0" dirty="0">
                <a:latin typeface="Arial"/>
                <a:ea typeface="Arial"/>
                <a:cs typeface="Arial"/>
                <a:sym typeface="Arial"/>
              </a:rPr>
              <a:t>&lt;p&gt;This is another paragraph.&lt;/p&gt;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i="0" dirty="0">
                <a:latin typeface="Arial"/>
                <a:ea typeface="Arial"/>
                <a:cs typeface="Arial"/>
                <a:sym typeface="Arial"/>
              </a:rPr>
              <a:t>&lt;/body&gt;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i="0" dirty="0">
                <a:latin typeface="Arial"/>
                <a:ea typeface="Arial"/>
                <a:cs typeface="Arial"/>
                <a:sym typeface="Arial"/>
              </a:rPr>
              <a:t>&lt;/html&gt;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endParaRPr i="0" dirty="0">
              <a:latin typeface="Arial"/>
              <a:ea typeface="Arial"/>
              <a:cs typeface="Arial"/>
              <a:sym typeface="Arial"/>
            </a:endParaRPr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</a:pPr>
            <a:r>
              <a:rPr lang="en-US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paragraph.</a:t>
            </a:r>
            <a:endParaRPr dirty="0"/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</a:pPr>
            <a:r>
              <a:rPr lang="en-US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another paragraph.</a:t>
            </a:r>
            <a:endParaRPr dirty="0"/>
          </a:p>
          <a:p>
            <a:pPr marL="171450" indent="-48101"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endParaRPr b="1" i="0" dirty="0">
              <a:latin typeface="Arial"/>
              <a:ea typeface="Arial"/>
              <a:cs typeface="Arial"/>
              <a:sym typeface="Arial"/>
            </a:endParaRPr>
          </a:p>
          <a:p>
            <a:pPr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endParaRPr b="1" i="0" dirty="0">
              <a:latin typeface="Arial"/>
              <a:ea typeface="Arial"/>
              <a:cs typeface="Arial"/>
              <a:sym typeface="Arial"/>
            </a:endParaRPr>
          </a:p>
          <a:p>
            <a:pPr marL="171450" indent="-48101"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endParaRPr b="1" i="0" dirty="0">
              <a:latin typeface="Arial"/>
              <a:ea typeface="Arial"/>
              <a:cs typeface="Arial"/>
              <a:sym typeface="Arial"/>
            </a:endParaRPr>
          </a:p>
          <a:p>
            <a:pPr marL="171450" indent="-48101" algn="l" rt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endParaRPr dirty="0"/>
          </a:p>
        </p:txBody>
      </p:sp>
      <p:sp>
        <p:nvSpPr>
          <p:cNvPr id="110" name="Google Shape;110;p5"/>
          <p:cNvSpPr/>
          <p:nvPr/>
        </p:nvSpPr>
        <p:spPr>
          <a:xfrm>
            <a:off x="1064419" y="2476687"/>
            <a:ext cx="160140" cy="161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 algn="l" rtl="0">
              <a:buClr>
                <a:schemeClr val="dk1"/>
              </a:buClr>
              <a:buSzPts val="800"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432" y="381000"/>
            <a:ext cx="8529319" cy="1031875"/>
          </a:xfrm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dirty="0"/>
              <a:t>Image </a:t>
            </a:r>
            <a:r>
              <a:rPr sz="6000" spc="-20" dirty="0"/>
              <a:t>tag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399415" y="1905000"/>
            <a:ext cx="8345170" cy="175958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6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20" dirty="0">
                <a:latin typeface="Times New Roman"/>
                <a:cs typeface="Times New Roman"/>
              </a:rPr>
              <a:t>&lt;</a:t>
            </a:r>
            <a:r>
              <a:rPr sz="2600" b="1" spc="-20" dirty="0">
                <a:latin typeface="Times New Roman"/>
                <a:cs typeface="Times New Roman"/>
              </a:rPr>
              <a:t>IMG</a:t>
            </a:r>
            <a:r>
              <a:rPr sz="2600" spc="-20" dirty="0">
                <a:latin typeface="Times New Roman"/>
                <a:cs typeface="Times New Roman"/>
              </a:rPr>
              <a:t>&gt;</a:t>
            </a:r>
            <a:r>
              <a:rPr sz="2600" spc="-60" dirty="0">
                <a:latin typeface="Times New Roman"/>
                <a:cs typeface="Times New Roman"/>
              </a:rPr>
              <a:t> -</a:t>
            </a:r>
            <a:r>
              <a:rPr sz="2600" spc="-39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Will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display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image</a:t>
            </a:r>
            <a:endParaRPr sz="2600" dirty="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75" dirty="0">
                <a:latin typeface="Times New Roman"/>
                <a:cs typeface="Times New Roman"/>
              </a:rPr>
              <a:t>Image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must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popular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graphics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format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(gif,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jpg,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png,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etc)</a:t>
            </a:r>
            <a:endParaRPr sz="2400" dirty="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20" dirty="0">
                <a:latin typeface="Times New Roman"/>
                <a:cs typeface="Times New Roman"/>
              </a:rPr>
              <a:t>Format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56515">
              <a:lnSpc>
                <a:spcPct val="100000"/>
              </a:lnSpc>
              <a:spcBef>
                <a:spcPts val="600"/>
              </a:spcBef>
            </a:pPr>
            <a:r>
              <a:rPr sz="2400" spc="-110" dirty="0">
                <a:latin typeface="Times New Roman"/>
                <a:cs typeface="Times New Roman"/>
              </a:rPr>
              <a:t>&lt;IMG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src=“url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image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file”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width=#,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height=#,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alt=“Text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display”&gt;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125730"/>
            <a:ext cx="479234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Font </a:t>
            </a:r>
            <a:r>
              <a:rPr spc="-45" dirty="0"/>
              <a:t>Styles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1056640"/>
            <a:ext cx="8302625" cy="53041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45" dirty="0">
                <a:latin typeface="Times New Roman"/>
                <a:cs typeface="Times New Roman"/>
              </a:rPr>
              <a:t>Style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information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included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tags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28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‘style=‘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attribute</a:t>
            </a:r>
            <a:endParaRPr sz="2400" dirty="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20" dirty="0">
                <a:latin typeface="Times New Roman"/>
                <a:cs typeface="Times New Roman"/>
              </a:rPr>
              <a:t>Format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&lt;tag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style=“attr1:value1;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attr2:value2”&gt;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&lt;/tag&gt;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spc="-45" dirty="0">
                <a:latin typeface="Times New Roman"/>
                <a:cs typeface="Times New Roman"/>
              </a:rPr>
              <a:t>attr1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attr2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style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property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names</a:t>
            </a:r>
            <a:endParaRPr sz="2200" dirty="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spc="-135" dirty="0">
                <a:latin typeface="Times New Roman"/>
                <a:cs typeface="Times New Roman"/>
              </a:rPr>
              <a:t>value1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30" dirty="0">
                <a:latin typeface="Times New Roman"/>
                <a:cs typeface="Times New Roman"/>
              </a:rPr>
              <a:t>value2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50" dirty="0">
                <a:latin typeface="Times New Roman"/>
                <a:cs typeface="Times New Roman"/>
              </a:rPr>
              <a:t>values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attach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properties</a:t>
            </a:r>
            <a:endParaRPr sz="2200" dirty="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45" dirty="0">
                <a:latin typeface="Times New Roman"/>
                <a:cs typeface="Times New Roman"/>
              </a:rPr>
              <a:t>Most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common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style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attributes: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dirty="0">
                <a:latin typeface="Times New Roman"/>
                <a:cs typeface="Times New Roman"/>
              </a:rPr>
              <a:t>background-color</a:t>
            </a:r>
            <a:r>
              <a:rPr sz="2200" b="1" spc="2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for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background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color</a:t>
            </a:r>
            <a:endParaRPr sz="2200" dirty="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dirty="0">
                <a:latin typeface="Times New Roman"/>
                <a:cs typeface="Times New Roman"/>
              </a:rPr>
              <a:t>color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text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colors</a:t>
            </a:r>
            <a:endParaRPr sz="2200" dirty="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dirty="0">
                <a:latin typeface="Times New Roman"/>
                <a:cs typeface="Times New Roman"/>
              </a:rPr>
              <a:t>font-</a:t>
            </a:r>
            <a:r>
              <a:rPr sz="2200" b="1" spc="-30" dirty="0">
                <a:latin typeface="Times New Roman"/>
                <a:cs typeface="Times New Roman"/>
              </a:rPr>
              <a:t>family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text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fonts</a:t>
            </a:r>
            <a:endParaRPr sz="2200" dirty="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dirty="0">
                <a:latin typeface="Times New Roman"/>
                <a:cs typeface="Times New Roman"/>
              </a:rPr>
              <a:t>font-size</a:t>
            </a:r>
            <a:r>
              <a:rPr sz="2200" b="1" spc="-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text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sizes</a:t>
            </a:r>
            <a:endParaRPr sz="2200" dirty="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b="1" spc="50" dirty="0">
                <a:latin typeface="Times New Roman"/>
                <a:cs typeface="Times New Roman"/>
              </a:rPr>
              <a:t>text-</a:t>
            </a:r>
            <a:r>
              <a:rPr sz="2200" b="1" dirty="0">
                <a:latin typeface="Times New Roman"/>
                <a:cs typeface="Times New Roman"/>
              </a:rPr>
              <a:t>align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text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alignment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60" dirty="0">
                <a:latin typeface="Times New Roman"/>
                <a:cs typeface="Times New Roman"/>
              </a:rPr>
              <a:t>&lt;p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style=“background-</a:t>
            </a:r>
            <a:r>
              <a:rPr sz="2400" spc="-70" dirty="0">
                <a:latin typeface="Times New Roman"/>
                <a:cs typeface="Times New Roman"/>
              </a:rPr>
              <a:t>color:red;</a:t>
            </a:r>
            <a:r>
              <a:rPr sz="2400" spc="-100" dirty="0">
                <a:latin typeface="Times New Roman"/>
                <a:cs typeface="Times New Roman"/>
              </a:rPr>
              <a:t> color=black”&gt;Paragraph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text.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204" dirty="0">
                <a:latin typeface="Times New Roman"/>
                <a:cs typeface="Times New Roman"/>
              </a:rPr>
              <a:t>&lt;/p&gt;</a:t>
            </a:r>
            <a:endParaRPr sz="2400" dirty="0">
              <a:latin typeface="Times New Roman"/>
              <a:cs typeface="Times New Roman"/>
            </a:endParaRPr>
          </a:p>
          <a:p>
            <a:pPr marL="285115" marR="5969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55" dirty="0">
                <a:latin typeface="Times New Roman"/>
                <a:cs typeface="Times New Roman"/>
              </a:rPr>
              <a:t>Using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75" dirty="0">
                <a:latin typeface="Times New Roman"/>
                <a:cs typeface="Times New Roman"/>
              </a:rPr>
              <a:t>CSS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(Cascading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Style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Sheets)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actually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much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easier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less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error prone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>
            <a:spLocks noGrp="1"/>
          </p:cNvSpPr>
          <p:nvPr>
            <p:ph type="title"/>
          </p:nvPr>
        </p:nvSpPr>
        <p:spPr>
          <a:xfrm>
            <a:off x="471488" y="74109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/>
          </a:bodyPr>
          <a:lstStyle/>
          <a:p>
            <a:pPr algn="l" rtl="0">
              <a:lnSpc>
                <a:spcPct val="90000"/>
              </a:lnSpc>
              <a:buClr>
                <a:srgbClr val="2F5496"/>
              </a:buClr>
              <a:buSzPts val="4400"/>
            </a:pPr>
            <a:r>
              <a:rPr lang="en-US" dirty="0"/>
              <a:t>Font styles</a:t>
            </a:r>
            <a:br>
              <a:rPr lang="en-US" b="0" i="0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dirty="0"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1"/>
          </p:nvPr>
        </p:nvSpPr>
        <p:spPr>
          <a:xfrm>
            <a:off x="471488" y="1686702"/>
            <a:ext cx="8062912" cy="3670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 algn="l" rtl="0">
              <a:buClr>
                <a:srgbClr val="000000"/>
              </a:buClr>
              <a:buSzPts val="2000"/>
            </a:pPr>
            <a:br>
              <a:rPr lang="en-US" sz="15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5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HTML </a:t>
            </a:r>
            <a:r>
              <a:rPr lang="en-US" sz="1500" dirty="0">
                <a:solidFill>
                  <a:srgbClr val="DC143C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5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attribute is used to add styles to an element, such as color, font, size, and more.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&lt;!DOCTYPE html&gt;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&lt;html&gt;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&lt;body&gt;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&lt;p&gt;I am normal&lt;/p&gt;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&lt;p </a:t>
            </a:r>
            <a:r>
              <a:rPr lang="en-US" sz="1800" b="1" dirty="0">
                <a:solidFill>
                  <a:schemeClr val="dk1"/>
                </a:solidFill>
              </a:rPr>
              <a:t>style="</a:t>
            </a:r>
            <a:r>
              <a:rPr lang="en-US" sz="1800" b="1" dirty="0" err="1">
                <a:solidFill>
                  <a:schemeClr val="dk1"/>
                </a:solidFill>
              </a:rPr>
              <a:t>color:red</a:t>
            </a:r>
            <a:r>
              <a:rPr lang="en-US" sz="1800" b="1" dirty="0">
                <a:solidFill>
                  <a:schemeClr val="dk1"/>
                </a:solidFill>
              </a:rPr>
              <a:t>;"&gt;</a:t>
            </a:r>
            <a:r>
              <a:rPr lang="en-US" sz="1800" dirty="0">
                <a:solidFill>
                  <a:schemeClr val="dk1"/>
                </a:solidFill>
              </a:rPr>
              <a:t>I am red&lt;/p&gt;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&lt;p </a:t>
            </a:r>
            <a:r>
              <a:rPr lang="en-US" sz="1800" b="1" dirty="0">
                <a:solidFill>
                  <a:schemeClr val="dk1"/>
                </a:solidFill>
              </a:rPr>
              <a:t>style="</a:t>
            </a:r>
            <a:r>
              <a:rPr lang="en-US" sz="1800" b="1" dirty="0" err="1">
                <a:solidFill>
                  <a:schemeClr val="dk1"/>
                </a:solidFill>
              </a:rPr>
              <a:t>color:blue</a:t>
            </a:r>
            <a:r>
              <a:rPr lang="en-US" sz="1800" b="1" dirty="0">
                <a:solidFill>
                  <a:schemeClr val="dk1"/>
                </a:solidFill>
              </a:rPr>
              <a:t>;"&gt;</a:t>
            </a:r>
            <a:r>
              <a:rPr lang="en-US" sz="1800" dirty="0">
                <a:solidFill>
                  <a:schemeClr val="dk1"/>
                </a:solidFill>
              </a:rPr>
              <a:t>I am blue&lt;/p&gt;  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&lt;p </a:t>
            </a:r>
            <a:r>
              <a:rPr lang="en-US" sz="1800" b="1" dirty="0">
                <a:solidFill>
                  <a:schemeClr val="dk1"/>
                </a:solidFill>
              </a:rPr>
              <a:t>style="font-size:50px;"&gt;</a:t>
            </a:r>
            <a:r>
              <a:rPr lang="en-US" sz="1800" dirty="0">
                <a:solidFill>
                  <a:schemeClr val="dk1"/>
                </a:solidFill>
              </a:rPr>
              <a:t>I am big&lt;/p&gt;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&lt;/body&gt;</a:t>
            </a:r>
            <a:endParaRPr dirty="0"/>
          </a:p>
          <a:p>
            <a:pPr algn="l" rtl="0"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</a:rPr>
              <a:t>&lt;/html&gt;</a:t>
            </a:r>
            <a:endParaRPr dirty="0"/>
          </a:p>
          <a:p>
            <a:pPr algn="l" rtl="0">
              <a:buClr>
                <a:schemeClr val="dk1"/>
              </a:buClr>
              <a:buSzPts val="1800"/>
            </a:pPr>
            <a:br>
              <a:rPr lang="en-US" sz="13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6300" y="2693193"/>
            <a:ext cx="3986213" cy="2578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571500" y="371000"/>
            <a:ext cx="8001000" cy="221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47606" rIns="0" bIns="47606" anchor="ctr" anchorCtr="0">
            <a:spAutoFit/>
          </a:bodyPr>
          <a:lstStyle/>
          <a:p>
            <a:pPr algn="l" rtl="0">
              <a:buClr>
                <a:srgbClr val="000000"/>
              </a:buClr>
              <a:buSzPts val="4800"/>
            </a:pPr>
            <a:r>
              <a:rPr lang="en-US" sz="6600" dirty="0">
                <a:solidFill>
                  <a:srgbClr val="696363"/>
                </a:solidFill>
                <a:latin typeface="Franklin Gothic Medium"/>
                <a:ea typeface="+mj-ea"/>
                <a:sym typeface="Times New Roman"/>
              </a:rPr>
              <a:t>Background</a:t>
            </a:r>
            <a:r>
              <a:rPr lang="en-US" sz="3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>
                <a:solidFill>
                  <a:srgbClr val="696363"/>
                </a:solidFill>
                <a:latin typeface="Franklin Gothic Medium"/>
                <a:ea typeface="+mj-ea"/>
                <a:sym typeface="Times New Roman"/>
              </a:rPr>
              <a:t>Color</a:t>
            </a:r>
            <a:endParaRPr sz="6600" dirty="0">
              <a:solidFill>
                <a:srgbClr val="696363"/>
              </a:solidFill>
              <a:latin typeface="Franklin Gothic Medium"/>
              <a:ea typeface="+mj-ea"/>
            </a:endParaRPr>
          </a:p>
          <a:p>
            <a:pPr algn="l" rtl="0">
              <a:buClr>
                <a:schemeClr val="dk1"/>
              </a:buClr>
              <a:buSzPts val="3200"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rtl="0">
              <a:buClr>
                <a:srgbClr val="000000"/>
              </a:buClr>
              <a:buSzPts val="3200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CSS </a:t>
            </a:r>
            <a:r>
              <a:rPr lang="en-US" sz="2400" dirty="0">
                <a:solidFill>
                  <a:srgbClr val="DC14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background-color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property defines the background color for an HTML element.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593" y="2743200"/>
            <a:ext cx="5307806" cy="2957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399" y="2895600"/>
            <a:ext cx="3352801" cy="2957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/>
        </p:nvSpPr>
        <p:spPr>
          <a:xfrm>
            <a:off x="314325" y="533400"/>
            <a:ext cx="8077200" cy="15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l" rtl="0"/>
            <a:r>
              <a:rPr lang="en-US" sz="4800" spc="-45" dirty="0">
                <a:solidFill>
                  <a:srgbClr val="696363"/>
                </a:solidFill>
                <a:latin typeface="Franklin Gothic Medium"/>
                <a:ea typeface="+mj-ea"/>
                <a:sym typeface="Verdana"/>
              </a:rPr>
              <a:t>Set background </a:t>
            </a:r>
            <a:r>
              <a:rPr lang="en-US" sz="4800" spc="-45" dirty="0" err="1">
                <a:solidFill>
                  <a:srgbClr val="696363"/>
                </a:solidFill>
                <a:latin typeface="Franklin Gothic Medium"/>
                <a:ea typeface="+mj-ea"/>
                <a:sym typeface="Verdana"/>
              </a:rPr>
              <a:t>colour</a:t>
            </a:r>
            <a:r>
              <a:rPr lang="en-US" sz="4800" spc="-45" dirty="0">
                <a:solidFill>
                  <a:srgbClr val="696363"/>
                </a:solidFill>
                <a:latin typeface="Franklin Gothic Medium"/>
                <a:ea typeface="+mj-ea"/>
                <a:sym typeface="Verdana"/>
              </a:rPr>
              <a:t> for two different elements</a:t>
            </a:r>
            <a:endParaRPr sz="4800" spc="-45" dirty="0">
              <a:solidFill>
                <a:srgbClr val="696363"/>
              </a:solidFill>
              <a:latin typeface="Franklin Gothic Medium"/>
              <a:ea typeface="+mj-ea"/>
              <a:sym typeface="Calibri"/>
            </a:endParaRPr>
          </a:p>
        </p:txBody>
      </p:sp>
      <p:pic>
        <p:nvPicPr>
          <p:cNvPr id="157" name="Google Shape;15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25" y="2248031"/>
            <a:ext cx="5697308" cy="346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7925" y="2421732"/>
            <a:ext cx="2657475" cy="239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32003"/>
            <a:ext cx="781621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5" dirty="0"/>
              <a:t>Formatting</a:t>
            </a:r>
            <a:r>
              <a:rPr sz="6000" spc="-100" dirty="0"/>
              <a:t> </a:t>
            </a:r>
            <a:r>
              <a:rPr sz="6000" spc="-95" dirty="0"/>
              <a:t>Tags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681990" y="1049781"/>
            <a:ext cx="8028305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885" indent="-59118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250" dirty="0">
                <a:latin typeface="Times New Roman"/>
                <a:cs typeface="Times New Roman"/>
              </a:rPr>
              <a:t>&lt;b&gt;&lt;/b&gt;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10" dirty="0">
                <a:latin typeface="Times New Roman"/>
                <a:cs typeface="Times New Roman"/>
              </a:rPr>
              <a:t>Bold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100" dirty="0">
                <a:latin typeface="Times New Roman"/>
                <a:cs typeface="Times New Roman"/>
              </a:rPr>
              <a:t>&lt;strong&gt;&lt;/strong&gt;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95" dirty="0">
                <a:latin typeface="Times New Roman"/>
                <a:cs typeface="Times New Roman"/>
              </a:rPr>
              <a:t> Important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text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(similar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bold)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175" dirty="0">
                <a:latin typeface="Times New Roman"/>
                <a:cs typeface="Times New Roman"/>
              </a:rPr>
              <a:t>&lt;i&gt;&lt;i&gt;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Italic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180" dirty="0">
                <a:latin typeface="Times New Roman"/>
                <a:cs typeface="Times New Roman"/>
              </a:rPr>
              <a:t>&lt;em&gt;&lt;/em&gt;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Emphasized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text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(similar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Italic)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80" dirty="0">
                <a:latin typeface="Times New Roman"/>
                <a:cs typeface="Times New Roman"/>
              </a:rPr>
              <a:t>&lt;mark&gt;&lt;/mark&gt;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Marked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dirty="0">
                <a:latin typeface="Times New Roman"/>
                <a:cs typeface="Times New Roman"/>
              </a:rPr>
              <a:t>&lt;small&gt;&lt;small&gt;</a:t>
            </a:r>
            <a:r>
              <a:rPr sz="2800" b="1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204" dirty="0">
                <a:latin typeface="Times New Roman"/>
                <a:cs typeface="Times New Roman"/>
              </a:rPr>
              <a:t>Small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180" dirty="0">
                <a:latin typeface="Times New Roman"/>
                <a:cs typeface="Times New Roman"/>
              </a:rPr>
              <a:t>&lt;del&gt;&lt;/del&gt;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Deleted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text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(stroked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text)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spcBef>
                <a:spcPts val="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155" dirty="0">
                <a:latin typeface="Times New Roman"/>
                <a:cs typeface="Times New Roman"/>
              </a:rPr>
              <a:t>&lt;ins&gt;&lt;/ins&gt;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Inserted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140" dirty="0">
                <a:latin typeface="Times New Roman"/>
                <a:cs typeface="Times New Roman"/>
              </a:rPr>
              <a:t>&lt;sub&gt;&lt;/sub&gt;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Subscript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</a:t>
            </a:r>
            <a:endParaRPr sz="2800" dirty="0">
              <a:latin typeface="Times New Roman"/>
              <a:cs typeface="Times New Roman"/>
            </a:endParaRPr>
          </a:p>
          <a:p>
            <a:pPr marL="603885" indent="-591185">
              <a:lnSpc>
                <a:spcPct val="100000"/>
              </a:lnSpc>
              <a:buClr>
                <a:srgbClr val="D24717"/>
              </a:buClr>
              <a:buSzPct val="83928"/>
              <a:buFont typeface="Segoe UI Symbol"/>
              <a:buChar char="⚫"/>
              <a:tabLst>
                <a:tab pos="603885" algn="l"/>
              </a:tabLst>
            </a:pPr>
            <a:r>
              <a:rPr sz="2800" b="1" spc="145" dirty="0">
                <a:latin typeface="Times New Roman"/>
                <a:cs typeface="Times New Roman"/>
              </a:rPr>
              <a:t>&lt;sup&gt;&lt;/sup&gt;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Superscript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text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5702"/>
            <a:ext cx="8751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6930" algn="l"/>
              </a:tabLst>
            </a:pPr>
            <a:r>
              <a:rPr sz="4800" spc="-10" dirty="0"/>
              <a:t>Example:</a:t>
            </a:r>
            <a:r>
              <a:rPr lang="en-US" sz="4800" spc="-10" dirty="0"/>
              <a:t> </a:t>
            </a:r>
            <a:r>
              <a:rPr sz="4800" spc="-80" dirty="0"/>
              <a:t>Formatting</a:t>
            </a:r>
            <a:r>
              <a:rPr sz="4800" spc="-150" dirty="0"/>
              <a:t> </a:t>
            </a:r>
            <a:r>
              <a:rPr sz="4800" spc="-75" dirty="0"/>
              <a:t>Tags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1069339" y="1168653"/>
            <a:ext cx="4394835" cy="496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&lt;!DOCTYPE </a:t>
            </a:r>
            <a:r>
              <a:rPr sz="1800" spc="-10" dirty="0">
                <a:latin typeface="Times New Roman"/>
                <a:cs typeface="Times New Roman"/>
              </a:rPr>
              <a:t>html&gt;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&lt;html&gt;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&lt;body&gt;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normal.&lt;/p&gt;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&lt;p&gt;&lt;b&gt;This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bold.&lt;/b&gt;&lt;/p&gt;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&lt;p&gt;&lt;i&gt;This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italic.&lt;/i&gt;&lt;/p&gt;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&lt;p&gt;&lt;em&gt;This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emphasized.&lt;/em&gt;&lt;/p&gt;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&lt;p&gt;&lt;strong&gt;This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strong.&lt;/strong&gt;&lt;/p&gt;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&lt;p&gt;&lt;mark&gt;This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marked.&lt;/mark&gt;&lt;/p&gt;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&lt;p&gt;&lt;small&gt;This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small.&lt;/small&gt;&lt;/p&gt;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&lt;p&gt;&lt;del&gt;This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deleted.&lt;/del&gt;&lt;/p&gt;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&lt;p&gt;&lt;ins&gt;This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inserted.&lt;/ins&gt;&lt;/p&gt;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&lt;sup&gt;superscripted.&lt;/sup&gt;&lt;/p&gt;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&lt;p&gt;This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&lt;sub&gt;subscripted.&lt;/sub&gt;&lt;/p&gt;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&lt;/body&gt;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&lt;/html&gt;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2209800"/>
            <a:ext cx="1327529" cy="32766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32003"/>
            <a:ext cx="72510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Links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937546"/>
            <a:ext cx="6962775" cy="476186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6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b="1" i="1" spc="-254" dirty="0">
                <a:latin typeface="Times New Roman"/>
                <a:cs typeface="Times New Roman"/>
              </a:rPr>
              <a:t>href</a:t>
            </a:r>
            <a:r>
              <a:rPr sz="2600" b="1" i="1" spc="-4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attribute</a:t>
            </a:r>
            <a:endParaRPr sz="2600" b="1" dirty="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55" dirty="0">
                <a:latin typeface="Times New Roman"/>
                <a:cs typeface="Times New Roman"/>
              </a:rPr>
              <a:t>This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any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URI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local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file</a:t>
            </a:r>
            <a:endParaRPr sz="2400" dirty="0"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spc="-175" dirty="0">
                <a:latin typeface="Times New Roman"/>
                <a:cs typeface="Times New Roman"/>
              </a:rPr>
              <a:t>URI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should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include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protocol,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server,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path</a:t>
            </a:r>
            <a:endParaRPr sz="2400" dirty="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75" dirty="0">
                <a:latin typeface="Times New Roman"/>
                <a:cs typeface="Times New Roman"/>
              </a:rPr>
              <a:t>Local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file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specified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with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absolute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relative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path</a:t>
            </a:r>
            <a:endParaRPr sz="24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57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80" dirty="0">
                <a:latin typeface="Times New Roman"/>
                <a:cs typeface="Times New Roman"/>
              </a:rPr>
              <a:t>Content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text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OR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image.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Ex:</a:t>
            </a:r>
            <a:endParaRPr sz="26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30"/>
              </a:spcBef>
            </a:pPr>
            <a:r>
              <a:rPr sz="2400" dirty="0">
                <a:latin typeface="Times New Roman"/>
                <a:cs typeface="Times New Roman"/>
              </a:rPr>
              <a:t>&lt;A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HREF=</a:t>
            </a:r>
            <a:r>
              <a:rPr sz="24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http://target.com/path/file.html</a:t>
            </a:r>
            <a:r>
              <a:rPr sz="2400" spc="-10" dirty="0">
                <a:latin typeface="Times New Roman"/>
                <a:cs typeface="Times New Roman"/>
              </a:rPr>
              <a:t>&gt;</a:t>
            </a:r>
            <a:endParaRPr sz="24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400"/>
              </a:spcBef>
            </a:pPr>
            <a:r>
              <a:rPr sz="2400" spc="-110" dirty="0">
                <a:latin typeface="Times New Roman"/>
                <a:cs typeface="Times New Roman"/>
              </a:rPr>
              <a:t>&lt;IMG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src=“small_pic.jpg”&gt;</a:t>
            </a:r>
            <a:endParaRPr sz="24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00"/>
              </a:spcBef>
            </a:pPr>
            <a:r>
              <a:rPr sz="2400" spc="155" dirty="0">
                <a:latin typeface="Times New Roman"/>
                <a:cs typeface="Times New Roman"/>
              </a:rPr>
              <a:t>&lt;/A&gt;</a:t>
            </a:r>
            <a:endParaRPr sz="24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i="1" spc="-135" dirty="0">
                <a:latin typeface="Times New Roman"/>
                <a:cs typeface="Times New Roman"/>
              </a:rPr>
              <a:t>title</a:t>
            </a:r>
            <a:r>
              <a:rPr sz="2600" i="1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attribute</a:t>
            </a:r>
            <a:endParaRPr sz="2600" dirty="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45" dirty="0">
                <a:latin typeface="Times New Roman"/>
                <a:cs typeface="Times New Roman"/>
              </a:rPr>
              <a:t>Used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provide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descriptive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text.</a:t>
            </a:r>
            <a:endParaRPr sz="2400" dirty="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60" dirty="0">
                <a:latin typeface="Times New Roman"/>
                <a:cs typeface="Times New Roman"/>
              </a:rPr>
              <a:t>Text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displayed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when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cursor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hovered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over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link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38" y="228600"/>
            <a:ext cx="8529319" cy="1031875"/>
          </a:xfrm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dirty="0"/>
              <a:t>Links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373696" y="1600200"/>
            <a:ext cx="8396605" cy="351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210" marR="5080" indent="-27114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b="1" spc="-200" dirty="0">
                <a:solidFill>
                  <a:schemeClr val="tx1"/>
                </a:solidFill>
                <a:latin typeface="Times New Roman"/>
                <a:cs typeface="Times New Roman"/>
              </a:rPr>
              <a:t>Links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39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These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mark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hyperlink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around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link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text.When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click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by </a:t>
            </a:r>
            <a:r>
              <a:rPr sz="2800" spc="-125" dirty="0">
                <a:latin typeface="Times New Roman"/>
                <a:cs typeface="Times New Roman"/>
              </a:rPr>
              <a:t>user,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browser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loads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page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45" dirty="0">
                <a:latin typeface="Times New Roman"/>
                <a:cs typeface="Times New Roman"/>
              </a:rPr>
              <a:t>HREF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attribute.</a:t>
            </a:r>
            <a:endParaRPr sz="2800" dirty="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35" dirty="0">
                <a:latin typeface="Times New Roman"/>
                <a:cs typeface="Times New Roman"/>
              </a:rPr>
              <a:t>Format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&lt;A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HREF=“url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target”&gt;Text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for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link&lt;/A&gt;</a:t>
            </a:r>
            <a:endParaRPr sz="2800" dirty="0"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spc="-120" dirty="0">
                <a:latin typeface="Times New Roman"/>
                <a:cs typeface="Times New Roman"/>
              </a:rPr>
              <a:t>Only</a:t>
            </a:r>
            <a:r>
              <a:rPr sz="2400" spc="-29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‘Text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link’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will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show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up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page.</a:t>
            </a:r>
            <a:endParaRPr sz="2400" dirty="0">
              <a:latin typeface="Times New Roman"/>
              <a:cs typeface="Times New Roman"/>
            </a:endParaRPr>
          </a:p>
          <a:p>
            <a:pPr marL="558800" marR="56515" lvl="1" indent="-263525">
              <a:lnSpc>
                <a:spcPct val="100000"/>
              </a:lnSpc>
              <a:spcBef>
                <a:spcPts val="34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60070" algn="l"/>
              </a:tabLst>
            </a:pPr>
            <a:r>
              <a:rPr sz="2800" b="1" spc="-165" dirty="0">
                <a:latin typeface="Times New Roman"/>
                <a:cs typeface="Times New Roman"/>
              </a:rPr>
              <a:t>Target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65" dirty="0">
                <a:latin typeface="Times New Roman"/>
                <a:cs typeface="Times New Roman"/>
              </a:rPr>
              <a:t>attribute</a:t>
            </a:r>
            <a:r>
              <a:rPr sz="2800" spc="-65" dirty="0">
                <a:latin typeface="Times New Roman"/>
                <a:cs typeface="Times New Roman"/>
              </a:rPr>
              <a:t>,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indicates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which</a:t>
            </a:r>
            <a:r>
              <a:rPr sz="2800" spc="-65" dirty="0">
                <a:latin typeface="Times New Roman"/>
                <a:cs typeface="Times New Roman"/>
              </a:rPr>
              <a:t> window/tab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should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</a:t>
            </a:r>
            <a:r>
              <a:rPr sz="2800" spc="-45" dirty="0">
                <a:latin typeface="Times New Roman"/>
                <a:cs typeface="Times New Roman"/>
              </a:rPr>
              <a:t> used </a:t>
            </a:r>
            <a:r>
              <a:rPr sz="2800" spc="-12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linked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page</a:t>
            </a:r>
            <a:endParaRPr sz="2800" dirty="0">
              <a:latin typeface="Times New Roman"/>
              <a:cs typeface="Times New Roman"/>
            </a:endParaRPr>
          </a:p>
          <a:p>
            <a:pPr marL="833755" lvl="3" indent="-231775">
              <a:spcBef>
                <a:spcPts val="455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b="1" dirty="0">
                <a:latin typeface="Times New Roman"/>
                <a:cs typeface="Times New Roman"/>
              </a:rPr>
              <a:t>target=“_self</a:t>
            </a:r>
            <a:r>
              <a:rPr sz="2400" b="1" spc="-250" dirty="0">
                <a:latin typeface="Times New Roman"/>
                <a:cs typeface="Times New Roman"/>
              </a:rPr>
              <a:t> </a:t>
            </a:r>
            <a:r>
              <a:rPr sz="2400" b="1" spc="-114" dirty="0">
                <a:latin typeface="Times New Roman"/>
                <a:cs typeface="Times New Roman"/>
              </a:rPr>
              <a:t>”</a:t>
            </a:r>
            <a:r>
              <a:rPr sz="2400" b="1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Default.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Place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content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current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tab</a:t>
            </a:r>
            <a:endParaRPr sz="2400" dirty="0">
              <a:latin typeface="Times New Roman"/>
              <a:cs typeface="Times New Roman"/>
            </a:endParaRPr>
          </a:p>
          <a:p>
            <a:pPr marL="833755" lvl="2" indent="-23177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5416"/>
              <a:buFont typeface="Segoe UI Symbol"/>
              <a:buChar char="⚫"/>
              <a:tabLst>
                <a:tab pos="833755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target=“_blank”</a:t>
            </a:r>
            <a:r>
              <a:rPr sz="2400" b="1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Place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content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newly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created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tab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628650" y="113109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/>
          </a:bodyPr>
          <a:lstStyle/>
          <a:p>
            <a:pPr algn="l" rtl="0">
              <a:lnSpc>
                <a:spcPct val="90000"/>
              </a:lnSpc>
              <a:buClr>
                <a:srgbClr val="000000"/>
              </a:buClr>
              <a:buSzPct val="100000"/>
            </a:pPr>
            <a:br>
              <a:rPr lang="en-US" sz="33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3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dirty="0">
                <a:sym typeface="Times New Roman"/>
              </a:rPr>
              <a:t>HTML Links</a:t>
            </a:r>
            <a:br>
              <a:rPr lang="en-US" sz="3300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lang="en-US" sz="3300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2325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 links are defined with the &lt;a&gt; tag</a:t>
            </a:r>
            <a:br>
              <a:rPr lang="en-US" sz="3300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lang="en-US" sz="3300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dirty="0"/>
          </a:p>
        </p:txBody>
      </p:sp>
      <p:sp>
        <p:nvSpPr>
          <p:cNvPr id="116" name="Google Shape;116;p6"/>
          <p:cNvSpPr/>
          <p:nvPr/>
        </p:nvSpPr>
        <p:spPr>
          <a:xfrm>
            <a:off x="0" y="776474"/>
            <a:ext cx="160140" cy="161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 algn="l" rtl="0">
              <a:buClr>
                <a:schemeClr val="dk1"/>
              </a:buClr>
              <a:buSzPts val="800"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2521744"/>
            <a:ext cx="5467350" cy="3650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2667000"/>
            <a:ext cx="2520419" cy="1750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32003"/>
            <a:ext cx="72510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Links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823917"/>
            <a:ext cx="8122284" cy="9715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7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85" dirty="0">
                <a:latin typeface="Times New Roman"/>
                <a:cs typeface="Times New Roman"/>
              </a:rPr>
              <a:t>Links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target</a:t>
            </a:r>
            <a:r>
              <a:rPr sz="2600" spc="-30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‘bookmarks’ </a:t>
            </a:r>
            <a:r>
              <a:rPr sz="2600" spc="-100" dirty="0">
                <a:latin typeface="Times New Roman"/>
                <a:cs typeface="Times New Roman"/>
              </a:rPr>
              <a:t>created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with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id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attribute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tag</a:t>
            </a:r>
            <a:endParaRPr sz="26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20" dirty="0">
                <a:latin typeface="Times New Roman"/>
                <a:cs typeface="Times New Roman"/>
              </a:rPr>
              <a:t>Will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scroll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section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marked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with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named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id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6900" y="2374428"/>
            <a:ext cx="5410200" cy="1410643"/>
          </a:xfrm>
          <a:prstGeom prst="rect">
            <a:avLst/>
          </a:prstGeom>
          <a:ln w="25400">
            <a:solidFill>
              <a:srgbClr val="422D2D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20"/>
              </a:spcBef>
            </a:pPr>
            <a:r>
              <a:rPr sz="1050" b="1" spc="-10" dirty="0">
                <a:latin typeface="Times New Roman"/>
                <a:cs typeface="Times New Roman"/>
              </a:rPr>
              <a:t>some_web_page.html:</a:t>
            </a:r>
            <a:endParaRPr sz="1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sz="1050" spc="-50" dirty="0">
                <a:latin typeface="Times New Roman"/>
                <a:cs typeface="Times New Roman"/>
              </a:rPr>
              <a:t>…</a:t>
            </a:r>
            <a:endParaRPr sz="1050" dirty="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sz="1050" dirty="0">
                <a:latin typeface="Times New Roman"/>
                <a:cs typeface="Times New Roman"/>
              </a:rPr>
              <a:t>&lt;h2</a:t>
            </a:r>
            <a:r>
              <a:rPr sz="1050" spc="-10" dirty="0">
                <a:latin typeface="Times New Roman"/>
                <a:cs typeface="Times New Roman"/>
              </a:rPr>
              <a:t> id=“MoreStyles”&gt;</a:t>
            </a:r>
            <a:endParaRPr sz="1050" dirty="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sz="1050" spc="-50" dirty="0">
                <a:latin typeface="Times New Roman"/>
                <a:cs typeface="Times New Roman"/>
              </a:rPr>
              <a:t>…</a:t>
            </a:r>
            <a:endParaRPr sz="1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sz="1050" b="1" dirty="0">
                <a:latin typeface="Times New Roman"/>
                <a:cs typeface="Times New Roman"/>
              </a:rPr>
              <a:t>Inner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link:</a:t>
            </a:r>
            <a:endParaRPr sz="1050" dirty="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sz="1050" dirty="0">
                <a:latin typeface="Times New Roman"/>
                <a:cs typeface="Times New Roman"/>
              </a:rPr>
              <a:t>&lt;A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HREF=“#MoreStyles”&gt;Go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to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MoreStyles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section”&lt;/A&gt;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600" y="4495800"/>
            <a:ext cx="6685280" cy="764953"/>
          </a:xfrm>
          <a:prstGeom prst="rect">
            <a:avLst/>
          </a:prstGeom>
          <a:ln w="25400">
            <a:solidFill>
              <a:srgbClr val="422D2D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825"/>
              </a:spcBef>
            </a:pPr>
            <a:r>
              <a:rPr sz="1050" b="1" dirty="0">
                <a:latin typeface="Times New Roman"/>
                <a:cs typeface="Times New Roman"/>
              </a:rPr>
              <a:t>From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another_web_page.html:</a:t>
            </a:r>
            <a:endParaRPr sz="1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050" spc="-50" dirty="0">
                <a:latin typeface="Times New Roman"/>
                <a:cs typeface="Times New Roman"/>
              </a:rPr>
              <a:t>…</a:t>
            </a:r>
            <a:endParaRPr sz="1050" dirty="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050" dirty="0">
                <a:latin typeface="Times New Roman"/>
                <a:cs typeface="Times New Roman"/>
              </a:rPr>
              <a:t>&lt;A</a:t>
            </a:r>
            <a:r>
              <a:rPr sz="1050" spc="11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HREF=</a:t>
            </a:r>
            <a:r>
              <a:rPr sz="105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http://someserver.com/some_web_page.html#MoreStyles</a:t>
            </a:r>
            <a:r>
              <a:rPr sz="1050" spc="-10" dirty="0">
                <a:latin typeface="Times New Roman"/>
                <a:cs typeface="Times New Roman"/>
              </a:rPr>
              <a:t>&gt;See</a:t>
            </a:r>
            <a:r>
              <a:rPr sz="1050" spc="7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info</a:t>
            </a:r>
            <a:r>
              <a:rPr sz="1050" spc="9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on</a:t>
            </a:r>
            <a:r>
              <a:rPr sz="1050" spc="114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Styles&lt;/A&gt;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-Html-character-entiti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-Html-character-entiti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38100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-Html-character-entiti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-Html-character-entiti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960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32003"/>
            <a:ext cx="39363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HTML</a:t>
            </a:r>
            <a:r>
              <a:rPr sz="6000" spc="10" dirty="0"/>
              <a:t> </a:t>
            </a:r>
            <a:r>
              <a:rPr sz="6000" dirty="0"/>
              <a:t>-</a:t>
            </a:r>
            <a:r>
              <a:rPr sz="6000" spc="15" dirty="0"/>
              <a:t> </a:t>
            </a:r>
            <a:r>
              <a:rPr sz="6000" spc="-10" dirty="0"/>
              <a:t>Lists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35940" y="1136648"/>
            <a:ext cx="7922260" cy="177997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59435" lvl="1" indent="-3397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100" dirty="0">
                <a:latin typeface="Times New Roman"/>
                <a:cs typeface="Times New Roman"/>
              </a:rPr>
              <a:t>&lt;UL&gt;&lt;/UL&gt;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-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25" dirty="0">
                <a:latin typeface="Times New Roman"/>
                <a:cs typeface="Times New Roman"/>
              </a:rPr>
              <a:t>Unordered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List</a:t>
            </a:r>
            <a:endParaRPr lang="en-US" sz="3600" dirty="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165" dirty="0">
                <a:latin typeface="Times New Roman"/>
                <a:cs typeface="Times New Roman"/>
              </a:rPr>
              <a:t>&lt;OL&gt;&lt;/OL&gt;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-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spc="-85" dirty="0">
                <a:latin typeface="Times New Roman"/>
                <a:cs typeface="Times New Roman"/>
              </a:rPr>
              <a:t>Ordered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List</a:t>
            </a:r>
            <a:endParaRPr lang="en-US" sz="3600" dirty="0">
              <a:latin typeface="Times New Roman"/>
              <a:cs typeface="Times New Roman"/>
            </a:endParaRPr>
          </a:p>
          <a:p>
            <a:pPr marL="833119" lvl="2" indent="-301625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119" algn="l"/>
              </a:tabLst>
            </a:pPr>
            <a:r>
              <a:rPr sz="3200" spc="90" dirty="0">
                <a:latin typeface="Times New Roman"/>
                <a:cs typeface="Times New Roman"/>
              </a:rPr>
              <a:t>&lt;LI&gt;&lt;/LI&gt;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Encloses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single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list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item</a:t>
            </a:r>
            <a:endParaRPr lang="en-IN" sz="3200" spc="-45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8E734-3962-1CDE-2254-BD965E010DBE}"/>
              </a:ext>
            </a:extLst>
          </p:cNvPr>
          <p:cNvSpPr txBox="1"/>
          <p:nvPr/>
        </p:nvSpPr>
        <p:spPr>
          <a:xfrm>
            <a:off x="374904" y="2897834"/>
            <a:ext cx="8159496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9435" lvl="1" indent="-3397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lang="en-IN" sz="3600" spc="100" dirty="0">
                <a:latin typeface="Times New Roman"/>
                <a:cs typeface="Times New Roman"/>
              </a:rPr>
              <a:t>&lt;DL&gt;&lt;/DL&gt;</a:t>
            </a:r>
            <a:r>
              <a:rPr lang="en-IN" sz="3600" spc="-105" dirty="0">
                <a:latin typeface="Times New Roman"/>
                <a:cs typeface="Times New Roman"/>
              </a:rPr>
              <a:t> </a:t>
            </a:r>
            <a:r>
              <a:rPr lang="en-IN" sz="3600" dirty="0">
                <a:latin typeface="Times New Roman"/>
                <a:cs typeface="Times New Roman"/>
              </a:rPr>
              <a:t>-</a:t>
            </a:r>
            <a:r>
              <a:rPr lang="en-IN" sz="3600" spc="-95" dirty="0">
                <a:latin typeface="Times New Roman"/>
                <a:cs typeface="Times New Roman"/>
              </a:rPr>
              <a:t> </a:t>
            </a:r>
            <a:r>
              <a:rPr lang="en-IN" sz="3600" spc="-125" dirty="0">
                <a:latin typeface="Times New Roman"/>
                <a:cs typeface="Times New Roman"/>
              </a:rPr>
              <a:t>Description</a:t>
            </a:r>
            <a:r>
              <a:rPr lang="en-IN" sz="3600" spc="-90" dirty="0">
                <a:latin typeface="Times New Roman"/>
                <a:cs typeface="Times New Roman"/>
              </a:rPr>
              <a:t> </a:t>
            </a:r>
            <a:r>
              <a:rPr lang="en-IN" sz="3600" spc="-20" dirty="0">
                <a:latin typeface="Times New Roman"/>
                <a:cs typeface="Times New Roman"/>
              </a:rPr>
              <a:t>List</a:t>
            </a:r>
            <a:endParaRPr lang="en-IN" sz="3600" dirty="0">
              <a:latin typeface="Times New Roman"/>
              <a:cs typeface="Times New Roman"/>
            </a:endParaRPr>
          </a:p>
          <a:p>
            <a:pPr marL="833119" lvl="2" indent="-301625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119" algn="l"/>
              </a:tabLst>
            </a:pPr>
            <a:r>
              <a:rPr lang="en-IN" sz="3200" spc="90" dirty="0">
                <a:latin typeface="Times New Roman"/>
                <a:cs typeface="Times New Roman"/>
              </a:rPr>
              <a:t>&lt;dt&gt;&lt;/dt&gt;</a:t>
            </a:r>
            <a:r>
              <a:rPr lang="en-IN" sz="3200" spc="-45" dirty="0">
                <a:latin typeface="Times New Roman"/>
                <a:cs typeface="Times New Roman"/>
              </a:rPr>
              <a:t> </a:t>
            </a:r>
            <a:r>
              <a:rPr lang="en-IN" sz="3200" dirty="0">
                <a:latin typeface="Times New Roman"/>
                <a:cs typeface="Times New Roman"/>
              </a:rPr>
              <a:t>-</a:t>
            </a:r>
            <a:r>
              <a:rPr lang="en-IN" sz="3200" spc="-70" dirty="0">
                <a:latin typeface="Times New Roman"/>
                <a:cs typeface="Times New Roman"/>
              </a:rPr>
              <a:t> </a:t>
            </a:r>
            <a:r>
              <a:rPr lang="en-IN" sz="3600" spc="-125" dirty="0">
                <a:latin typeface="Times New Roman"/>
                <a:cs typeface="Times New Roman"/>
              </a:rPr>
              <a:t>Description Term</a:t>
            </a:r>
          </a:p>
          <a:p>
            <a:pPr marL="833119" lvl="2" indent="-301625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119" algn="l"/>
              </a:tabLst>
            </a:pPr>
            <a:r>
              <a:rPr lang="en-IN" sz="3200" spc="-45" dirty="0">
                <a:latin typeface="Times New Roman"/>
                <a:cs typeface="Times New Roman"/>
              </a:rPr>
              <a:t>&lt;dd&gt;&lt;/dd&gt;- Description Details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HTML</a:t>
            </a:r>
            <a:r>
              <a:rPr sz="6000" spc="-95" dirty="0"/>
              <a:t> </a:t>
            </a:r>
            <a:r>
              <a:rPr sz="6000" dirty="0"/>
              <a:t>–</a:t>
            </a:r>
            <a:r>
              <a:rPr sz="6000" spc="-85" dirty="0"/>
              <a:t> </a:t>
            </a:r>
            <a:r>
              <a:rPr sz="6000" spc="-60" dirty="0"/>
              <a:t>Example:</a:t>
            </a:r>
            <a:r>
              <a:rPr sz="6000" spc="-85" dirty="0"/>
              <a:t> </a:t>
            </a:r>
            <a:r>
              <a:rPr sz="6000" spc="-10" dirty="0"/>
              <a:t>Lists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221739" y="1035557"/>
            <a:ext cx="2183765" cy="5147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Times New Roman"/>
                <a:cs typeface="Times New Roman"/>
              </a:rPr>
              <a:t>&lt;!DOCTYPE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html&gt;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&lt;html&gt;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&lt;body&gt;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&lt;h2&gt;Unordered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List&lt;/h2&gt;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&lt;ul&gt;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&lt;li&gt;Coffee&lt;/li&gt;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&lt;li&gt;Tea&lt;/li&gt;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&lt;li&gt;Milk&lt;/li&gt;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&lt;/ul&gt;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&lt;h2&gt;Ordered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List&lt;/h2&gt;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&lt;ol&gt;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&lt;li&gt;Coffee&lt;/li&gt;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&lt;li&gt;Tea&lt;/li&gt;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&lt;li&gt;Milk&lt;/li&gt;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&lt;/ol&gt;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&lt;/body&gt;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6938" y="2189226"/>
            <a:ext cx="1536227" cy="247954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21739" y="6179113"/>
            <a:ext cx="684530" cy="25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0"/>
              </a:lnSpc>
            </a:pPr>
            <a:r>
              <a:rPr sz="1600" spc="-10" dirty="0">
                <a:latin typeface="Times New Roman"/>
                <a:cs typeface="Times New Roman"/>
              </a:rPr>
              <a:t>&lt;/html&gt;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HTML</a:t>
            </a:r>
            <a:r>
              <a:rPr sz="5400" spc="-130" dirty="0"/>
              <a:t> </a:t>
            </a:r>
            <a:r>
              <a:rPr sz="5400" dirty="0"/>
              <a:t>–</a:t>
            </a:r>
            <a:r>
              <a:rPr sz="5400" spc="-150" dirty="0"/>
              <a:t> </a:t>
            </a:r>
            <a:r>
              <a:rPr sz="5400" spc="-85" dirty="0"/>
              <a:t>Adding</a:t>
            </a:r>
            <a:r>
              <a:rPr sz="5400" spc="-145" dirty="0"/>
              <a:t> </a:t>
            </a:r>
            <a:r>
              <a:rPr sz="5400" dirty="0"/>
              <a:t>styles</a:t>
            </a:r>
            <a:r>
              <a:rPr sz="5400" spc="-160" dirty="0"/>
              <a:t> </a:t>
            </a:r>
            <a:r>
              <a:rPr sz="5400" dirty="0"/>
              <a:t>to</a:t>
            </a:r>
            <a:r>
              <a:rPr sz="5400" spc="-145" dirty="0"/>
              <a:t> </a:t>
            </a:r>
            <a:r>
              <a:rPr sz="5400" spc="-10" dirty="0"/>
              <a:t>lists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764540" y="927099"/>
            <a:ext cx="7848600" cy="33858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5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315" dirty="0">
                <a:latin typeface="Times New Roman"/>
                <a:cs typeface="Times New Roman"/>
              </a:rPr>
              <a:t>UL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00" dirty="0">
                <a:latin typeface="Times New Roman"/>
                <a:cs typeface="Times New Roman"/>
              </a:rPr>
              <a:t>takes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90" dirty="0">
                <a:latin typeface="Times New Roman"/>
                <a:cs typeface="Times New Roman"/>
              </a:rPr>
              <a:t>a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style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85" dirty="0">
                <a:latin typeface="Times New Roman"/>
                <a:cs typeface="Times New Roman"/>
              </a:rPr>
              <a:t>attribute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85" dirty="0">
                <a:latin typeface="Times New Roman"/>
                <a:cs typeface="Times New Roman"/>
              </a:rPr>
              <a:t>customize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60" dirty="0">
                <a:latin typeface="Times New Roman"/>
                <a:cs typeface="Times New Roman"/>
              </a:rPr>
              <a:t>list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140" dirty="0">
                <a:latin typeface="Times New Roman"/>
                <a:cs typeface="Times New Roman"/>
              </a:rPr>
              <a:t>list-</a:t>
            </a:r>
            <a:r>
              <a:rPr sz="3600" spc="-160" dirty="0">
                <a:latin typeface="Times New Roman"/>
                <a:cs typeface="Times New Roman"/>
              </a:rPr>
              <a:t>style-</a:t>
            </a:r>
            <a:r>
              <a:rPr sz="3600" spc="-20" dirty="0">
                <a:latin typeface="Times New Roman"/>
                <a:cs typeface="Times New Roman"/>
              </a:rPr>
              <a:t>type</a:t>
            </a:r>
            <a:endParaRPr sz="3600">
              <a:latin typeface="Times New Roman"/>
              <a:cs typeface="Times New Roman"/>
            </a:endParaRPr>
          </a:p>
          <a:p>
            <a:pPr marL="833755" lvl="2" indent="-301625">
              <a:lnSpc>
                <a:spcPct val="100000"/>
              </a:lnSpc>
              <a:spcBef>
                <a:spcPts val="450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755" algn="l"/>
              </a:tabLst>
            </a:pPr>
            <a:r>
              <a:rPr sz="3200" spc="-10" dirty="0">
                <a:latin typeface="Times New Roman"/>
                <a:cs typeface="Times New Roman"/>
              </a:rPr>
              <a:t>circle</a:t>
            </a:r>
            <a:endParaRPr sz="3200">
              <a:latin typeface="Times New Roman"/>
              <a:cs typeface="Times New Roman"/>
            </a:endParaRPr>
          </a:p>
          <a:p>
            <a:pPr marL="833119" lvl="2" indent="-30162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119" algn="l"/>
              </a:tabLst>
            </a:pPr>
            <a:r>
              <a:rPr sz="3200" spc="-10" dirty="0">
                <a:latin typeface="Times New Roman"/>
                <a:cs typeface="Times New Roman"/>
              </a:rPr>
              <a:t>square</a:t>
            </a:r>
            <a:endParaRPr sz="3200">
              <a:latin typeface="Times New Roman"/>
              <a:cs typeface="Times New Roman"/>
            </a:endParaRPr>
          </a:p>
          <a:p>
            <a:pPr marL="833755" lvl="2" indent="-3016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755" algn="l"/>
              </a:tabLst>
            </a:pPr>
            <a:r>
              <a:rPr sz="3200" spc="-20" dirty="0">
                <a:latin typeface="Times New Roman"/>
                <a:cs typeface="Times New Roman"/>
              </a:rPr>
              <a:t>disc</a:t>
            </a:r>
            <a:endParaRPr sz="3200">
              <a:latin typeface="Times New Roman"/>
              <a:cs typeface="Times New Roman"/>
            </a:endParaRPr>
          </a:p>
          <a:p>
            <a:pPr marL="833755" lvl="2" indent="-3016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755" algn="l"/>
              </a:tabLst>
            </a:pPr>
            <a:r>
              <a:rPr sz="3200" spc="-20" dirty="0">
                <a:latin typeface="Times New Roman"/>
                <a:cs typeface="Times New Roman"/>
              </a:rPr>
              <a:t>none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1976"/>
            <a:ext cx="83489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29225" algn="l"/>
              </a:tabLst>
            </a:pPr>
            <a:r>
              <a:rPr sz="5400" dirty="0"/>
              <a:t>HTML</a:t>
            </a:r>
            <a:r>
              <a:rPr sz="5400" spc="15" dirty="0"/>
              <a:t> </a:t>
            </a:r>
            <a:r>
              <a:rPr sz="5400" dirty="0"/>
              <a:t>–</a:t>
            </a:r>
            <a:r>
              <a:rPr sz="5400" spc="-5" dirty="0"/>
              <a:t> </a:t>
            </a:r>
            <a:r>
              <a:rPr sz="5400" spc="-10" dirty="0"/>
              <a:t>Example:</a:t>
            </a:r>
            <a:r>
              <a:rPr sz="5400" dirty="0"/>
              <a:t>	</a:t>
            </a:r>
            <a:r>
              <a:rPr sz="5400" spc="-25" dirty="0"/>
              <a:t>Styled</a:t>
            </a:r>
            <a:r>
              <a:rPr sz="5400" spc="-280" dirty="0"/>
              <a:t> </a:t>
            </a:r>
            <a:r>
              <a:rPr sz="5400" spc="-10" dirty="0"/>
              <a:t>lists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910208" y="2041017"/>
            <a:ext cx="3657600" cy="1850389"/>
          </a:xfrm>
          <a:prstGeom prst="rect">
            <a:avLst/>
          </a:prstGeom>
          <a:ln w="25400">
            <a:solidFill>
              <a:srgbClr val="422D2D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1050" dirty="0">
                <a:latin typeface="Times New Roman"/>
                <a:cs typeface="Times New Roman"/>
              </a:rPr>
              <a:t>&lt;!DOCTYPE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html&gt;</a:t>
            </a:r>
            <a:endParaRPr sz="10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&lt;html&gt;</a:t>
            </a:r>
            <a:endParaRPr sz="10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&lt;body&gt;</a:t>
            </a:r>
            <a:endParaRPr sz="10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050" dirty="0">
                <a:latin typeface="Times New Roman"/>
                <a:cs typeface="Times New Roman"/>
              </a:rPr>
              <a:t>&lt;h2&gt;Unordered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List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with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Disc</a:t>
            </a:r>
            <a:r>
              <a:rPr sz="1050" spc="-10" dirty="0">
                <a:latin typeface="Times New Roman"/>
                <a:cs typeface="Times New Roman"/>
              </a:rPr>
              <a:t> Bullets&lt;/h2&gt;</a:t>
            </a:r>
            <a:endParaRPr sz="10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050" dirty="0">
                <a:latin typeface="Times New Roman"/>
                <a:cs typeface="Times New Roman"/>
              </a:rPr>
              <a:t>&lt;ul</a:t>
            </a:r>
            <a:r>
              <a:rPr sz="1050" spc="13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style="</a:t>
            </a:r>
            <a:r>
              <a:rPr sz="1050" b="1" spc="-10" dirty="0">
                <a:latin typeface="Times New Roman"/>
                <a:cs typeface="Times New Roman"/>
              </a:rPr>
              <a:t>list-style-type:disc</a:t>
            </a:r>
            <a:r>
              <a:rPr sz="1050" spc="-10" dirty="0">
                <a:latin typeface="Times New Roman"/>
                <a:cs typeface="Times New Roman"/>
              </a:rPr>
              <a:t>;"&gt;</a:t>
            </a:r>
            <a:endParaRPr sz="105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&lt;li&gt;Coffee&lt;/li&gt;</a:t>
            </a:r>
            <a:endParaRPr sz="105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&lt;li&gt;Tea&lt;/li&gt;</a:t>
            </a:r>
            <a:endParaRPr sz="105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&lt;li&gt;Milk&lt;/li&gt;</a:t>
            </a:r>
            <a:endParaRPr sz="10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&lt;/ul&gt;</a:t>
            </a:r>
            <a:endParaRPr sz="10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&lt;/body&gt;</a:t>
            </a:r>
            <a:endParaRPr sz="10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&lt;/html&gt;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999" y="2063305"/>
            <a:ext cx="2992871" cy="8286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0208" y="3891153"/>
            <a:ext cx="3657600" cy="1850389"/>
          </a:xfrm>
          <a:prstGeom prst="rect">
            <a:avLst/>
          </a:prstGeom>
          <a:ln w="25400">
            <a:solidFill>
              <a:srgbClr val="422D2D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350"/>
              </a:spcBef>
            </a:pPr>
            <a:r>
              <a:rPr sz="1050" dirty="0">
                <a:latin typeface="Times New Roman"/>
                <a:cs typeface="Times New Roman"/>
              </a:rPr>
              <a:t>&lt;!DOCTYPE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html&gt;</a:t>
            </a:r>
            <a:endParaRPr sz="10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&lt;html&gt;</a:t>
            </a:r>
            <a:endParaRPr sz="10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&lt;body&gt;</a:t>
            </a:r>
            <a:endParaRPr sz="10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sz="1050" dirty="0">
                <a:latin typeface="Times New Roman"/>
                <a:cs typeface="Times New Roman"/>
              </a:rPr>
              <a:t>&lt;h2&gt;Unordered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List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with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Square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Bullets&lt;/h2&gt;</a:t>
            </a:r>
            <a:endParaRPr sz="10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sz="1050" dirty="0">
                <a:latin typeface="Times New Roman"/>
                <a:cs typeface="Times New Roman"/>
              </a:rPr>
              <a:t>&lt;ul</a:t>
            </a:r>
            <a:r>
              <a:rPr sz="1050" spc="14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style="</a:t>
            </a:r>
            <a:r>
              <a:rPr sz="1050" b="1" spc="-10" dirty="0">
                <a:latin typeface="Times New Roman"/>
                <a:cs typeface="Times New Roman"/>
              </a:rPr>
              <a:t>list-style-type:square</a:t>
            </a:r>
            <a:r>
              <a:rPr sz="1050" spc="-10" dirty="0">
                <a:latin typeface="Times New Roman"/>
                <a:cs typeface="Times New Roman"/>
              </a:rPr>
              <a:t>;"&gt;</a:t>
            </a:r>
            <a:endParaRPr sz="1050">
              <a:latin typeface="Times New Roman"/>
              <a:cs typeface="Times New Roman"/>
            </a:endParaRPr>
          </a:p>
          <a:p>
            <a:pPr marL="162560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&lt;li&gt;Coffee&lt;/li&gt;</a:t>
            </a:r>
            <a:endParaRPr sz="1050">
              <a:latin typeface="Times New Roman"/>
              <a:cs typeface="Times New Roman"/>
            </a:endParaRPr>
          </a:p>
          <a:p>
            <a:pPr marL="162560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&lt;li&gt;Tea&lt;/li&gt;</a:t>
            </a:r>
            <a:endParaRPr sz="1050">
              <a:latin typeface="Times New Roman"/>
              <a:cs typeface="Times New Roman"/>
            </a:endParaRPr>
          </a:p>
          <a:p>
            <a:pPr marL="162560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&lt;li&gt;Milk&lt;/li&gt;</a:t>
            </a:r>
            <a:endParaRPr sz="10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&lt;/ul&gt;</a:t>
            </a:r>
            <a:endParaRPr sz="10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&lt;/body&gt;</a:t>
            </a:r>
            <a:endParaRPr sz="10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sz="1050" spc="-10" dirty="0">
                <a:latin typeface="Times New Roman"/>
                <a:cs typeface="Times New Roman"/>
              </a:rPr>
              <a:t>&lt;/html&gt;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7767" y="3994384"/>
            <a:ext cx="3257986" cy="82853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HTML</a:t>
            </a:r>
            <a:r>
              <a:rPr sz="6000" spc="10" dirty="0"/>
              <a:t> </a:t>
            </a:r>
            <a:r>
              <a:rPr sz="6000" dirty="0"/>
              <a:t>-</a:t>
            </a:r>
            <a:r>
              <a:rPr sz="6000" spc="15" dirty="0"/>
              <a:t> </a:t>
            </a:r>
            <a:r>
              <a:rPr sz="6000" spc="-95" dirty="0"/>
              <a:t>Comments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35940" y="1187703"/>
            <a:ext cx="7080884" cy="24485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  <a:tab pos="6476365" algn="l"/>
              </a:tabLst>
            </a:pPr>
            <a:r>
              <a:rPr sz="3600" spc="-185" dirty="0">
                <a:latin typeface="Times New Roman"/>
                <a:cs typeface="Times New Roman"/>
              </a:rPr>
              <a:t>Comments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are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165" dirty="0">
                <a:latin typeface="Times New Roman"/>
                <a:cs typeface="Times New Roman"/>
              </a:rPr>
              <a:t>contained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in</a:t>
            </a:r>
            <a:r>
              <a:rPr sz="3600" spc="-40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‘&lt;!-</a:t>
            </a:r>
            <a:r>
              <a:rPr sz="3600" spc="-50" dirty="0">
                <a:latin typeface="Times New Roman"/>
                <a:cs typeface="Times New Roman"/>
              </a:rPr>
              <a:t>-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90" dirty="0">
                <a:latin typeface="Times New Roman"/>
                <a:cs typeface="Times New Roman"/>
              </a:rPr>
              <a:t>--</a:t>
            </a:r>
            <a:r>
              <a:rPr sz="3600" spc="310" dirty="0">
                <a:latin typeface="Times New Roman"/>
                <a:cs typeface="Times New Roman"/>
              </a:rPr>
              <a:t>&gt;</a:t>
            </a:r>
            <a:endParaRPr sz="3600" dirty="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60" dirty="0">
                <a:latin typeface="Times New Roman"/>
                <a:cs typeface="Times New Roman"/>
              </a:rPr>
              <a:t>Example:</a:t>
            </a:r>
            <a:endParaRPr sz="3600" dirty="0">
              <a:latin typeface="Times New Roman"/>
              <a:cs typeface="Times New Roman"/>
            </a:endParaRPr>
          </a:p>
          <a:p>
            <a:pPr marL="12700" marR="147320">
              <a:lnSpc>
                <a:spcPct val="100000"/>
              </a:lnSpc>
              <a:spcBef>
                <a:spcPts val="600"/>
              </a:spcBef>
            </a:pPr>
            <a:r>
              <a:rPr sz="3600" spc="70" dirty="0">
                <a:latin typeface="Times New Roman"/>
                <a:cs typeface="Times New Roman"/>
              </a:rPr>
              <a:t>&lt;!–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spc="-229" dirty="0">
                <a:latin typeface="Times New Roman"/>
                <a:cs typeface="Times New Roman"/>
              </a:rPr>
              <a:t>This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35" dirty="0">
                <a:latin typeface="Times New Roman"/>
                <a:cs typeface="Times New Roman"/>
              </a:rPr>
              <a:t>is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90" dirty="0">
                <a:latin typeface="Times New Roman"/>
                <a:cs typeface="Times New Roman"/>
              </a:rPr>
              <a:t>a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60" dirty="0">
                <a:latin typeface="Times New Roman"/>
                <a:cs typeface="Times New Roman"/>
              </a:rPr>
              <a:t>comment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15" dirty="0">
                <a:latin typeface="Times New Roman"/>
                <a:cs typeface="Times New Roman"/>
              </a:rPr>
              <a:t>and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90" dirty="0">
                <a:latin typeface="Times New Roman"/>
                <a:cs typeface="Times New Roman"/>
              </a:rPr>
              <a:t>does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not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65" dirty="0">
                <a:latin typeface="Times New Roman"/>
                <a:cs typeface="Times New Roman"/>
              </a:rPr>
              <a:t>affect </a:t>
            </a:r>
            <a:r>
              <a:rPr sz="3600" spc="-135" dirty="0">
                <a:latin typeface="Times New Roman"/>
                <a:cs typeface="Times New Roman"/>
              </a:rPr>
              <a:t>rendering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10" dirty="0">
                <a:latin typeface="Times New Roman"/>
                <a:cs typeface="Times New Roman"/>
              </a:rPr>
              <a:t>of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29" dirty="0">
                <a:latin typeface="Times New Roman"/>
                <a:cs typeface="Times New Roman"/>
              </a:rPr>
              <a:t>page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40" dirty="0">
                <a:latin typeface="Times New Roman"/>
                <a:cs typeface="Times New Roman"/>
              </a:rPr>
              <a:t>at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04" dirty="0">
                <a:latin typeface="Times New Roman"/>
                <a:cs typeface="Times New Roman"/>
              </a:rPr>
              <a:t>all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90" dirty="0">
                <a:latin typeface="Times New Roman"/>
                <a:cs typeface="Times New Roman"/>
              </a:rPr>
              <a:t>--</a:t>
            </a:r>
            <a:r>
              <a:rPr sz="3600" spc="310" dirty="0">
                <a:latin typeface="Times New Roman"/>
                <a:cs typeface="Times New Roman"/>
              </a:rPr>
              <a:t>&gt;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32003"/>
            <a:ext cx="47605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HTML</a:t>
            </a:r>
            <a:r>
              <a:rPr sz="6000" spc="-20" dirty="0"/>
              <a:t> </a:t>
            </a:r>
            <a:r>
              <a:rPr sz="6000" dirty="0"/>
              <a:t>–</a:t>
            </a:r>
            <a:r>
              <a:rPr sz="6000" spc="-5" dirty="0"/>
              <a:t> </a:t>
            </a:r>
            <a:r>
              <a:rPr sz="6000" spc="-75" dirty="0"/>
              <a:t>Tables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35940" y="934415"/>
            <a:ext cx="8510270" cy="43516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5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275" dirty="0">
                <a:latin typeface="Times New Roman"/>
                <a:cs typeface="Times New Roman"/>
              </a:rPr>
              <a:t>HTML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Supports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creating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tables</a:t>
            </a:r>
            <a:endParaRPr sz="3200">
              <a:latin typeface="Times New Roman"/>
              <a:cs typeface="Times New Roman"/>
            </a:endParaRPr>
          </a:p>
          <a:p>
            <a:pPr marL="55880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8800" algn="l"/>
              </a:tabLst>
            </a:pPr>
            <a:r>
              <a:rPr sz="3200" spc="-265" dirty="0">
                <a:latin typeface="Times New Roman"/>
                <a:cs typeface="Times New Roman"/>
              </a:rPr>
              <a:t>Tags:</a:t>
            </a:r>
            <a:endParaRPr sz="3200">
              <a:latin typeface="Times New Roman"/>
              <a:cs typeface="Times New Roman"/>
            </a:endParaRPr>
          </a:p>
          <a:p>
            <a:pPr marL="833119" marR="638175" lvl="2" indent="-263525">
              <a:lnSpc>
                <a:spcPct val="100000"/>
              </a:lnSpc>
              <a:spcBef>
                <a:spcPts val="45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4390" algn="l"/>
              </a:tabLst>
            </a:pPr>
            <a:r>
              <a:rPr sz="2800" dirty="0">
                <a:latin typeface="Times New Roman"/>
                <a:cs typeface="Times New Roman"/>
              </a:rPr>
              <a:t>&lt;table&gt;&lt;/table&gt;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Encloses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entire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contents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spc="-20" dirty="0">
                <a:latin typeface="Times New Roman"/>
                <a:cs typeface="Times New Roman"/>
              </a:rPr>
              <a:t>table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200" dirty="0">
                <a:latin typeface="Times New Roman"/>
                <a:cs typeface="Times New Roman"/>
              </a:rPr>
              <a:t>&lt;tr&gt;&lt;/tr&gt;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-</a:t>
            </a:r>
            <a:r>
              <a:rPr sz="2800" spc="-40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These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bracket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34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‘row’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data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cells</a:t>
            </a:r>
            <a:endParaRPr sz="2800">
              <a:latin typeface="Times New Roman"/>
              <a:cs typeface="Times New Roman"/>
            </a:endParaRPr>
          </a:p>
          <a:p>
            <a:pPr marL="833119" marR="5080" lvl="2" indent="-263525">
              <a:lnSpc>
                <a:spcPct val="100000"/>
              </a:lnSpc>
              <a:spcBef>
                <a:spcPts val="39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4390" algn="l"/>
              </a:tabLst>
            </a:pPr>
            <a:r>
              <a:rPr sz="2800" spc="165" dirty="0">
                <a:latin typeface="Times New Roman"/>
                <a:cs typeface="Times New Roman"/>
              </a:rPr>
              <a:t>&lt;th&gt;&lt;/th&gt;</a:t>
            </a:r>
            <a:r>
              <a:rPr sz="2800" spc="-75" dirty="0">
                <a:latin typeface="Times New Roman"/>
                <a:cs typeface="Times New Roman"/>
              </a:rPr>
              <a:t> -</a:t>
            </a:r>
            <a:r>
              <a:rPr sz="2800" spc="-40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These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tags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support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row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used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specifically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for 	</a:t>
            </a:r>
            <a:r>
              <a:rPr sz="2800" spc="-145" dirty="0">
                <a:latin typeface="Times New Roman"/>
                <a:cs typeface="Times New Roman"/>
              </a:rPr>
              <a:t>column</a:t>
            </a:r>
            <a:r>
              <a:rPr sz="2800" spc="-40" dirty="0">
                <a:latin typeface="Times New Roman"/>
                <a:cs typeface="Times New Roman"/>
              </a:rPr>
              <a:t> headings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170" dirty="0">
                <a:latin typeface="Times New Roman"/>
                <a:cs typeface="Times New Roman"/>
              </a:rPr>
              <a:t>&lt;td&gt;&lt;/td&gt;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-</a:t>
            </a:r>
            <a:r>
              <a:rPr sz="2800" spc="-40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These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tags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go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around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data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for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specific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cell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25" dirty="0">
                <a:latin typeface="Times New Roman"/>
                <a:cs typeface="Times New Roman"/>
              </a:rPr>
              <a:t>&lt;caption&gt;</a:t>
            </a:r>
            <a:r>
              <a:rPr sz="2800" spc="-75" dirty="0">
                <a:latin typeface="Times New Roman"/>
                <a:cs typeface="Times New Roman"/>
              </a:rPr>
              <a:t> -</a:t>
            </a:r>
            <a:r>
              <a:rPr sz="2800" spc="-409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This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defines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table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caption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66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3046" y="6468617"/>
            <a:ext cx="18478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(</a:t>
            </a:r>
            <a:r>
              <a:rPr lang="en-IN" sz="1000" dirty="0">
                <a:latin typeface="Arial MT"/>
                <a:cs typeface="Arial MT"/>
              </a:rPr>
              <a:t> 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32003"/>
            <a:ext cx="78759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HTML</a:t>
            </a:r>
            <a:r>
              <a:rPr sz="6000" spc="-95" dirty="0"/>
              <a:t> </a:t>
            </a:r>
            <a:r>
              <a:rPr sz="6000" dirty="0"/>
              <a:t>–</a:t>
            </a:r>
            <a:r>
              <a:rPr sz="6000" spc="-85" dirty="0"/>
              <a:t> </a:t>
            </a:r>
            <a:r>
              <a:rPr sz="6000" spc="-60" dirty="0"/>
              <a:t>Example:</a:t>
            </a:r>
            <a:r>
              <a:rPr sz="6000" spc="-85" dirty="0"/>
              <a:t> </a:t>
            </a:r>
            <a:r>
              <a:rPr sz="6000" spc="-55" dirty="0"/>
              <a:t>Tables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681990" y="1041908"/>
            <a:ext cx="6629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&lt;html&gt;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&lt;body&gt;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990" y="1773427"/>
            <a:ext cx="25133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&lt;h2&gt;Basic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HTML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Table&lt;/h2&gt;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990" y="2260854"/>
            <a:ext cx="236474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Times New Roman"/>
                <a:cs typeface="Times New Roman"/>
              </a:rPr>
              <a:t>&lt;table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style="width:100%"&gt;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&lt;tr&gt;</a:t>
            </a:r>
            <a:endParaRPr sz="16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&lt;th&gt;Firstname&lt;/th&gt;</a:t>
            </a:r>
            <a:endParaRPr sz="16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&lt;th&gt;Lastname&lt;/th&gt;</a:t>
            </a:r>
            <a:endParaRPr sz="16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&lt;th&gt;Age&lt;/th&gt;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&lt;/tr&gt;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336" y="3968241"/>
            <a:ext cx="144653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Times New Roman"/>
                <a:cs typeface="Times New Roman"/>
              </a:rPr>
              <a:t>&lt;tr&gt;</a:t>
            </a:r>
            <a:endParaRPr sz="16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&lt;td&gt;Jill&lt;/td&gt;</a:t>
            </a:r>
            <a:endParaRPr sz="16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&lt;td&gt;Smith&lt;/td&gt;</a:t>
            </a:r>
            <a:endParaRPr sz="16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&lt;td&gt;50&lt;/td&gt;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&lt;/tr&gt;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336" y="5431535"/>
            <a:ext cx="160528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Times New Roman"/>
                <a:cs typeface="Times New Roman"/>
              </a:rPr>
              <a:t>&lt;tr&gt;</a:t>
            </a:r>
            <a:endParaRPr sz="16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&lt;td&gt;Eve&lt;/td&gt;</a:t>
            </a:r>
            <a:endParaRPr sz="16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&lt;td&gt;Jackson&lt;/td&gt;</a:t>
            </a:r>
            <a:endParaRPr sz="16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&lt;td&gt;94&lt;/td&gt;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&lt;/tr&gt;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21861" y="1035557"/>
            <a:ext cx="144589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sz="1600" spc="-20" dirty="0">
                <a:latin typeface="Times New Roman"/>
                <a:cs typeface="Times New Roman"/>
              </a:rPr>
              <a:t>&lt;tr&gt;</a:t>
            </a:r>
            <a:endParaRPr sz="16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&lt;td&gt;John&lt;/td&gt;</a:t>
            </a:r>
            <a:endParaRPr sz="16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&lt;td&gt;Doe&lt;/td&gt;</a:t>
            </a:r>
            <a:endParaRPr sz="16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&lt;td&gt;80&lt;/td&gt;</a:t>
            </a:r>
            <a:endParaRPr sz="1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&lt;/tr&gt;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&lt;/table&gt;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21861" y="2742945"/>
            <a:ext cx="7200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&lt;/body&gt;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&lt;/html&gt;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84500" y="3803650"/>
            <a:ext cx="5969635" cy="1551940"/>
            <a:chOff x="2984500" y="3803650"/>
            <a:chExt cx="5969635" cy="155194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0" y="3867150"/>
              <a:ext cx="5489323" cy="14249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16250" y="3835400"/>
              <a:ext cx="5906135" cy="1488440"/>
            </a:xfrm>
            <a:custGeom>
              <a:avLst/>
              <a:gdLst/>
              <a:ahLst/>
              <a:cxnLst/>
              <a:rect l="l" t="t" r="r" b="b"/>
              <a:pathLst>
                <a:path w="5906134" h="1488439">
                  <a:moveTo>
                    <a:pt x="0" y="1488440"/>
                  </a:moveTo>
                  <a:lnTo>
                    <a:pt x="5905754" y="1488440"/>
                  </a:lnTo>
                  <a:lnTo>
                    <a:pt x="5905754" y="0"/>
                  </a:lnTo>
                  <a:lnTo>
                    <a:pt x="0" y="0"/>
                  </a:lnTo>
                  <a:lnTo>
                    <a:pt x="0" y="1488440"/>
                  </a:lnTo>
                  <a:close/>
                </a:path>
              </a:pathLst>
            </a:custGeom>
            <a:ln w="635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7302" y="6305550"/>
            <a:ext cx="2343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23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079" y="-33273"/>
            <a:ext cx="4232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HTML</a:t>
            </a:r>
            <a:r>
              <a:rPr sz="5400" spc="15" dirty="0"/>
              <a:t> </a:t>
            </a:r>
            <a:r>
              <a:rPr sz="5400" dirty="0"/>
              <a:t>–</a:t>
            </a:r>
            <a:r>
              <a:rPr sz="5400" spc="-5" dirty="0"/>
              <a:t> </a:t>
            </a:r>
            <a:r>
              <a:rPr sz="5400" spc="-70" dirty="0"/>
              <a:t>Forms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459740" y="681684"/>
            <a:ext cx="8590280" cy="53568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3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55" dirty="0">
                <a:latin typeface="Times New Roman"/>
                <a:cs typeface="Times New Roman"/>
              </a:rPr>
              <a:t>Forms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used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collect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data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respond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queries</a:t>
            </a:r>
            <a:endParaRPr sz="26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2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0" dirty="0">
                <a:latin typeface="Times New Roman"/>
                <a:cs typeface="Times New Roman"/>
              </a:rPr>
              <a:t>Tags:</a:t>
            </a:r>
            <a:endParaRPr sz="2600" dirty="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13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b="1" spc="105" dirty="0">
                <a:latin typeface="Times New Roman"/>
                <a:cs typeface="Times New Roman"/>
              </a:rPr>
              <a:t>&lt;form&gt;&lt;/form&gt;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-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This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encases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entire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form</a:t>
            </a:r>
            <a:endParaRPr sz="2400" dirty="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11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40" dirty="0">
                <a:latin typeface="Times New Roman"/>
                <a:cs typeface="Times New Roman"/>
              </a:rPr>
              <a:t>Forms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contain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number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input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elements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well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fields</a:t>
            </a:r>
            <a:endParaRPr sz="2400" dirty="0">
              <a:latin typeface="Times New Roman"/>
              <a:cs typeface="Times New Roman"/>
            </a:endParaRPr>
          </a:p>
          <a:p>
            <a:pPr marL="560070" marR="102235" lvl="1" indent="-232410">
              <a:lnSpc>
                <a:spcPts val="2590"/>
              </a:lnSpc>
              <a:spcBef>
                <a:spcPts val="439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spc="-105" dirty="0">
                <a:latin typeface="Times New Roman"/>
                <a:cs typeface="Times New Roman"/>
              </a:rPr>
              <a:t>There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least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one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input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indicate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when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submit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form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back </a:t>
            </a:r>
            <a:r>
              <a:rPr sz="2400" spc="-20" dirty="0">
                <a:latin typeface="Times New Roman"/>
                <a:cs typeface="Times New Roman"/>
              </a:rPr>
              <a:t>end.</a:t>
            </a:r>
            <a:endParaRPr sz="24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229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40" dirty="0">
                <a:latin typeface="Times New Roman"/>
                <a:cs typeface="Times New Roman"/>
              </a:rPr>
              <a:t>Form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tag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attributes</a:t>
            </a:r>
            <a:endParaRPr sz="2600" dirty="0">
              <a:latin typeface="Times New Roman"/>
              <a:cs typeface="Times New Roman"/>
            </a:endParaRPr>
          </a:p>
          <a:p>
            <a:pPr marL="560070" marR="41910" lvl="1" indent="-232410">
              <a:lnSpc>
                <a:spcPts val="2590"/>
              </a:lnSpc>
              <a:spcBef>
                <a:spcPts val="459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b="1" dirty="0">
                <a:latin typeface="Times New Roman"/>
                <a:cs typeface="Times New Roman"/>
              </a:rPr>
              <a:t>action=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-</a:t>
            </a:r>
            <a:r>
              <a:rPr sz="2400" spc="-34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indicates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script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server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run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when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submit </a:t>
            </a:r>
            <a:r>
              <a:rPr sz="2400" spc="-114" dirty="0">
                <a:latin typeface="Times New Roman"/>
                <a:cs typeface="Times New Roman"/>
              </a:rPr>
              <a:t>action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selected</a:t>
            </a:r>
            <a:endParaRPr sz="2400" dirty="0">
              <a:latin typeface="Times New Roman"/>
              <a:cs typeface="Times New Roman"/>
            </a:endParaRPr>
          </a:p>
          <a:p>
            <a:pPr marL="560070" marR="608965" lvl="1" indent="-232410">
              <a:lnSpc>
                <a:spcPts val="259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b="1" spc="50" dirty="0">
                <a:latin typeface="Times New Roman"/>
                <a:cs typeface="Times New Roman"/>
              </a:rPr>
              <a:t>method=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-</a:t>
            </a:r>
            <a:r>
              <a:rPr sz="2400" spc="-35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indicates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what</a:t>
            </a:r>
            <a:r>
              <a:rPr sz="2400" spc="-29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‘HTTP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method’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use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(i.e.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“GET”, </a:t>
            </a:r>
            <a:r>
              <a:rPr sz="2400" spc="-165" dirty="0">
                <a:latin typeface="Times New Roman"/>
                <a:cs typeface="Times New Roman"/>
              </a:rPr>
              <a:t>“PUT”,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“POST”,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etc)</a:t>
            </a:r>
            <a:endParaRPr sz="2400" dirty="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22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10" dirty="0">
                <a:latin typeface="Times New Roman"/>
                <a:cs typeface="Times New Roman"/>
              </a:rPr>
              <a:t>Input</a:t>
            </a:r>
            <a:r>
              <a:rPr sz="2600" spc="-360" dirty="0">
                <a:latin typeface="Times New Roman"/>
                <a:cs typeface="Times New Roman"/>
              </a:rPr>
              <a:t> </a:t>
            </a:r>
            <a:r>
              <a:rPr sz="2600" spc="-260" dirty="0">
                <a:latin typeface="Times New Roman"/>
                <a:cs typeface="Times New Roman"/>
              </a:rPr>
              <a:t>Tags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within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form:</a:t>
            </a:r>
            <a:endParaRPr sz="2600" dirty="0">
              <a:latin typeface="Times New Roman"/>
              <a:cs typeface="Times New Roman"/>
            </a:endParaRPr>
          </a:p>
          <a:p>
            <a:pPr marL="560070" marR="5080" lvl="1" indent="-232410">
              <a:lnSpc>
                <a:spcPts val="2590"/>
              </a:lnSpc>
              <a:spcBef>
                <a:spcPts val="464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b="1" spc="110" dirty="0">
                <a:latin typeface="Times New Roman"/>
                <a:cs typeface="Times New Roman"/>
              </a:rPr>
              <a:t>&lt;input&gt;&lt;/input&gt;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encloses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input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fields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various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types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on </a:t>
            </a:r>
            <a:r>
              <a:rPr sz="2400" spc="-80" dirty="0">
                <a:latin typeface="Times New Roman"/>
                <a:cs typeface="Times New Roman"/>
              </a:rPr>
              <a:t>attributes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tag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395" y="-32003"/>
            <a:ext cx="781177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HTML</a:t>
            </a:r>
            <a:r>
              <a:rPr sz="6000" spc="-95" dirty="0"/>
              <a:t> </a:t>
            </a:r>
            <a:r>
              <a:rPr sz="6000" dirty="0"/>
              <a:t>–</a:t>
            </a:r>
            <a:r>
              <a:rPr sz="6000" spc="-85" dirty="0"/>
              <a:t> </a:t>
            </a:r>
            <a:r>
              <a:rPr sz="6000" spc="-60" dirty="0"/>
              <a:t>Example:</a:t>
            </a:r>
            <a:r>
              <a:rPr sz="6000" spc="-85" dirty="0"/>
              <a:t> </a:t>
            </a:r>
            <a:r>
              <a:rPr sz="6000" spc="-55" dirty="0"/>
              <a:t>Forms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374395" y="1036320"/>
            <a:ext cx="746315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&lt;!DOCTYPE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&lt;body&gt;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&lt;h2&gt;HTML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Forms&lt;/h2&gt;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101600" marR="4954270" indent="-89535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&lt;form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action="/action_page.php"&gt; </a:t>
            </a:r>
            <a:r>
              <a:rPr sz="1400" dirty="0">
                <a:latin typeface="Times New Roman"/>
                <a:cs typeface="Times New Roman"/>
              </a:rPr>
              <a:t>First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name:&lt;br&gt;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&lt;input</a:t>
            </a:r>
            <a:r>
              <a:rPr sz="14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type="text"</a:t>
            </a:r>
            <a:r>
              <a:rPr sz="1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name="firstname"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value="Mickey"&gt;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&lt;br&gt;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Last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name:&lt;br&gt;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&lt;input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type="text"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name="lastname"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value="Mouse"&gt;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&lt;input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type="text"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name="age"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value="0"&gt;&lt;br&gt;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&lt;input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type="radio"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 name="gender"&gt;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Female&lt;br&gt;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imes New Roman"/>
                <a:cs typeface="Times New Roman"/>
              </a:rPr>
              <a:t>&lt;input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type="radio"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name="gender"&gt;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Male&lt;br&gt;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&lt;input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type="radio"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name="gender"&gt;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Unspecified&lt;br&gt;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&lt;br&gt;&lt;br&gt;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&lt;input</a:t>
            </a:r>
            <a:r>
              <a:rPr sz="14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type="submit"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value="Submit"&gt;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&lt;/form&gt;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imes New Roman"/>
                <a:cs typeface="Times New Roman"/>
              </a:rPr>
              <a:t>&lt;p&gt;If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you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click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"Submit"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button,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form-data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will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called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"/action_page.php".&lt;/p&gt;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46409" y="2124011"/>
            <a:ext cx="4528185" cy="2292985"/>
            <a:chOff x="4546409" y="2124011"/>
            <a:chExt cx="4528185" cy="2292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5997" y="2133599"/>
              <a:ext cx="4418239" cy="22738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51171" y="2128773"/>
              <a:ext cx="4518660" cy="2283460"/>
            </a:xfrm>
            <a:custGeom>
              <a:avLst/>
              <a:gdLst/>
              <a:ahLst/>
              <a:cxnLst/>
              <a:rect l="l" t="t" r="r" b="b"/>
              <a:pathLst>
                <a:path w="4518659" h="2283460">
                  <a:moveTo>
                    <a:pt x="0" y="2283333"/>
                  </a:moveTo>
                  <a:lnTo>
                    <a:pt x="4518279" y="2283333"/>
                  </a:lnTo>
                  <a:lnTo>
                    <a:pt x="4518279" y="0"/>
                  </a:lnTo>
                  <a:lnTo>
                    <a:pt x="0" y="0"/>
                  </a:lnTo>
                  <a:lnTo>
                    <a:pt x="0" y="2283333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576" y="61976"/>
            <a:ext cx="8073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HTML</a:t>
            </a:r>
            <a:r>
              <a:rPr sz="5400" spc="-50" dirty="0"/>
              <a:t> </a:t>
            </a:r>
            <a:r>
              <a:rPr sz="5400" dirty="0"/>
              <a:t>–</a:t>
            </a:r>
            <a:r>
              <a:rPr sz="5400" spc="-65" dirty="0"/>
              <a:t> </a:t>
            </a:r>
            <a:r>
              <a:rPr sz="5400" spc="-25" dirty="0"/>
              <a:t>Miscellaneous</a:t>
            </a:r>
            <a:r>
              <a:rPr sz="5400" spc="-95" dirty="0"/>
              <a:t> </a:t>
            </a:r>
            <a:r>
              <a:rPr sz="5400" spc="-40" dirty="0"/>
              <a:t>Tags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271524"/>
            <a:ext cx="7832090" cy="2616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 marR="5080" indent="-28067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5115" algn="l"/>
              </a:tabLst>
            </a:pPr>
            <a:r>
              <a:rPr sz="3200" b="1" spc="170" dirty="0">
                <a:latin typeface="Times New Roman"/>
                <a:cs typeface="Times New Roman"/>
              </a:rPr>
              <a:t>&lt;pre&gt;&lt;/pre&gt;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Pre-</a:t>
            </a:r>
            <a:r>
              <a:rPr sz="3200" spc="-110" dirty="0">
                <a:latin typeface="Times New Roman"/>
                <a:cs typeface="Times New Roman"/>
              </a:rPr>
              <a:t>formatted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text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Browser</a:t>
            </a:r>
            <a:r>
              <a:rPr sz="3200" spc="-75" dirty="0">
                <a:latin typeface="Times New Roman"/>
                <a:cs typeface="Times New Roman"/>
              </a:rPr>
              <a:t> will 	</a:t>
            </a:r>
            <a:r>
              <a:rPr sz="3200" spc="-85" dirty="0">
                <a:latin typeface="Times New Roman"/>
                <a:cs typeface="Times New Roman"/>
              </a:rPr>
              <a:t>render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content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254" dirty="0">
                <a:latin typeface="Times New Roman"/>
                <a:cs typeface="Times New Roman"/>
              </a:rPr>
              <a:t>as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written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in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 </a:t>
            </a:r>
            <a:r>
              <a:rPr sz="3200" spc="-114" dirty="0">
                <a:latin typeface="Times New Roman"/>
                <a:cs typeface="Times New Roman"/>
              </a:rPr>
              <a:t>html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file.</a:t>
            </a:r>
            <a:endParaRPr sz="32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b="1" spc="100" dirty="0">
                <a:latin typeface="Times New Roman"/>
                <a:cs typeface="Times New Roman"/>
              </a:rPr>
              <a:t>&lt;br&gt;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-</a:t>
            </a:r>
            <a:r>
              <a:rPr sz="3200" spc="-315" dirty="0">
                <a:latin typeface="Times New Roman"/>
                <a:cs typeface="Times New Roman"/>
              </a:rPr>
              <a:t> </a:t>
            </a:r>
            <a:r>
              <a:rPr sz="3200" spc="-245" dirty="0">
                <a:latin typeface="Times New Roman"/>
                <a:cs typeface="Times New Roman"/>
              </a:rPr>
              <a:t>Add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line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break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here.There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no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235" dirty="0">
                <a:latin typeface="Times New Roman"/>
                <a:cs typeface="Times New Roman"/>
              </a:rPr>
              <a:t>&lt;/br&gt;</a:t>
            </a:r>
            <a:endParaRPr sz="32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b="1" spc="110" dirty="0">
                <a:latin typeface="Times New Roman"/>
                <a:cs typeface="Times New Roman"/>
              </a:rPr>
              <a:t>&lt;hr&gt;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-</a:t>
            </a:r>
            <a:r>
              <a:rPr sz="3200" spc="-305" dirty="0">
                <a:latin typeface="Times New Roman"/>
                <a:cs typeface="Times New Roman"/>
              </a:rPr>
              <a:t> </a:t>
            </a:r>
            <a:r>
              <a:rPr sz="3200" spc="-245" dirty="0">
                <a:latin typeface="Times New Roman"/>
                <a:cs typeface="Times New Roman"/>
              </a:rPr>
              <a:t>Add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37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‘horizontal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rule’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(horizontal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line).</a:t>
            </a:r>
            <a:endParaRPr sz="32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3200" spc="-135" dirty="0">
                <a:latin typeface="Times New Roman"/>
                <a:cs typeface="Times New Roman"/>
              </a:rPr>
              <a:t>There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no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225" dirty="0">
                <a:latin typeface="Times New Roman"/>
                <a:cs typeface="Times New Roman"/>
              </a:rPr>
              <a:t>&lt;/hr&gt;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/>
        </p:nvSpPr>
        <p:spPr>
          <a:xfrm>
            <a:off x="914400" y="515603"/>
            <a:ext cx="7860563" cy="631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12700" algn="ctr" rtl="0">
              <a:spcBef>
                <a:spcPts val="100"/>
              </a:spcBef>
            </a:pPr>
            <a:r>
              <a:rPr lang="en-US" sz="5400" dirty="0">
                <a:solidFill>
                  <a:srgbClr val="696363"/>
                </a:solidFill>
                <a:latin typeface="Franklin Gothic Medium"/>
                <a:ea typeface="+mj-ea"/>
                <a:sym typeface="Inter"/>
              </a:rPr>
              <a:t>Text Properties</a:t>
            </a:r>
            <a:endParaRPr sz="5400" dirty="0">
              <a:solidFill>
                <a:srgbClr val="696363"/>
              </a:solidFill>
              <a:latin typeface="Franklin Gothic Medium"/>
              <a:ea typeface="+mj-ea"/>
            </a:endParaRPr>
          </a:p>
          <a:p>
            <a:pPr marL="214313" indent="-214313" algn="l" rtl="0">
              <a:buClr>
                <a:srgbClr val="2E75B5"/>
              </a:buClr>
              <a:buSzPts val="3600"/>
              <a:buFont typeface="Arial"/>
              <a:buChar char="•"/>
            </a:pPr>
            <a:r>
              <a:rPr lang="en-US" sz="5400" b="1" dirty="0">
                <a:solidFill>
                  <a:srgbClr val="2E75B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Color</a:t>
            </a:r>
            <a:endParaRPr sz="5400" b="1" dirty="0">
              <a:solidFill>
                <a:srgbClr val="2E75B5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214313" indent="-214313" algn="l" rtl="0">
              <a:buClr>
                <a:srgbClr val="2E75B5"/>
              </a:buClr>
              <a:buSzPts val="3600"/>
              <a:buFont typeface="Arial"/>
              <a:buChar char="•"/>
            </a:pPr>
            <a:r>
              <a:rPr lang="en-US" sz="5400" b="1" dirty="0">
                <a:solidFill>
                  <a:srgbClr val="2E75B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Text Alignment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 algn="l" rtl="0">
              <a:buClr>
                <a:srgbClr val="2E75B5"/>
              </a:buClr>
              <a:buSzPts val="3600"/>
              <a:buFont typeface="Arial"/>
              <a:buChar char="•"/>
            </a:pPr>
            <a:r>
              <a:rPr lang="en-US" sz="5400" b="1" dirty="0">
                <a:solidFill>
                  <a:srgbClr val="2E75B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Text Decoration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 algn="l" rtl="0">
              <a:buClr>
                <a:srgbClr val="2E75B5"/>
              </a:buClr>
              <a:buSzPts val="3600"/>
              <a:buFont typeface="Arial"/>
              <a:buChar char="•"/>
            </a:pPr>
            <a:r>
              <a:rPr lang="en-US" sz="5400" b="1" dirty="0">
                <a:solidFill>
                  <a:srgbClr val="2E75B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Text Transformation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 algn="l" rtl="0">
              <a:buClr>
                <a:srgbClr val="2E75B5"/>
              </a:buClr>
              <a:buSzPts val="3600"/>
              <a:buFont typeface="Arial"/>
              <a:buChar char="•"/>
            </a:pPr>
            <a:r>
              <a:rPr lang="en-US" sz="5400" b="1" dirty="0">
                <a:solidFill>
                  <a:srgbClr val="2E75B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Text Indentation 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endParaRPr sz="13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 rtl="0"/>
            <a:endParaRPr sz="13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 rtl="0"/>
            <a:endParaRPr sz="13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 rtl="0"/>
            <a:endParaRPr sz="13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 rtl="0"/>
            <a:endParaRPr sz="13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 rtl="0"/>
            <a:endParaRPr sz="13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94" y="1471612"/>
            <a:ext cx="8301038" cy="3871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881" y="1021556"/>
            <a:ext cx="8951120" cy="4493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13" y="1070028"/>
            <a:ext cx="8515350" cy="4616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763" y="1193007"/>
            <a:ext cx="8479631" cy="4587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/>
        </p:nvSpPr>
        <p:spPr>
          <a:xfrm>
            <a:off x="685800" y="533400"/>
            <a:ext cx="7848600" cy="6024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rtl="0"/>
            <a:r>
              <a:rPr lang="en-US" sz="5400" dirty="0">
                <a:solidFill>
                  <a:srgbClr val="696363"/>
                </a:solidFill>
                <a:latin typeface="Franklin Gothic Medium"/>
                <a:ea typeface="+mj-ea"/>
                <a:sym typeface="Inter"/>
              </a:rPr>
              <a:t>Font</a:t>
            </a:r>
            <a:r>
              <a:rPr lang="en-US" sz="3300" b="1" dirty="0">
                <a:solidFill>
                  <a:srgbClr val="54813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400" dirty="0">
                <a:solidFill>
                  <a:srgbClr val="696363"/>
                </a:solidFill>
                <a:latin typeface="Franklin Gothic Medium"/>
                <a:ea typeface="+mj-ea"/>
                <a:sym typeface="Inter"/>
              </a:rPr>
              <a:t>Properties</a:t>
            </a:r>
          </a:p>
          <a:p>
            <a:pPr algn="ctr" rtl="0"/>
            <a:endParaRPr sz="6600" b="1" dirty="0">
              <a:solidFill>
                <a:srgbClr val="54813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l" rtl="0">
              <a:buClr>
                <a:srgbClr val="1E4E79"/>
              </a:buClr>
              <a:buSzPts val="2800"/>
              <a:buFont typeface="Arial"/>
              <a:buChar char="•"/>
            </a:pPr>
            <a:r>
              <a:rPr lang="en-US" sz="4800" b="1" dirty="0">
                <a:solidFill>
                  <a:srgbClr val="1E4E79"/>
                </a:solidFill>
                <a:latin typeface="Inter"/>
                <a:ea typeface="Inter"/>
                <a:cs typeface="Inter"/>
                <a:sym typeface="Inter"/>
              </a:rPr>
              <a:t>Font Family</a:t>
            </a:r>
            <a:endParaRPr sz="4400" dirty="0"/>
          </a:p>
          <a:p>
            <a:pPr marL="342900" indent="-342900" algn="l" rtl="0">
              <a:buClr>
                <a:srgbClr val="1E4E79"/>
              </a:buClr>
              <a:buSzPts val="2800"/>
              <a:buFont typeface="Arial"/>
              <a:buChar char="•"/>
            </a:pPr>
            <a:r>
              <a:rPr lang="en-US" sz="4800" b="1" dirty="0">
                <a:solidFill>
                  <a:srgbClr val="1E4E79"/>
                </a:solidFill>
                <a:latin typeface="Inter"/>
                <a:ea typeface="Inter"/>
                <a:cs typeface="Inter"/>
                <a:sym typeface="Inter"/>
              </a:rPr>
              <a:t>Font Size</a:t>
            </a:r>
            <a:endParaRPr sz="4400" dirty="0"/>
          </a:p>
          <a:p>
            <a:pPr marL="342900" indent="-342900" algn="l" rtl="0">
              <a:buClr>
                <a:srgbClr val="1E4E79"/>
              </a:buClr>
              <a:buSzPts val="2800"/>
              <a:buFont typeface="Arial"/>
              <a:buChar char="•"/>
            </a:pPr>
            <a:r>
              <a:rPr lang="en-US" sz="4800" b="1" dirty="0">
                <a:solidFill>
                  <a:srgbClr val="1E4E79"/>
                </a:solidFill>
                <a:latin typeface="Inter"/>
                <a:ea typeface="Inter"/>
                <a:cs typeface="Inter"/>
                <a:sym typeface="Inter"/>
              </a:rPr>
              <a:t>Font Weight</a:t>
            </a:r>
            <a:endParaRPr sz="4400" dirty="0"/>
          </a:p>
          <a:p>
            <a:pPr marL="342900" indent="-342900" algn="l" rtl="0">
              <a:buClr>
                <a:srgbClr val="1E4E79"/>
              </a:buClr>
              <a:buSzPts val="2800"/>
              <a:buFont typeface="Arial"/>
              <a:buChar char="•"/>
            </a:pPr>
            <a:r>
              <a:rPr lang="en-US" sz="4800" b="1" dirty="0">
                <a:solidFill>
                  <a:srgbClr val="1E4E79"/>
                </a:solidFill>
                <a:latin typeface="Inter"/>
                <a:ea typeface="Inter"/>
                <a:cs typeface="Inter"/>
                <a:sym typeface="Inter"/>
              </a:rPr>
              <a:t>Font Style</a:t>
            </a:r>
            <a:endParaRPr sz="4400" dirty="0"/>
          </a:p>
          <a:p>
            <a:pPr marL="342900" indent="-342900" algn="l" rtl="0">
              <a:buClr>
                <a:srgbClr val="1E4E79"/>
              </a:buClr>
              <a:buSzPts val="2800"/>
              <a:buFont typeface="Arial"/>
              <a:buChar char="•"/>
            </a:pPr>
            <a:r>
              <a:rPr lang="en-US" sz="4800" b="1" dirty="0">
                <a:solidFill>
                  <a:srgbClr val="1E4E79"/>
                </a:solidFill>
                <a:latin typeface="Inter"/>
                <a:ea typeface="Inter"/>
                <a:cs typeface="Inter"/>
                <a:sym typeface="Inter"/>
              </a:rPr>
              <a:t>Line Height</a:t>
            </a:r>
            <a:endParaRPr sz="4400" dirty="0"/>
          </a:p>
          <a:p>
            <a:pPr algn="l" rtl="0"/>
            <a:endParaRPr sz="13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 rtl="0"/>
            <a:endParaRPr sz="135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/>
        </p:nvSpPr>
        <p:spPr>
          <a:xfrm>
            <a:off x="521494" y="1154124"/>
            <a:ext cx="3136106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l" rtl="0"/>
            <a:r>
              <a:rPr lang="en-US" sz="2400" b="1">
                <a:solidFill>
                  <a:srgbClr val="2F5496"/>
                </a:solidFill>
                <a:latin typeface="Inter"/>
                <a:ea typeface="Inter"/>
                <a:cs typeface="Inter"/>
                <a:sym typeface="Inter"/>
              </a:rPr>
              <a:t>Font Family</a:t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494" y="1678617"/>
            <a:ext cx="4213138" cy="236317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 txBox="1"/>
          <p:nvPr/>
        </p:nvSpPr>
        <p:spPr>
          <a:xfrm>
            <a:off x="5201794" y="1164758"/>
            <a:ext cx="5278217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l" rtl="0"/>
            <a:r>
              <a:rPr lang="en-US" sz="2400" b="1">
                <a:solidFill>
                  <a:srgbClr val="2F5496"/>
                </a:solidFill>
                <a:latin typeface="Inter"/>
                <a:ea typeface="Inter"/>
                <a:cs typeface="Inter"/>
                <a:sym typeface="Inter"/>
              </a:rPr>
              <a:t>Font Style</a:t>
            </a:r>
            <a:endParaRPr/>
          </a:p>
        </p:txBody>
      </p:sp>
      <p:pic>
        <p:nvPicPr>
          <p:cNvPr id="240" name="Google Shape;24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8879" y="1678617"/>
            <a:ext cx="4076540" cy="2564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/>
        </p:nvSpPr>
        <p:spPr>
          <a:xfrm>
            <a:off x="765225" y="1343026"/>
            <a:ext cx="36639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rtl="0"/>
            <a:r>
              <a:rPr lang="en-US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Font Size</a:t>
            </a:r>
            <a:endParaRPr/>
          </a:p>
        </p:txBody>
      </p:sp>
      <p:pic>
        <p:nvPicPr>
          <p:cNvPr id="246" name="Google Shape;24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625" y="1697371"/>
            <a:ext cx="3892500" cy="167143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 txBox="1"/>
          <p:nvPr/>
        </p:nvSpPr>
        <p:spPr>
          <a:xfrm flipH="1">
            <a:off x="4714876" y="1421608"/>
            <a:ext cx="3663899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rtl="0"/>
            <a:r>
              <a:rPr lang="en-US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Font Weight</a:t>
            </a:r>
            <a:endParaRPr/>
          </a:p>
        </p:txBody>
      </p:sp>
      <p:pic>
        <p:nvPicPr>
          <p:cNvPr id="248" name="Google Shape;24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6" y="1708255"/>
            <a:ext cx="3892499" cy="166054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/>
          <p:nvPr/>
        </p:nvSpPr>
        <p:spPr>
          <a:xfrm>
            <a:off x="3407569" y="3657600"/>
            <a:ext cx="291465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rtl="0"/>
            <a:r>
              <a:rPr lang="en-US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Line Height</a:t>
            </a:r>
            <a:endParaRPr/>
          </a:p>
        </p:txBody>
      </p:sp>
      <p:pic>
        <p:nvPicPr>
          <p:cNvPr id="250" name="Google Shape;250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86062" y="4003848"/>
            <a:ext cx="4421982" cy="194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-32003"/>
            <a:ext cx="13341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/>
              <a:t>CSS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307340" y="894638"/>
            <a:ext cx="7050405" cy="2768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455" dirty="0">
                <a:latin typeface="Times New Roman"/>
                <a:cs typeface="Times New Roman"/>
              </a:rPr>
              <a:t>CSS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405" dirty="0">
                <a:latin typeface="Times New Roman"/>
                <a:cs typeface="Times New Roman"/>
              </a:rPr>
              <a:t>=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260" dirty="0">
                <a:latin typeface="Times New Roman"/>
                <a:cs typeface="Times New Roman"/>
              </a:rPr>
              <a:t>Cascading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240" dirty="0">
                <a:latin typeface="Times New Roman"/>
                <a:cs typeface="Times New Roman"/>
              </a:rPr>
              <a:t>Style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45" dirty="0">
                <a:latin typeface="Times New Roman"/>
                <a:cs typeface="Times New Roman"/>
              </a:rPr>
              <a:t>Sheets</a:t>
            </a:r>
            <a:endParaRPr sz="4000" dirty="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204" dirty="0">
                <a:latin typeface="Times New Roman"/>
                <a:cs typeface="Times New Roman"/>
              </a:rPr>
              <a:t>Greatly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spc="-229" dirty="0">
                <a:latin typeface="Times New Roman"/>
                <a:cs typeface="Times New Roman"/>
              </a:rPr>
              <a:t>simplifies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spc="-225" dirty="0">
                <a:latin typeface="Times New Roman"/>
                <a:cs typeface="Times New Roman"/>
              </a:rPr>
              <a:t>styling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spc="-360" dirty="0">
                <a:latin typeface="Times New Roman"/>
                <a:cs typeface="Times New Roman"/>
              </a:rPr>
              <a:t>HTML</a:t>
            </a:r>
            <a:endParaRPr sz="4000" dirty="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350" dirty="0">
                <a:latin typeface="Times New Roman"/>
                <a:cs typeface="Times New Roman"/>
              </a:rPr>
              <a:t>Easy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215" dirty="0">
                <a:latin typeface="Times New Roman"/>
                <a:cs typeface="Times New Roman"/>
              </a:rPr>
              <a:t>keep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170" dirty="0">
                <a:latin typeface="Times New Roman"/>
                <a:cs typeface="Times New Roman"/>
              </a:rPr>
              <a:t>consistent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Times New Roman"/>
                <a:cs typeface="Times New Roman"/>
              </a:rPr>
              <a:t>styling</a:t>
            </a:r>
            <a:endParaRPr sz="4000" dirty="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170" dirty="0">
                <a:latin typeface="Times New Roman"/>
                <a:cs typeface="Times New Roman"/>
              </a:rPr>
              <a:t>Instructions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170" dirty="0">
                <a:latin typeface="Times New Roman"/>
                <a:cs typeface="Times New Roman"/>
              </a:rPr>
              <a:t>are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80" dirty="0">
                <a:latin typeface="Times New Roman"/>
                <a:cs typeface="Times New Roman"/>
              </a:rPr>
              <a:t>written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320" dirty="0">
                <a:latin typeface="Times New Roman"/>
                <a:cs typeface="Times New Roman"/>
              </a:rPr>
              <a:t>as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320" dirty="0">
                <a:latin typeface="Times New Roman"/>
                <a:cs typeface="Times New Roman"/>
              </a:rPr>
              <a:t>a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b="1" i="1" spc="-65" dirty="0">
                <a:latin typeface="Times New Roman"/>
                <a:cs typeface="Times New Roman"/>
              </a:rPr>
              <a:t>rule-</a:t>
            </a:r>
            <a:r>
              <a:rPr sz="4000" b="1" i="1" spc="-25" dirty="0">
                <a:latin typeface="Times New Roman"/>
                <a:cs typeface="Times New Roman"/>
              </a:rPr>
              <a:t>set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1874" y="6305550"/>
            <a:ext cx="21780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27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1976"/>
            <a:ext cx="60636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A</a:t>
            </a:r>
            <a:r>
              <a:rPr sz="5400" dirty="0"/>
              <a:t> brief</a:t>
            </a:r>
            <a:r>
              <a:rPr sz="5400" spc="-340" dirty="0"/>
              <a:t> </a:t>
            </a:r>
            <a:r>
              <a:rPr sz="5400" spc="-10" dirty="0"/>
              <a:t>history</a:t>
            </a:r>
            <a:r>
              <a:rPr sz="5400" spc="-250" dirty="0"/>
              <a:t> </a:t>
            </a:r>
            <a:r>
              <a:rPr sz="5400" dirty="0"/>
              <a:t>of</a:t>
            </a:r>
            <a:r>
              <a:rPr sz="5400" spc="-185" dirty="0"/>
              <a:t> </a:t>
            </a:r>
            <a:r>
              <a:rPr sz="5400" spc="-25" dirty="0"/>
              <a:t>CSS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896874"/>
            <a:ext cx="8247380" cy="3166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3210" marR="5080" indent="-27114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320" dirty="0">
                <a:latin typeface="Times New Roman"/>
                <a:cs typeface="Times New Roman"/>
              </a:rPr>
              <a:t>CSS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was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first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proposed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by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Håkon</a:t>
            </a:r>
            <a:r>
              <a:rPr sz="2800" spc="-41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Wium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95" dirty="0">
                <a:latin typeface="Times New Roman"/>
                <a:cs typeface="Times New Roman"/>
              </a:rPr>
              <a:t>Lie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October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10, 	</a:t>
            </a:r>
            <a:r>
              <a:rPr sz="2800" spc="-85" dirty="0">
                <a:latin typeface="Times New Roman"/>
                <a:cs typeface="Times New Roman"/>
              </a:rPr>
              <a:t>1994,</a:t>
            </a:r>
            <a:r>
              <a:rPr sz="2800" spc="-165" dirty="0">
                <a:latin typeface="Times New Roman"/>
                <a:cs typeface="Times New Roman"/>
              </a:rPr>
              <a:t> and</a:t>
            </a:r>
            <a:r>
              <a:rPr sz="2800" spc="-409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W3C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320" dirty="0">
                <a:latin typeface="Times New Roman"/>
                <a:cs typeface="Times New Roman"/>
              </a:rPr>
              <a:t>CSS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Recommendation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10" dirty="0">
                <a:latin typeface="Times New Roman"/>
                <a:cs typeface="Times New Roman"/>
              </a:rPr>
              <a:t>(CSS1)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was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released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	</a:t>
            </a:r>
            <a:r>
              <a:rPr sz="2800" spc="-10" dirty="0">
                <a:latin typeface="Times New Roman"/>
                <a:cs typeface="Times New Roman"/>
              </a:rPr>
              <a:t>1996.</a:t>
            </a:r>
            <a:endParaRPr sz="2800" dirty="0">
              <a:latin typeface="Times New Roman"/>
              <a:cs typeface="Times New Roman"/>
            </a:endParaRPr>
          </a:p>
          <a:p>
            <a:pPr marL="283210" marR="777240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320" dirty="0">
                <a:latin typeface="Times New Roman"/>
                <a:cs typeface="Times New Roman"/>
              </a:rPr>
              <a:t>CSS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level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2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specification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was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developed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by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42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W3C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and 	</a:t>
            </a:r>
            <a:r>
              <a:rPr sz="2800" spc="-155" dirty="0">
                <a:latin typeface="Times New Roman"/>
                <a:cs typeface="Times New Roman"/>
              </a:rPr>
              <a:t>published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recommendation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305" dirty="0">
                <a:latin typeface="Times New Roman"/>
                <a:cs typeface="Times New Roman"/>
              </a:rPr>
              <a:t>May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1998.</a:t>
            </a:r>
            <a:endParaRPr sz="2800" dirty="0">
              <a:latin typeface="Times New Roman"/>
              <a:cs typeface="Times New Roman"/>
            </a:endParaRPr>
          </a:p>
          <a:p>
            <a:pPr marL="283210" marR="25209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190" dirty="0">
                <a:latin typeface="Times New Roman"/>
                <a:cs typeface="Times New Roman"/>
              </a:rPr>
              <a:t>CSS2.1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finally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published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41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W3C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Recommendation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7 	</a:t>
            </a:r>
            <a:r>
              <a:rPr sz="2800" spc="-135" dirty="0">
                <a:latin typeface="Times New Roman"/>
                <a:cs typeface="Times New Roman"/>
              </a:rPr>
              <a:t>June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2011.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1976"/>
            <a:ext cx="60636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A</a:t>
            </a:r>
            <a:r>
              <a:rPr sz="5400" dirty="0"/>
              <a:t> brief</a:t>
            </a:r>
            <a:r>
              <a:rPr sz="5400" spc="-340" dirty="0"/>
              <a:t> </a:t>
            </a:r>
            <a:r>
              <a:rPr sz="5400" spc="-10" dirty="0"/>
              <a:t>history</a:t>
            </a:r>
            <a:r>
              <a:rPr sz="5400" spc="-250" dirty="0"/>
              <a:t> </a:t>
            </a:r>
            <a:r>
              <a:rPr sz="5400" dirty="0"/>
              <a:t>of</a:t>
            </a:r>
            <a:r>
              <a:rPr sz="5400" spc="-185" dirty="0"/>
              <a:t> </a:t>
            </a:r>
            <a:r>
              <a:rPr sz="5400" spc="-25" dirty="0"/>
              <a:t>CSS</a:t>
            </a:r>
            <a:endParaRPr sz="540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4939" y="888491"/>
            <a:ext cx="88392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2415">
              <a:lnSpc>
                <a:spcPts val="2280"/>
              </a:lnSpc>
              <a:spcBef>
                <a:spcPts val="100"/>
              </a:spcBef>
              <a:buClr>
                <a:srgbClr val="D24717"/>
              </a:buClr>
              <a:buSzPct val="85000"/>
              <a:buFont typeface="Segoe UI Symbol"/>
              <a:buChar char="⚫"/>
              <a:tabLst>
                <a:tab pos="285115" algn="l"/>
              </a:tabLst>
            </a:pPr>
            <a:r>
              <a:rPr sz="2000" spc="-235" dirty="0">
                <a:latin typeface="Times New Roman"/>
                <a:cs typeface="Times New Roman"/>
              </a:rPr>
              <a:t>CSS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3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divided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20" dirty="0">
                <a:latin typeface="Times New Roman"/>
                <a:cs typeface="Times New Roman"/>
              </a:rPr>
              <a:t>several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separate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documents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called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"modules"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its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notes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posted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L="285115">
              <a:lnSpc>
                <a:spcPts val="2280"/>
              </a:lnSpc>
            </a:pPr>
            <a:r>
              <a:rPr sz="2000" spc="-20" dirty="0">
                <a:latin typeface="Times New Roman"/>
                <a:cs typeface="Times New Roman"/>
              </a:rPr>
              <a:t>W3C: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3994" y="1768348"/>
            <a:ext cx="3202940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</a:pP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basic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5" dirty="0">
                <a:latin typeface="Times New Roman"/>
                <a:cs typeface="Times New Roman"/>
              </a:rPr>
              <a:t>box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model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Working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Draft </a:t>
            </a: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Cascading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Inheritance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1847" y="1768348"/>
            <a:ext cx="2671445" cy="62166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800" spc="-100" dirty="0">
                <a:latin typeface="Times New Roman"/>
                <a:cs typeface="Times New Roman"/>
              </a:rPr>
              <a:t>Jul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2018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1840864" algn="l"/>
              </a:tabLst>
            </a:pPr>
            <a:r>
              <a:rPr sz="1800" spc="-100" dirty="0">
                <a:latin typeface="Times New Roman"/>
                <a:cs typeface="Times New Roman"/>
              </a:rPr>
              <a:t>Candidate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Rec.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4" dirty="0">
                <a:latin typeface="Times New Roman"/>
                <a:cs typeface="Times New Roman"/>
              </a:rPr>
              <a:t>May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2016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4" y="2363469"/>
            <a:ext cx="4230370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  <a:tabLst>
                <a:tab pos="2755265" algn="l"/>
              </a:tabLst>
            </a:pP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Color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Module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95" dirty="0">
                <a:latin typeface="Times New Roman"/>
                <a:cs typeface="Times New Roman"/>
              </a:rPr>
              <a:t>Recommendation </a:t>
            </a:r>
            <a:r>
              <a:rPr sz="1800" spc="-180" dirty="0">
                <a:latin typeface="Times New Roman"/>
                <a:cs typeface="Times New Roman"/>
              </a:rPr>
              <a:t>CSS3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Generated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Replaced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Content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6247" y="2363469"/>
            <a:ext cx="2106295" cy="121666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800" spc="-100" dirty="0">
                <a:latin typeface="Times New Roman"/>
                <a:cs typeface="Times New Roman"/>
              </a:rPr>
              <a:t>Jun</a:t>
            </a:r>
            <a:r>
              <a:rPr sz="1800" spc="-20" dirty="0">
                <a:latin typeface="Times New Roman"/>
                <a:cs typeface="Times New Roman"/>
              </a:rPr>
              <a:t> 2018</a:t>
            </a:r>
            <a:endParaRPr sz="1800">
              <a:latin typeface="Times New Roman"/>
              <a:cs typeface="Times New Roman"/>
            </a:endParaRPr>
          </a:p>
          <a:p>
            <a:pPr marL="12700" marR="67945">
              <a:lnSpc>
                <a:spcPct val="108600"/>
              </a:lnSpc>
            </a:pPr>
            <a:r>
              <a:rPr sz="1800" spc="-114" dirty="0">
                <a:latin typeface="Times New Roman"/>
                <a:cs typeface="Times New Roman"/>
              </a:rPr>
              <a:t>Working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Draft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Jun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2016 </a:t>
            </a:r>
            <a:r>
              <a:rPr sz="1800" spc="-135" dirty="0">
                <a:latin typeface="Times New Roman"/>
                <a:cs typeface="Times New Roman"/>
              </a:rPr>
              <a:t>Sep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2018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spc="-114" dirty="0">
                <a:latin typeface="Times New Roman"/>
                <a:cs typeface="Times New Roman"/>
              </a:rPr>
              <a:t>Working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Draft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04" dirty="0">
                <a:latin typeface="Times New Roman"/>
                <a:cs typeface="Times New Roman"/>
              </a:rPr>
              <a:t>May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2014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3994" y="2960116"/>
            <a:ext cx="4491990" cy="918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6700">
              <a:lnSpc>
                <a:spcPct val="108300"/>
              </a:lnSpc>
              <a:spcBef>
                <a:spcPts val="100"/>
              </a:spcBef>
              <a:tabLst>
                <a:tab pos="2755265" algn="l"/>
              </a:tabLst>
            </a:pP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Fonts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Module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95" dirty="0">
                <a:latin typeface="Times New Roman"/>
                <a:cs typeface="Times New Roman"/>
              </a:rPr>
              <a:t>Recommendation </a:t>
            </a: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Generated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Content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Paged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Media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2755265" algn="l"/>
                <a:tab pos="3670300" algn="l"/>
              </a:tabLst>
            </a:pP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254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Template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35" dirty="0">
                <a:latin typeface="Times New Roman"/>
                <a:cs typeface="Times New Roman"/>
              </a:rPr>
              <a:t>Layout</a:t>
            </a:r>
            <a:r>
              <a:rPr sz="1800" spc="-10" dirty="0">
                <a:latin typeface="Times New Roman"/>
                <a:cs typeface="Times New Roman"/>
              </a:rPr>
              <a:t> Module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Note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30" dirty="0">
                <a:latin typeface="Times New Roman"/>
                <a:cs typeface="Times New Roman"/>
              </a:rPr>
              <a:t>Mar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2015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3994" y="4447794"/>
            <a:ext cx="3120390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</a:pPr>
            <a:r>
              <a:rPr sz="1800" spc="-90" dirty="0">
                <a:latin typeface="Times New Roman"/>
                <a:cs typeface="Times New Roman"/>
              </a:rPr>
              <a:t>Multi-</a:t>
            </a:r>
            <a:r>
              <a:rPr sz="1800" spc="-95" dirty="0">
                <a:latin typeface="Times New Roman"/>
                <a:cs typeface="Times New Roman"/>
              </a:rPr>
              <a:t>column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35" dirty="0">
                <a:latin typeface="Times New Roman"/>
                <a:cs typeface="Times New Roman"/>
              </a:rPr>
              <a:t>Layout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Module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1 </a:t>
            </a: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Paged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30" dirty="0">
                <a:latin typeface="Times New Roman"/>
                <a:cs typeface="Times New Roman"/>
              </a:rPr>
              <a:t>Media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Module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0647" y="4149851"/>
            <a:ext cx="842644" cy="9194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800" spc="-135" dirty="0">
                <a:latin typeface="Times New Roman"/>
                <a:cs typeface="Times New Roman"/>
              </a:rPr>
              <a:t>Sep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2017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800" spc="-204" dirty="0">
                <a:latin typeface="Times New Roman"/>
                <a:cs typeface="Times New Roman"/>
              </a:rPr>
              <a:t>May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2018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800" spc="-130" dirty="0">
                <a:latin typeface="Times New Roman"/>
                <a:cs typeface="Times New Roman"/>
              </a:rPr>
              <a:t>Mar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2013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3994" y="5042916"/>
            <a:ext cx="1422400" cy="62166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800" spc="-90" dirty="0">
                <a:latin typeface="Times New Roman"/>
                <a:cs typeface="Times New Roman"/>
              </a:rPr>
              <a:t>Selectors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800" spc="-90" dirty="0">
                <a:latin typeface="Times New Roman"/>
                <a:cs typeface="Times New Roman"/>
              </a:rPr>
              <a:t>Selectors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2794" y="5042916"/>
            <a:ext cx="1487170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600"/>
              </a:lnSpc>
              <a:spcBef>
                <a:spcPts val="100"/>
              </a:spcBef>
            </a:pPr>
            <a:r>
              <a:rPr sz="1800" spc="-95" dirty="0">
                <a:latin typeface="Times New Roman"/>
                <a:cs typeface="Times New Roman"/>
              </a:rPr>
              <a:t>Recommendation </a:t>
            </a:r>
            <a:r>
              <a:rPr sz="1800" spc="-114" dirty="0">
                <a:latin typeface="Times New Roman"/>
                <a:cs typeface="Times New Roman"/>
              </a:rPr>
              <a:t>Working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Draft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1847" y="4149851"/>
            <a:ext cx="1289685" cy="151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8500"/>
              </a:lnSpc>
              <a:spcBef>
                <a:spcPts val="100"/>
              </a:spcBef>
            </a:pPr>
            <a:r>
              <a:rPr sz="1800" spc="-100" dirty="0">
                <a:latin typeface="Times New Roman"/>
                <a:cs typeface="Times New Roman"/>
              </a:rPr>
              <a:t>Candidate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Rec. </a:t>
            </a:r>
            <a:r>
              <a:rPr sz="1800" spc="-120" dirty="0">
                <a:latin typeface="Times New Roman"/>
                <a:cs typeface="Times New Roman"/>
              </a:rPr>
              <a:t>Working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Draft </a:t>
            </a:r>
            <a:r>
              <a:rPr sz="1800" spc="-120" dirty="0">
                <a:latin typeface="Times New Roman"/>
                <a:cs typeface="Times New Roman"/>
              </a:rPr>
              <a:t>Working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Draft </a:t>
            </a:r>
            <a:r>
              <a:rPr sz="1800" spc="-135" dirty="0">
                <a:latin typeface="Times New Roman"/>
                <a:cs typeface="Times New Roman"/>
              </a:rPr>
              <a:t>Nov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2018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85"/>
              </a:spcBef>
            </a:pPr>
            <a:r>
              <a:rPr sz="1800" spc="-145" dirty="0">
                <a:latin typeface="Times New Roman"/>
                <a:cs typeface="Times New Roman"/>
              </a:rPr>
              <a:t>Feb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2018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4218" y="1470406"/>
            <a:ext cx="8420735" cy="44919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  <a:tab pos="2436495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10" dirty="0">
                <a:latin typeface="Times New Roman"/>
                <a:cs typeface="Times New Roman"/>
              </a:rPr>
              <a:t>background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Backgrounds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Borders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Module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3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Candidate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Rec.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Oct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2017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25" dirty="0">
                <a:latin typeface="Times New Roman"/>
                <a:cs typeface="Times New Roman"/>
              </a:rPr>
              <a:t>box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20" dirty="0">
                <a:latin typeface="Times New Roman"/>
                <a:cs typeface="Times New Roman"/>
              </a:rPr>
              <a:t>css-</a:t>
            </a:r>
            <a:r>
              <a:rPr sz="1800" spc="-110" dirty="0">
                <a:latin typeface="Times New Roman"/>
                <a:cs typeface="Times New Roman"/>
              </a:rPr>
              <a:t>cascade-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10" dirty="0">
                <a:latin typeface="Times New Roman"/>
                <a:cs typeface="Times New Roman"/>
              </a:rPr>
              <a:t>color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10" dirty="0">
                <a:latin typeface="Times New Roman"/>
                <a:cs typeface="Times New Roman"/>
              </a:rPr>
              <a:t>content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9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20" dirty="0">
                <a:latin typeface="Times New Roman"/>
                <a:cs typeface="Times New Roman"/>
              </a:rPr>
              <a:t>css-</a:t>
            </a:r>
            <a:r>
              <a:rPr sz="1800" spc="-80" dirty="0">
                <a:latin typeface="Times New Roman"/>
                <a:cs typeface="Times New Roman"/>
              </a:rPr>
              <a:t>fonts-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20" dirty="0">
                <a:latin typeface="Times New Roman"/>
                <a:cs typeface="Times New Roman"/>
              </a:rPr>
              <a:t>gcpm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10" dirty="0">
                <a:latin typeface="Times New Roman"/>
                <a:cs typeface="Times New Roman"/>
              </a:rPr>
              <a:t>layout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  <a:tab pos="2436495" algn="l"/>
                <a:tab pos="4265295" algn="l"/>
                <a:tab pos="6094095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10" dirty="0">
                <a:latin typeface="Times New Roman"/>
                <a:cs typeface="Times New Roman"/>
              </a:rPr>
              <a:t>mediaqueries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30" dirty="0">
                <a:latin typeface="Times New Roman"/>
                <a:cs typeface="Times New Roman"/>
              </a:rPr>
              <a:t>Media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Queries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Recommendation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0" dirty="0">
                <a:latin typeface="Times New Roman"/>
                <a:cs typeface="Times New Roman"/>
              </a:rPr>
              <a:t>Jun</a:t>
            </a:r>
            <a:r>
              <a:rPr sz="1800" spc="-20" dirty="0">
                <a:latin typeface="Times New Roman"/>
                <a:cs typeface="Times New Roman"/>
              </a:rPr>
              <a:t> 2012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  <a:tab pos="2436495" algn="l"/>
              </a:tabLst>
            </a:pPr>
            <a:r>
              <a:rPr sz="1800" spc="-90" dirty="0">
                <a:latin typeface="Times New Roman"/>
                <a:cs typeface="Times New Roman"/>
              </a:rPr>
              <a:t>mediaqueries-</a:t>
            </a:r>
            <a:r>
              <a:rPr sz="1800" spc="-50" dirty="0">
                <a:latin typeface="Times New Roman"/>
                <a:cs typeface="Times New Roman"/>
              </a:rPr>
              <a:t>4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30" dirty="0">
                <a:latin typeface="Times New Roman"/>
                <a:cs typeface="Times New Roman"/>
              </a:rPr>
              <a:t>Media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70" dirty="0">
                <a:latin typeface="Times New Roman"/>
                <a:cs typeface="Times New Roman"/>
              </a:rPr>
              <a:t>Queries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9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10" dirty="0">
                <a:latin typeface="Times New Roman"/>
                <a:cs typeface="Times New Roman"/>
              </a:rPr>
              <a:t>multicol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20" dirty="0">
                <a:latin typeface="Times New Roman"/>
                <a:cs typeface="Times New Roman"/>
              </a:rPr>
              <a:t>page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75" dirty="0">
                <a:latin typeface="Times New Roman"/>
                <a:cs typeface="Times New Roman"/>
              </a:rPr>
              <a:t>selectors-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75" dirty="0">
                <a:latin typeface="Times New Roman"/>
                <a:cs typeface="Times New Roman"/>
              </a:rPr>
              <a:t>selectors-</a:t>
            </a: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5"/>
              </a:spcBef>
              <a:buClr>
                <a:srgbClr val="9B2C1F"/>
              </a:buClr>
              <a:buSzPct val="83333"/>
              <a:buFont typeface="Segoe UI Symbol"/>
              <a:buChar char="⚫"/>
              <a:tabLst>
                <a:tab pos="241300" algn="l"/>
              </a:tabLst>
            </a:pPr>
            <a:r>
              <a:rPr sz="1800" spc="-110" dirty="0">
                <a:latin typeface="Times New Roman"/>
                <a:cs typeface="Times New Roman"/>
              </a:rPr>
              <a:t>css3-</a:t>
            </a:r>
            <a:r>
              <a:rPr sz="1800" spc="-25" dirty="0">
                <a:latin typeface="Times New Roman"/>
                <a:cs typeface="Times New Roman"/>
              </a:rPr>
              <a:t>ui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83994" y="5662421"/>
            <a:ext cx="6864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84700" algn="l"/>
              </a:tabLst>
            </a:pPr>
            <a:r>
              <a:rPr sz="1800" spc="-210" dirty="0">
                <a:latin typeface="Times New Roman"/>
                <a:cs typeface="Times New Roman"/>
              </a:rPr>
              <a:t>CSS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60" dirty="0">
                <a:latin typeface="Times New Roman"/>
                <a:cs typeface="Times New Roman"/>
              </a:rPr>
              <a:t>Basic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User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Interface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Times New Roman"/>
                <a:cs typeface="Times New Roman"/>
              </a:rPr>
              <a:t>Module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40" dirty="0">
                <a:latin typeface="Times New Roman"/>
                <a:cs typeface="Times New Roman"/>
              </a:rPr>
              <a:t>Level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3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50" dirty="0">
                <a:latin typeface="Times New Roman"/>
                <a:cs typeface="Times New Roman"/>
              </a:rPr>
              <a:t>(CSS3</a:t>
            </a:r>
            <a:r>
              <a:rPr sz="1800" spc="-25" dirty="0">
                <a:latin typeface="Times New Roman"/>
                <a:cs typeface="Times New Roman"/>
              </a:rPr>
              <a:t> UI)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95" dirty="0">
                <a:latin typeface="Times New Roman"/>
                <a:cs typeface="Times New Roman"/>
              </a:rPr>
              <a:t>Recommendation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Jun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2018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1976"/>
            <a:ext cx="60636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A</a:t>
            </a:r>
            <a:r>
              <a:rPr sz="5400" dirty="0"/>
              <a:t> brief</a:t>
            </a:r>
            <a:r>
              <a:rPr sz="5400" spc="-340" dirty="0"/>
              <a:t> </a:t>
            </a:r>
            <a:r>
              <a:rPr sz="5400" spc="-10" dirty="0"/>
              <a:t>history</a:t>
            </a:r>
            <a:r>
              <a:rPr sz="5400" spc="-250" dirty="0"/>
              <a:t> </a:t>
            </a:r>
            <a:r>
              <a:rPr sz="5400" dirty="0"/>
              <a:t>of</a:t>
            </a:r>
            <a:r>
              <a:rPr sz="5400" spc="-185" dirty="0"/>
              <a:t> </a:t>
            </a:r>
            <a:r>
              <a:rPr sz="5400" spc="-25" dirty="0"/>
              <a:t>CSS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837769"/>
            <a:ext cx="7849870" cy="215138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125" dirty="0">
                <a:latin typeface="Times New Roman"/>
                <a:cs typeface="Times New Roman"/>
              </a:rPr>
              <a:t>There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no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single,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integrated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320" dirty="0">
                <a:latin typeface="Times New Roman"/>
                <a:cs typeface="Times New Roman"/>
              </a:rPr>
              <a:t>CSS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4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specification</a:t>
            </a:r>
            <a:endParaRPr sz="2800">
              <a:latin typeface="Times New Roman"/>
              <a:cs typeface="Times New Roman"/>
            </a:endParaRPr>
          </a:p>
          <a:p>
            <a:pPr marL="558800" marR="5080" lvl="1" indent="-24765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4615"/>
              <a:buFont typeface="Segoe UI Symbol"/>
              <a:buChar char="⚫"/>
              <a:tabLst>
                <a:tab pos="560070" algn="l"/>
              </a:tabLst>
            </a:pPr>
            <a:r>
              <a:rPr sz="2600" spc="-14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95" dirty="0">
                <a:latin typeface="Times New Roman"/>
                <a:cs typeface="Times New Roman"/>
              </a:rPr>
              <a:t>CSS</a:t>
            </a:r>
            <a:r>
              <a:rPr sz="2600" spc="-3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Working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Group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sometimes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publishes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"Snapshots", </a:t>
            </a:r>
            <a:r>
              <a:rPr sz="2600" spc="-50" dirty="0">
                <a:latin typeface="Times New Roman"/>
                <a:cs typeface="Times New Roman"/>
              </a:rPr>
              <a:t>a 	</a:t>
            </a:r>
            <a:r>
              <a:rPr sz="2600" spc="-120" dirty="0">
                <a:latin typeface="Times New Roman"/>
                <a:cs typeface="Times New Roman"/>
              </a:rPr>
              <a:t>collection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whole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modules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parts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other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drafts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that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are 	</a:t>
            </a:r>
            <a:r>
              <a:rPr sz="2600" spc="-125" dirty="0">
                <a:latin typeface="Times New Roman"/>
                <a:cs typeface="Times New Roman"/>
              </a:rPr>
              <a:t>considered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stable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enough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implemented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by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browser 	</a:t>
            </a:r>
            <a:r>
              <a:rPr sz="2600" spc="-130" dirty="0">
                <a:latin typeface="Times New Roman"/>
                <a:cs typeface="Times New Roman"/>
              </a:rPr>
              <a:t>developers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in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2007,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2010,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2015,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2017,and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2018.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390" y="25146"/>
            <a:ext cx="42875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80" dirty="0"/>
              <a:t> </a:t>
            </a:r>
            <a:r>
              <a:rPr sz="6000" spc="-40" dirty="0"/>
              <a:t>rule-</a:t>
            </a:r>
            <a:r>
              <a:rPr sz="6000" spc="-20" dirty="0"/>
              <a:t>sets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612140" y="998219"/>
            <a:ext cx="768413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455" dirty="0">
                <a:solidFill>
                  <a:srgbClr val="FF0000"/>
                </a:solidFill>
                <a:latin typeface="Times New Roman"/>
                <a:cs typeface="Times New Roman"/>
              </a:rPr>
              <a:t>CSS</a:t>
            </a:r>
            <a:r>
              <a:rPr sz="4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spc="-100" dirty="0">
                <a:solidFill>
                  <a:srgbClr val="FF0000"/>
                </a:solidFill>
                <a:latin typeface="Times New Roman"/>
                <a:cs typeface="Times New Roman"/>
              </a:rPr>
              <a:t>rule-</a:t>
            </a:r>
            <a:r>
              <a:rPr sz="4000" spc="-190" dirty="0">
                <a:solidFill>
                  <a:srgbClr val="FF0000"/>
                </a:solidFill>
                <a:latin typeface="Times New Roman"/>
                <a:cs typeface="Times New Roman"/>
              </a:rPr>
              <a:t>sets</a:t>
            </a:r>
            <a:r>
              <a:rPr sz="4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spc="-325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sz="4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spc="-13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4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spc="-235" dirty="0">
                <a:solidFill>
                  <a:srgbClr val="FF0000"/>
                </a:solidFill>
                <a:latin typeface="Times New Roman"/>
                <a:cs typeface="Times New Roman"/>
              </a:rPr>
              <a:t>following</a:t>
            </a:r>
            <a:r>
              <a:rPr sz="4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000" spc="-80" dirty="0">
                <a:solidFill>
                  <a:srgbClr val="FF0000"/>
                </a:solidFill>
                <a:latin typeface="Times New Roman"/>
                <a:cs typeface="Times New Roman"/>
              </a:rPr>
              <a:t>format: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417" y="3315411"/>
            <a:ext cx="8134984" cy="21278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indent="-238125">
              <a:lnSpc>
                <a:spcPct val="100000"/>
              </a:lnSpc>
              <a:spcBef>
                <a:spcPts val="495"/>
              </a:spcBef>
              <a:buClr>
                <a:srgbClr val="9B2C1F"/>
              </a:buClr>
              <a:buSzPct val="65625"/>
              <a:buFont typeface="Segoe UI Symbol"/>
              <a:buChar char="⚫"/>
              <a:tabLst>
                <a:tab pos="240029" algn="l"/>
              </a:tabLst>
            </a:pPr>
            <a:r>
              <a:rPr sz="3200" spc="-160" dirty="0">
                <a:latin typeface="Times New Roman"/>
                <a:cs typeface="Times New Roman"/>
              </a:rPr>
              <a:t>Selectors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indicate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 </a:t>
            </a:r>
            <a:r>
              <a:rPr sz="3200" spc="-170" dirty="0">
                <a:latin typeface="Times New Roman"/>
                <a:cs typeface="Times New Roman"/>
              </a:rPr>
              <a:t>tag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other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element</a:t>
            </a:r>
            <a:endParaRPr sz="3200" dirty="0">
              <a:latin typeface="Times New Roman"/>
              <a:cs typeface="Times New Roman"/>
            </a:endParaRPr>
          </a:p>
          <a:p>
            <a:pPr marL="240029" marR="196215" indent="-2381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65625"/>
              <a:buFont typeface="Segoe UI Symbol"/>
              <a:buChar char="⚫"/>
              <a:tabLst>
                <a:tab pos="241300" algn="l"/>
              </a:tabLst>
            </a:pPr>
            <a:r>
              <a:rPr sz="3200" spc="-65" dirty="0">
                <a:latin typeface="Times New Roman"/>
                <a:cs typeface="Times New Roman"/>
              </a:rPr>
              <a:t>Property/value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pairs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give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attribute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define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and 	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Times New Roman"/>
                <a:cs typeface="Times New Roman"/>
              </a:rPr>
              <a:t>value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the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attribute</a:t>
            </a:r>
            <a:endParaRPr sz="3200" dirty="0">
              <a:latin typeface="Times New Roman"/>
              <a:cs typeface="Times New Roman"/>
            </a:endParaRPr>
          </a:p>
          <a:p>
            <a:pPr marL="240029" indent="-2381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65625"/>
              <a:buFont typeface="Segoe UI Symbol"/>
              <a:buChar char="⚫"/>
              <a:tabLst>
                <a:tab pos="240029" algn="l"/>
              </a:tabLst>
            </a:pPr>
            <a:r>
              <a:rPr sz="3200" spc="-65" dirty="0">
                <a:latin typeface="Times New Roman"/>
                <a:cs typeface="Times New Roman"/>
              </a:rPr>
              <a:t>Property/value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pairs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are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separated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with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semicolon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;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9255" y="1837944"/>
            <a:ext cx="4297680" cy="150876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489331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35" dirty="0"/>
              <a:t> </a:t>
            </a:r>
            <a:r>
              <a:rPr sz="6000" dirty="0"/>
              <a:t>-</a:t>
            </a:r>
            <a:r>
              <a:rPr sz="6000" spc="-40" dirty="0"/>
              <a:t> </a:t>
            </a:r>
            <a:r>
              <a:rPr sz="6000" spc="-20" dirty="0"/>
              <a:t>Selectors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612140" y="927099"/>
            <a:ext cx="8211820" cy="40697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5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180" dirty="0">
                <a:latin typeface="Times New Roman"/>
                <a:cs typeface="Times New Roman"/>
              </a:rPr>
              <a:t>Selectors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240" dirty="0">
                <a:latin typeface="Times New Roman"/>
                <a:cs typeface="Times New Roman"/>
              </a:rPr>
              <a:t>can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be</a:t>
            </a:r>
            <a:endParaRPr sz="3600">
              <a:latin typeface="Times New Roman"/>
              <a:cs typeface="Times New Roman"/>
            </a:endParaRPr>
          </a:p>
          <a:p>
            <a:pPr marL="560070" marR="210820" lvl="1" indent="-340360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60070" algn="l"/>
              </a:tabLst>
            </a:pPr>
            <a:r>
              <a:rPr sz="3600" spc="-470" dirty="0">
                <a:latin typeface="Times New Roman"/>
                <a:cs typeface="Times New Roman"/>
              </a:rPr>
              <a:t>A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200" dirty="0">
                <a:latin typeface="Times New Roman"/>
                <a:cs typeface="Times New Roman"/>
              </a:rPr>
              <a:t>tag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220" dirty="0">
                <a:latin typeface="Times New Roman"/>
                <a:cs typeface="Times New Roman"/>
              </a:rPr>
              <a:t>name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(i.e.</a:t>
            </a:r>
            <a:r>
              <a:rPr sz="3600" spc="-229" dirty="0">
                <a:latin typeface="Times New Roman"/>
                <a:cs typeface="Times New Roman"/>
              </a:rPr>
              <a:t> </a:t>
            </a:r>
            <a:r>
              <a:rPr sz="3600" spc="120" dirty="0">
                <a:latin typeface="Times New Roman"/>
                <a:cs typeface="Times New Roman"/>
              </a:rPr>
              <a:t>&lt;p&gt;)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spc="-229" dirty="0">
                <a:latin typeface="Times New Roman"/>
                <a:cs typeface="Times New Roman"/>
              </a:rPr>
              <a:t>This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80" dirty="0">
                <a:latin typeface="Times New Roman"/>
                <a:cs typeface="Times New Roman"/>
              </a:rPr>
              <a:t>will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35" dirty="0">
                <a:latin typeface="Times New Roman"/>
                <a:cs typeface="Times New Roman"/>
              </a:rPr>
              <a:t>apply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80" dirty="0">
                <a:latin typeface="Times New Roman"/>
                <a:cs typeface="Times New Roman"/>
              </a:rPr>
              <a:t> all </a:t>
            </a:r>
            <a:r>
              <a:rPr sz="3600" spc="-210" dirty="0">
                <a:latin typeface="Times New Roman"/>
                <a:cs typeface="Times New Roman"/>
              </a:rPr>
              <a:t>tags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210" dirty="0">
                <a:latin typeface="Times New Roman"/>
                <a:cs typeface="Times New Roman"/>
              </a:rPr>
              <a:t>of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25" dirty="0">
                <a:latin typeface="Times New Roman"/>
                <a:cs typeface="Times New Roman"/>
              </a:rPr>
              <a:t>that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40" dirty="0">
                <a:latin typeface="Times New Roman"/>
                <a:cs typeface="Times New Roman"/>
              </a:rPr>
              <a:t>type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in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document</a:t>
            </a:r>
            <a:endParaRPr sz="3600">
              <a:latin typeface="Times New Roman"/>
              <a:cs typeface="Times New Roman"/>
            </a:endParaRPr>
          </a:p>
          <a:p>
            <a:pPr marL="560070" marR="188595" lvl="1" indent="-34036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60070" algn="l"/>
              </a:tabLst>
            </a:pPr>
            <a:r>
              <a:rPr sz="3600" spc="-310" dirty="0">
                <a:latin typeface="Times New Roman"/>
                <a:cs typeface="Times New Roman"/>
              </a:rPr>
              <a:t>An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id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(&lt;h2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35" dirty="0">
                <a:latin typeface="Times New Roman"/>
                <a:cs typeface="Times New Roman"/>
              </a:rPr>
              <a:t>id=“foo”&gt;)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515" dirty="0">
                <a:latin typeface="Times New Roman"/>
                <a:cs typeface="Times New Roman"/>
              </a:rPr>
              <a:t> </a:t>
            </a:r>
            <a:r>
              <a:rPr sz="3600" spc="-195" dirty="0">
                <a:latin typeface="Times New Roman"/>
                <a:cs typeface="Times New Roman"/>
              </a:rPr>
              <a:t>The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style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80" dirty="0">
                <a:latin typeface="Times New Roman"/>
                <a:cs typeface="Times New Roman"/>
              </a:rPr>
              <a:t>will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apply </a:t>
            </a:r>
            <a:r>
              <a:rPr sz="3600" spc="-65" dirty="0">
                <a:latin typeface="Times New Roman"/>
                <a:cs typeface="Times New Roman"/>
              </a:rPr>
              <a:t>to</a:t>
            </a:r>
            <a:r>
              <a:rPr sz="3600" spc="-350" dirty="0">
                <a:latin typeface="Times New Roman"/>
                <a:cs typeface="Times New Roman"/>
              </a:rPr>
              <a:t> </a:t>
            </a:r>
            <a:r>
              <a:rPr sz="3600" spc="-420" dirty="0">
                <a:latin typeface="Times New Roman"/>
                <a:cs typeface="Times New Roman"/>
              </a:rPr>
              <a:t>ANY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00" dirty="0">
                <a:latin typeface="Times New Roman"/>
                <a:cs typeface="Times New Roman"/>
              </a:rPr>
              <a:t>tag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45" dirty="0">
                <a:latin typeface="Times New Roman"/>
                <a:cs typeface="Times New Roman"/>
              </a:rPr>
              <a:t>with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00" dirty="0">
                <a:latin typeface="Times New Roman"/>
                <a:cs typeface="Times New Roman"/>
              </a:rPr>
              <a:t>named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id.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470" dirty="0">
                <a:latin typeface="Times New Roman"/>
                <a:cs typeface="Times New Roman"/>
              </a:rPr>
              <a:t>A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245" dirty="0">
                <a:latin typeface="Times New Roman"/>
                <a:cs typeface="Times New Roman"/>
              </a:rPr>
              <a:t>class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50" dirty="0">
                <a:latin typeface="Times New Roman"/>
                <a:cs typeface="Times New Roman"/>
              </a:rPr>
              <a:t>(&lt;p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190" dirty="0">
                <a:latin typeface="Times New Roman"/>
                <a:cs typeface="Times New Roman"/>
              </a:rPr>
              <a:t>class=“LargeRed”&gt;)</a:t>
            </a:r>
            <a:r>
              <a:rPr sz="3600" spc="-520" dirty="0">
                <a:latin typeface="Times New Roman"/>
                <a:cs typeface="Times New Roman"/>
              </a:rPr>
              <a:t> </a:t>
            </a:r>
            <a:r>
              <a:rPr sz="3600" spc="-195" dirty="0">
                <a:latin typeface="Times New Roman"/>
                <a:cs typeface="Times New Roman"/>
              </a:rPr>
              <a:t>The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style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85" dirty="0">
                <a:latin typeface="Times New Roman"/>
                <a:cs typeface="Times New Roman"/>
              </a:rPr>
              <a:t>will</a:t>
            </a:r>
            <a:endParaRPr sz="3600">
              <a:latin typeface="Times New Roman"/>
              <a:cs typeface="Times New Roman"/>
            </a:endParaRPr>
          </a:p>
          <a:p>
            <a:pPr marL="560070">
              <a:lnSpc>
                <a:spcPct val="100000"/>
              </a:lnSpc>
            </a:pPr>
            <a:r>
              <a:rPr sz="3600" spc="-235" dirty="0">
                <a:latin typeface="Times New Roman"/>
                <a:cs typeface="Times New Roman"/>
              </a:rPr>
              <a:t>apply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65" dirty="0">
                <a:latin typeface="Times New Roman"/>
                <a:cs typeface="Times New Roman"/>
              </a:rPr>
              <a:t>to</a:t>
            </a:r>
            <a:r>
              <a:rPr sz="3600" spc="-345" dirty="0">
                <a:latin typeface="Times New Roman"/>
                <a:cs typeface="Times New Roman"/>
              </a:rPr>
              <a:t> </a:t>
            </a:r>
            <a:r>
              <a:rPr sz="3600" spc="-420" dirty="0">
                <a:latin typeface="Times New Roman"/>
                <a:cs typeface="Times New Roman"/>
              </a:rPr>
              <a:t>ANY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35" dirty="0">
                <a:latin typeface="Times New Roman"/>
                <a:cs typeface="Times New Roman"/>
              </a:rPr>
              <a:t>element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45" dirty="0">
                <a:latin typeface="Times New Roman"/>
                <a:cs typeface="Times New Roman"/>
              </a:rPr>
              <a:t>with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00" dirty="0">
                <a:latin typeface="Times New Roman"/>
                <a:cs typeface="Times New Roman"/>
              </a:rPr>
              <a:t>named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class)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1976"/>
            <a:ext cx="77577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58410" algn="l"/>
              </a:tabLst>
            </a:pPr>
            <a:r>
              <a:rPr sz="5400" dirty="0"/>
              <a:t>CSS</a:t>
            </a:r>
            <a:r>
              <a:rPr sz="5400" spc="-50" dirty="0"/>
              <a:t> </a:t>
            </a:r>
            <a:r>
              <a:rPr sz="5400" dirty="0"/>
              <a:t>–</a:t>
            </a:r>
            <a:r>
              <a:rPr sz="5400" spc="-55" dirty="0"/>
              <a:t> </a:t>
            </a:r>
            <a:r>
              <a:rPr sz="5400" spc="-10" dirty="0"/>
              <a:t>Examples:</a:t>
            </a:r>
            <a:r>
              <a:rPr sz="5400" dirty="0"/>
              <a:t>	</a:t>
            </a:r>
            <a:r>
              <a:rPr sz="5400" spc="-30" dirty="0"/>
              <a:t>Selectors</a:t>
            </a:r>
            <a:endParaRPr sz="54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 </a:t>
            </a:r>
            <a:r>
              <a:rPr spc="-50" dirty="0"/>
              <a:t>{</a:t>
            </a:r>
          </a:p>
          <a:p>
            <a:pPr marL="527050" marR="62230">
              <a:lnSpc>
                <a:spcPct val="100000"/>
              </a:lnSpc>
            </a:pPr>
            <a:r>
              <a:rPr spc="-10" dirty="0"/>
              <a:t>text-</a:t>
            </a:r>
            <a:r>
              <a:rPr dirty="0"/>
              <a:t>align:</a:t>
            </a:r>
            <a:r>
              <a:rPr spc="-20" dirty="0"/>
              <a:t> </a:t>
            </a:r>
            <a:r>
              <a:rPr spc="-10" dirty="0"/>
              <a:t>center; </a:t>
            </a:r>
            <a:r>
              <a:rPr dirty="0"/>
              <a:t>color:</a:t>
            </a:r>
            <a:r>
              <a:rPr spc="-50" dirty="0"/>
              <a:t> </a:t>
            </a:r>
            <a:r>
              <a:rPr spc="-10" dirty="0"/>
              <a:t>blue;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}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pc="-50" dirty="0"/>
          </a:p>
          <a:p>
            <a:pPr marL="12700">
              <a:lnSpc>
                <a:spcPct val="100000"/>
              </a:lnSpc>
            </a:pPr>
            <a:r>
              <a:rPr dirty="0"/>
              <a:t>#C4 </a:t>
            </a:r>
            <a:r>
              <a:rPr spc="-50" dirty="0"/>
              <a:t>{</a:t>
            </a:r>
          </a:p>
          <a:p>
            <a:pPr marL="641350" marR="201295">
              <a:lnSpc>
                <a:spcPct val="100000"/>
              </a:lnSpc>
            </a:pPr>
            <a:r>
              <a:rPr spc="-10" dirty="0"/>
              <a:t>text-</a:t>
            </a:r>
            <a:r>
              <a:rPr dirty="0"/>
              <a:t>align:</a:t>
            </a:r>
            <a:r>
              <a:rPr spc="-20" dirty="0"/>
              <a:t> left; </a:t>
            </a:r>
            <a:r>
              <a:rPr dirty="0"/>
              <a:t>color:</a:t>
            </a:r>
            <a:r>
              <a:rPr spc="-50" dirty="0"/>
              <a:t> </a:t>
            </a:r>
            <a:r>
              <a:rPr spc="-20" dirty="0"/>
              <a:t>red;</a:t>
            </a:r>
          </a:p>
          <a:p>
            <a:pPr marL="469900">
              <a:lnSpc>
                <a:spcPct val="100000"/>
              </a:lnSpc>
            </a:pPr>
            <a:r>
              <a:rPr spc="-50" dirty="0"/>
              <a:t>}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pc="-50" dirty="0"/>
          </a:p>
          <a:p>
            <a:pPr marL="12700">
              <a:lnSpc>
                <a:spcPct val="100000"/>
              </a:lnSpc>
            </a:pPr>
            <a:r>
              <a:rPr dirty="0"/>
              <a:t>.center</a:t>
            </a:r>
            <a:r>
              <a:rPr spc="-55" dirty="0"/>
              <a:t> </a:t>
            </a:r>
            <a:r>
              <a:rPr spc="-60" dirty="0"/>
              <a:t>{</a:t>
            </a:r>
          </a:p>
          <a:p>
            <a:pPr marL="584200" marR="5080">
              <a:lnSpc>
                <a:spcPct val="100000"/>
              </a:lnSpc>
            </a:pPr>
            <a:r>
              <a:rPr spc="-10" dirty="0"/>
              <a:t>text-</a:t>
            </a:r>
            <a:r>
              <a:rPr dirty="0"/>
              <a:t>align:</a:t>
            </a:r>
            <a:r>
              <a:rPr spc="-20" dirty="0"/>
              <a:t> </a:t>
            </a:r>
            <a:r>
              <a:rPr spc="-10" dirty="0"/>
              <a:t>center; </a:t>
            </a:r>
            <a:r>
              <a:rPr dirty="0"/>
              <a:t>color:</a:t>
            </a:r>
            <a:r>
              <a:rPr spc="-50" dirty="0"/>
              <a:t> </a:t>
            </a:r>
            <a:r>
              <a:rPr spc="-10" dirty="0"/>
              <a:t>green;</a:t>
            </a:r>
          </a:p>
          <a:p>
            <a:pPr marL="584200">
              <a:lnSpc>
                <a:spcPct val="100000"/>
              </a:lnSpc>
            </a:pPr>
            <a:r>
              <a:rPr spc="-50" dirty="0"/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4303" y="1321053"/>
            <a:ext cx="16002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all </a:t>
            </a:r>
            <a:r>
              <a:rPr sz="1800" dirty="0">
                <a:latin typeface="Times New Roman"/>
                <a:cs typeface="Times New Roman"/>
              </a:rPr>
              <a:t>paragraphs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document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4303" y="2966973"/>
            <a:ext cx="16954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tag </a:t>
            </a:r>
            <a:r>
              <a:rPr sz="1800" dirty="0">
                <a:latin typeface="Times New Roman"/>
                <a:cs typeface="Times New Roman"/>
              </a:rPr>
              <a:t>marked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with </a:t>
            </a:r>
            <a:r>
              <a:rPr sz="1800" i="1" spc="-10" dirty="0">
                <a:latin typeface="Times New Roman"/>
                <a:cs typeface="Times New Roman"/>
              </a:rPr>
              <a:t>id=“C4”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4303" y="4613147"/>
            <a:ext cx="16954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tag </a:t>
            </a:r>
            <a:r>
              <a:rPr sz="1800" dirty="0">
                <a:latin typeface="Times New Roman"/>
                <a:cs typeface="Times New Roman"/>
              </a:rPr>
              <a:t>marked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with </a:t>
            </a:r>
            <a:r>
              <a:rPr sz="1800" i="1" spc="-10" dirty="0">
                <a:latin typeface="Times New Roman"/>
                <a:cs typeface="Times New Roman"/>
              </a:rPr>
              <a:t>class=“center”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97732" y="1821814"/>
            <a:ext cx="2404745" cy="258445"/>
          </a:xfrm>
          <a:custGeom>
            <a:avLst/>
            <a:gdLst/>
            <a:ahLst/>
            <a:cxnLst/>
            <a:rect l="l" t="t" r="r" b="b"/>
            <a:pathLst>
              <a:path w="2404745" h="258444">
                <a:moveTo>
                  <a:pt x="72517" y="182245"/>
                </a:moveTo>
                <a:lnTo>
                  <a:pt x="0" y="226949"/>
                </a:lnTo>
                <a:lnTo>
                  <a:pt x="79247" y="258190"/>
                </a:lnTo>
                <a:lnTo>
                  <a:pt x="77109" y="234061"/>
                </a:lnTo>
                <a:lnTo>
                  <a:pt x="64389" y="234061"/>
                </a:lnTo>
                <a:lnTo>
                  <a:pt x="62103" y="208661"/>
                </a:lnTo>
                <a:lnTo>
                  <a:pt x="74758" y="207532"/>
                </a:lnTo>
                <a:lnTo>
                  <a:pt x="72517" y="182245"/>
                </a:lnTo>
                <a:close/>
              </a:path>
              <a:path w="2404745" h="258444">
                <a:moveTo>
                  <a:pt x="74758" y="207532"/>
                </a:moveTo>
                <a:lnTo>
                  <a:pt x="62103" y="208661"/>
                </a:lnTo>
                <a:lnTo>
                  <a:pt x="64287" y="232935"/>
                </a:lnTo>
                <a:lnTo>
                  <a:pt x="64389" y="234061"/>
                </a:lnTo>
                <a:lnTo>
                  <a:pt x="77009" y="232935"/>
                </a:lnTo>
                <a:lnTo>
                  <a:pt x="74858" y="208661"/>
                </a:lnTo>
                <a:lnTo>
                  <a:pt x="74758" y="207532"/>
                </a:lnTo>
                <a:close/>
              </a:path>
              <a:path w="2404745" h="258444">
                <a:moveTo>
                  <a:pt x="77009" y="232935"/>
                </a:moveTo>
                <a:lnTo>
                  <a:pt x="64389" y="234061"/>
                </a:lnTo>
                <a:lnTo>
                  <a:pt x="77109" y="234061"/>
                </a:lnTo>
                <a:lnTo>
                  <a:pt x="77009" y="232935"/>
                </a:lnTo>
                <a:close/>
              </a:path>
              <a:path w="2404745" h="258444">
                <a:moveTo>
                  <a:pt x="2402459" y="0"/>
                </a:moveTo>
                <a:lnTo>
                  <a:pt x="74758" y="207532"/>
                </a:lnTo>
                <a:lnTo>
                  <a:pt x="77009" y="232935"/>
                </a:lnTo>
                <a:lnTo>
                  <a:pt x="2404745" y="25400"/>
                </a:lnTo>
                <a:lnTo>
                  <a:pt x="2402459" y="0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51834" y="3169792"/>
            <a:ext cx="2404745" cy="258445"/>
          </a:xfrm>
          <a:custGeom>
            <a:avLst/>
            <a:gdLst/>
            <a:ahLst/>
            <a:cxnLst/>
            <a:rect l="l" t="t" r="r" b="b"/>
            <a:pathLst>
              <a:path w="2404745" h="258445">
                <a:moveTo>
                  <a:pt x="72516" y="182245"/>
                </a:moveTo>
                <a:lnTo>
                  <a:pt x="0" y="226949"/>
                </a:lnTo>
                <a:lnTo>
                  <a:pt x="79248" y="258191"/>
                </a:lnTo>
                <a:lnTo>
                  <a:pt x="77109" y="234061"/>
                </a:lnTo>
                <a:lnTo>
                  <a:pt x="64388" y="234061"/>
                </a:lnTo>
                <a:lnTo>
                  <a:pt x="62102" y="208661"/>
                </a:lnTo>
                <a:lnTo>
                  <a:pt x="74758" y="207532"/>
                </a:lnTo>
                <a:lnTo>
                  <a:pt x="72516" y="182245"/>
                </a:lnTo>
                <a:close/>
              </a:path>
              <a:path w="2404745" h="258445">
                <a:moveTo>
                  <a:pt x="74758" y="207532"/>
                </a:moveTo>
                <a:lnTo>
                  <a:pt x="62102" y="208661"/>
                </a:lnTo>
                <a:lnTo>
                  <a:pt x="64287" y="232935"/>
                </a:lnTo>
                <a:lnTo>
                  <a:pt x="64388" y="234061"/>
                </a:lnTo>
                <a:lnTo>
                  <a:pt x="77009" y="232935"/>
                </a:lnTo>
                <a:lnTo>
                  <a:pt x="74858" y="208661"/>
                </a:lnTo>
                <a:lnTo>
                  <a:pt x="74758" y="207532"/>
                </a:lnTo>
                <a:close/>
              </a:path>
              <a:path w="2404745" h="258445">
                <a:moveTo>
                  <a:pt x="77009" y="232935"/>
                </a:moveTo>
                <a:lnTo>
                  <a:pt x="64388" y="234061"/>
                </a:lnTo>
                <a:lnTo>
                  <a:pt x="77109" y="234061"/>
                </a:lnTo>
                <a:lnTo>
                  <a:pt x="77009" y="232935"/>
                </a:lnTo>
                <a:close/>
              </a:path>
              <a:path w="2404745" h="258445">
                <a:moveTo>
                  <a:pt x="2402459" y="0"/>
                </a:moveTo>
                <a:lnTo>
                  <a:pt x="74758" y="207532"/>
                </a:lnTo>
                <a:lnTo>
                  <a:pt x="77009" y="232935"/>
                </a:lnTo>
                <a:lnTo>
                  <a:pt x="2404744" y="25400"/>
                </a:lnTo>
                <a:lnTo>
                  <a:pt x="2402459" y="0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3180" y="4782692"/>
            <a:ext cx="2302510" cy="76200"/>
          </a:xfrm>
          <a:custGeom>
            <a:avLst/>
            <a:gdLst/>
            <a:ahLst/>
            <a:cxnLst/>
            <a:rect l="l" t="t" r="r" b="b"/>
            <a:pathLst>
              <a:path w="230251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50799"/>
                </a:lnTo>
                <a:lnTo>
                  <a:pt x="63500" y="50799"/>
                </a:lnTo>
                <a:lnTo>
                  <a:pt x="63500" y="25399"/>
                </a:lnTo>
                <a:lnTo>
                  <a:pt x="76200" y="25399"/>
                </a:lnTo>
                <a:lnTo>
                  <a:pt x="76200" y="0"/>
                </a:lnTo>
                <a:close/>
              </a:path>
              <a:path w="2302510" h="76200">
                <a:moveTo>
                  <a:pt x="76200" y="25399"/>
                </a:moveTo>
                <a:lnTo>
                  <a:pt x="63500" y="25399"/>
                </a:lnTo>
                <a:lnTo>
                  <a:pt x="63500" y="50799"/>
                </a:lnTo>
                <a:lnTo>
                  <a:pt x="76200" y="50799"/>
                </a:lnTo>
                <a:lnTo>
                  <a:pt x="76200" y="25399"/>
                </a:lnTo>
                <a:close/>
              </a:path>
              <a:path w="2302510" h="76200">
                <a:moveTo>
                  <a:pt x="2302256" y="25399"/>
                </a:moveTo>
                <a:lnTo>
                  <a:pt x="76200" y="25399"/>
                </a:lnTo>
                <a:lnTo>
                  <a:pt x="76200" y="50799"/>
                </a:lnTo>
                <a:lnTo>
                  <a:pt x="2302256" y="50799"/>
                </a:lnTo>
                <a:lnTo>
                  <a:pt x="2302256" y="25399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45" dirty="0"/>
              <a:t> </a:t>
            </a:r>
            <a:r>
              <a:rPr sz="6000" dirty="0"/>
              <a:t>–</a:t>
            </a:r>
            <a:r>
              <a:rPr sz="6000" spc="-155" dirty="0"/>
              <a:t> </a:t>
            </a:r>
            <a:r>
              <a:rPr sz="6000" spc="-25" dirty="0"/>
              <a:t>Selector</a:t>
            </a:r>
            <a:r>
              <a:rPr sz="6000" spc="-155" dirty="0"/>
              <a:t> </a:t>
            </a:r>
            <a:r>
              <a:rPr sz="6000" spc="-25" dirty="0"/>
              <a:t>Grouping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459740" y="1053591"/>
            <a:ext cx="8161655" cy="299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marR="5080" indent="-271145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30" dirty="0">
                <a:latin typeface="Times New Roman"/>
                <a:cs typeface="Times New Roman"/>
              </a:rPr>
              <a:t>Selectors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elements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same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style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grouped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use 	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common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style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description</a:t>
            </a:r>
            <a:endParaRPr sz="2600">
              <a:latin typeface="Times New Roman"/>
              <a:cs typeface="Times New Roman"/>
            </a:endParaRPr>
          </a:p>
          <a:p>
            <a:pPr marL="2070100">
              <a:lnSpc>
                <a:spcPct val="100000"/>
              </a:lnSpc>
              <a:spcBef>
                <a:spcPts val="1820"/>
              </a:spcBef>
            </a:pPr>
            <a:r>
              <a:rPr sz="3200" dirty="0">
                <a:latin typeface="Times New Roman"/>
                <a:cs typeface="Times New Roman"/>
              </a:rPr>
              <a:t>h1,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h2,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  <a:p>
            <a:pPr marL="2273300" marR="3002915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text-</a:t>
            </a:r>
            <a:r>
              <a:rPr sz="3200" dirty="0">
                <a:latin typeface="Times New Roman"/>
                <a:cs typeface="Times New Roman"/>
              </a:rPr>
              <a:t>align: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center; </a:t>
            </a:r>
            <a:r>
              <a:rPr sz="3200" dirty="0">
                <a:latin typeface="Times New Roman"/>
                <a:cs typeface="Times New Roman"/>
              </a:rPr>
              <a:t>color: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red;</a:t>
            </a:r>
            <a:endParaRPr sz="3200">
              <a:latin typeface="Times New Roman"/>
              <a:cs typeface="Times New Roman"/>
            </a:endParaRPr>
          </a:p>
          <a:p>
            <a:pPr marL="2070100">
              <a:lnSpc>
                <a:spcPct val="100000"/>
              </a:lnSpc>
            </a:pPr>
            <a:r>
              <a:rPr sz="3200" spc="-50" dirty="0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17932"/>
            <a:ext cx="86518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CSS</a:t>
            </a:r>
            <a:r>
              <a:rPr sz="4400" spc="-100" dirty="0"/>
              <a:t> </a:t>
            </a:r>
            <a:r>
              <a:rPr sz="4400" dirty="0"/>
              <a:t>–</a:t>
            </a:r>
            <a:r>
              <a:rPr sz="4400" spc="-105" dirty="0"/>
              <a:t> </a:t>
            </a:r>
            <a:r>
              <a:rPr sz="4400" spc="-70" dirty="0"/>
              <a:t>Placement</a:t>
            </a:r>
            <a:r>
              <a:rPr sz="4400" spc="-95" dirty="0"/>
              <a:t> </a:t>
            </a:r>
            <a:r>
              <a:rPr sz="4400" dirty="0"/>
              <a:t>of</a:t>
            </a:r>
            <a:r>
              <a:rPr sz="4400" spc="-90" dirty="0"/>
              <a:t> </a:t>
            </a:r>
            <a:r>
              <a:rPr sz="4400" dirty="0"/>
              <a:t>CSS</a:t>
            </a:r>
            <a:r>
              <a:rPr sz="4400" spc="-100" dirty="0"/>
              <a:t> </a:t>
            </a:r>
            <a:r>
              <a:rPr sz="4400" spc="-40" dirty="0"/>
              <a:t>Information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978153"/>
            <a:ext cx="8213725" cy="453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8130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409" dirty="0">
                <a:latin typeface="Times New Roman"/>
                <a:cs typeface="Times New Roman"/>
              </a:rPr>
              <a:t>CSS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style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60" dirty="0">
                <a:latin typeface="Times New Roman"/>
                <a:cs typeface="Times New Roman"/>
              </a:rPr>
              <a:t>information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40" dirty="0">
                <a:latin typeface="Times New Roman"/>
                <a:cs typeface="Times New Roman"/>
              </a:rPr>
              <a:t>can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be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put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in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60" dirty="0">
                <a:latin typeface="Times New Roman"/>
                <a:cs typeface="Times New Roman"/>
              </a:rPr>
              <a:t>one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10" dirty="0">
                <a:latin typeface="Times New Roman"/>
                <a:cs typeface="Times New Roman"/>
              </a:rPr>
              <a:t>of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35" dirty="0">
                <a:latin typeface="Times New Roman"/>
                <a:cs typeface="Times New Roman"/>
              </a:rPr>
              <a:t>three places:</a:t>
            </a:r>
            <a:endParaRPr sz="3600" dirty="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145" dirty="0">
                <a:latin typeface="Times New Roman"/>
                <a:cs typeface="Times New Roman"/>
              </a:rPr>
              <a:t>External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sheet</a:t>
            </a:r>
            <a:endParaRPr sz="3600" dirty="0">
              <a:latin typeface="Times New Roman"/>
              <a:cs typeface="Times New Roman"/>
            </a:endParaRPr>
          </a:p>
          <a:p>
            <a:pPr marL="833119" lvl="2" indent="-301625">
              <a:lnSpc>
                <a:spcPct val="100000"/>
              </a:lnSpc>
              <a:spcBef>
                <a:spcPts val="455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119" algn="l"/>
              </a:tabLst>
            </a:pPr>
            <a:r>
              <a:rPr sz="3200" spc="-195" dirty="0">
                <a:latin typeface="Times New Roman"/>
                <a:cs typeface="Times New Roman"/>
              </a:rPr>
              <a:t>Can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be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used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for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an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entire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website</a:t>
            </a:r>
            <a:endParaRPr sz="3200" dirty="0">
              <a:latin typeface="Times New Roman"/>
              <a:cs typeface="Times New Roman"/>
            </a:endParaRPr>
          </a:p>
          <a:p>
            <a:pPr marL="833755" lvl="2" indent="-3016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755" algn="l"/>
              </a:tabLst>
            </a:pPr>
            <a:r>
              <a:rPr sz="3200" spc="-250" dirty="0">
                <a:latin typeface="Times New Roman"/>
                <a:cs typeface="Times New Roman"/>
              </a:rPr>
              <a:t>Each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.html </a:t>
            </a:r>
            <a:r>
              <a:rPr sz="3200" spc="-160" dirty="0">
                <a:latin typeface="Times New Roman"/>
                <a:cs typeface="Times New Roman"/>
              </a:rPr>
              <a:t>file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must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reference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same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sheet</a:t>
            </a:r>
            <a:endParaRPr sz="3200" dirty="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350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125" dirty="0">
                <a:latin typeface="Times New Roman"/>
                <a:cs typeface="Times New Roman"/>
              </a:rPr>
              <a:t>Internal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sheet</a:t>
            </a:r>
            <a:endParaRPr sz="3600" dirty="0">
              <a:latin typeface="Times New Roman"/>
              <a:cs typeface="Times New Roman"/>
            </a:endParaRPr>
          </a:p>
          <a:p>
            <a:pPr marL="833119" lvl="2" indent="-301625">
              <a:lnSpc>
                <a:spcPct val="100000"/>
              </a:lnSpc>
              <a:spcBef>
                <a:spcPts val="450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3119" algn="l"/>
              </a:tabLst>
            </a:pPr>
            <a:r>
              <a:rPr sz="3200" spc="-195" dirty="0">
                <a:latin typeface="Times New Roman"/>
                <a:cs typeface="Times New Roman"/>
              </a:rPr>
              <a:t>Can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be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used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consistently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style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1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html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page</a:t>
            </a:r>
            <a:endParaRPr sz="3200" dirty="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34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190" dirty="0">
                <a:latin typeface="Times New Roman"/>
                <a:cs typeface="Times New Roman"/>
              </a:rPr>
              <a:t>Inline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styles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0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CSS</a:t>
            </a:r>
            <a:r>
              <a:rPr sz="5400" spc="-170" dirty="0"/>
              <a:t> </a:t>
            </a:r>
            <a:r>
              <a:rPr sz="5400" dirty="0"/>
              <a:t>–</a:t>
            </a:r>
            <a:r>
              <a:rPr sz="5400" spc="-175" dirty="0"/>
              <a:t> </a:t>
            </a:r>
            <a:r>
              <a:rPr sz="5400" spc="-25" dirty="0"/>
              <a:t>External</a:t>
            </a:r>
            <a:r>
              <a:rPr sz="5400" spc="-190" dirty="0"/>
              <a:t> </a:t>
            </a:r>
            <a:r>
              <a:rPr sz="5400" spc="-30" dirty="0"/>
              <a:t>Style</a:t>
            </a:r>
            <a:r>
              <a:rPr sz="5400" spc="-170" dirty="0"/>
              <a:t> </a:t>
            </a:r>
            <a:r>
              <a:rPr sz="5400" spc="-10" dirty="0"/>
              <a:t>Sheets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077722" y="2434590"/>
            <a:ext cx="1174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my_site_style.css: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7722" y="2800350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body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background-</a:t>
            </a:r>
            <a:r>
              <a:rPr sz="1200" dirty="0">
                <a:latin typeface="Times New Roman"/>
                <a:cs typeface="Times New Roman"/>
              </a:rPr>
              <a:t>color: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lightblue;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7722" y="3531870"/>
            <a:ext cx="1216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h1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color: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navy; </a:t>
            </a:r>
            <a:r>
              <a:rPr sz="1200" spc="-20" dirty="0">
                <a:latin typeface="Times New Roman"/>
                <a:cs typeface="Times New Roman"/>
              </a:rPr>
              <a:t>margin-</a:t>
            </a:r>
            <a:r>
              <a:rPr sz="1200" dirty="0">
                <a:latin typeface="Times New Roman"/>
                <a:cs typeface="Times New Roman"/>
              </a:rPr>
              <a:t>left: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20px;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7182" y="2374900"/>
            <a:ext cx="1214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a_web_page.html: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&lt;html&gt;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&lt;head&gt;</a:t>
            </a:r>
          </a:p>
          <a:p>
            <a:pPr marL="12700">
              <a:lnSpc>
                <a:spcPct val="100000"/>
              </a:lnSpc>
            </a:pPr>
            <a:r>
              <a:rPr dirty="0"/>
              <a:t>&lt;link</a:t>
            </a:r>
            <a:r>
              <a:rPr spc="-40" dirty="0"/>
              <a:t> </a:t>
            </a:r>
            <a:r>
              <a:rPr dirty="0"/>
              <a:t>rel="stylesheet"</a:t>
            </a:r>
            <a:r>
              <a:rPr spc="-50" dirty="0"/>
              <a:t> </a:t>
            </a:r>
            <a:r>
              <a:rPr dirty="0"/>
              <a:t>type="text/css"</a:t>
            </a:r>
            <a:r>
              <a:rPr spc="-45" dirty="0"/>
              <a:t> </a:t>
            </a:r>
            <a:r>
              <a:rPr spc="-10" dirty="0"/>
              <a:t>href="my_site_style.css"&gt;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&lt;/head&gt;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&lt;body&gt;</a:t>
            </a:r>
          </a:p>
          <a:p>
            <a:pPr marL="12700">
              <a:lnSpc>
                <a:spcPct val="100000"/>
              </a:lnSpc>
            </a:pPr>
            <a:r>
              <a:rPr spc="-50" dirty="0"/>
              <a:t>…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&lt;/body&gt;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&lt;/html&gt;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09333" y="4938267"/>
            <a:ext cx="1739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References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file </a:t>
            </a:r>
            <a:r>
              <a:rPr sz="1800" dirty="0">
                <a:latin typeface="Times New Roman"/>
                <a:cs typeface="Times New Roman"/>
              </a:rPr>
              <a:t>with </a:t>
            </a:r>
            <a:r>
              <a:rPr sz="1800" spc="-10" dirty="0">
                <a:latin typeface="Times New Roman"/>
                <a:cs typeface="Times New Roman"/>
              </a:rPr>
              <a:t>style information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69303" y="3340227"/>
            <a:ext cx="624840" cy="1637030"/>
          </a:xfrm>
          <a:custGeom>
            <a:avLst/>
            <a:gdLst/>
            <a:ahLst/>
            <a:cxnLst/>
            <a:rect l="l" t="t" r="r" b="b"/>
            <a:pathLst>
              <a:path w="624840" h="1637029">
                <a:moveTo>
                  <a:pt x="576980" y="67090"/>
                </a:moveTo>
                <a:lnTo>
                  <a:pt x="0" y="1628140"/>
                </a:lnTo>
                <a:lnTo>
                  <a:pt x="23875" y="1636903"/>
                </a:lnTo>
                <a:lnTo>
                  <a:pt x="600763" y="75892"/>
                </a:lnTo>
                <a:lnTo>
                  <a:pt x="576980" y="67090"/>
                </a:lnTo>
                <a:close/>
              </a:path>
              <a:path w="624840" h="1637029">
                <a:moveTo>
                  <a:pt x="621347" y="55118"/>
                </a:moveTo>
                <a:lnTo>
                  <a:pt x="581405" y="55118"/>
                </a:lnTo>
                <a:lnTo>
                  <a:pt x="605154" y="64008"/>
                </a:lnTo>
                <a:lnTo>
                  <a:pt x="600763" y="75892"/>
                </a:lnTo>
                <a:lnTo>
                  <a:pt x="624586" y="84709"/>
                </a:lnTo>
                <a:lnTo>
                  <a:pt x="621347" y="55118"/>
                </a:lnTo>
                <a:close/>
              </a:path>
              <a:path w="624840" h="1637029">
                <a:moveTo>
                  <a:pt x="581405" y="55118"/>
                </a:moveTo>
                <a:lnTo>
                  <a:pt x="576980" y="67090"/>
                </a:lnTo>
                <a:lnTo>
                  <a:pt x="600763" y="75892"/>
                </a:lnTo>
                <a:lnTo>
                  <a:pt x="605154" y="64008"/>
                </a:lnTo>
                <a:lnTo>
                  <a:pt x="581405" y="55118"/>
                </a:lnTo>
                <a:close/>
              </a:path>
              <a:path w="624840" h="1637029">
                <a:moveTo>
                  <a:pt x="615315" y="0"/>
                </a:moveTo>
                <a:lnTo>
                  <a:pt x="553212" y="58293"/>
                </a:lnTo>
                <a:lnTo>
                  <a:pt x="576980" y="67090"/>
                </a:lnTo>
                <a:lnTo>
                  <a:pt x="581405" y="55118"/>
                </a:lnTo>
                <a:lnTo>
                  <a:pt x="621347" y="55118"/>
                </a:lnTo>
                <a:lnTo>
                  <a:pt x="615315" y="0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56076" y="4991353"/>
            <a:ext cx="12128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Separate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file </a:t>
            </a:r>
            <a:r>
              <a:rPr sz="1800" dirty="0">
                <a:latin typeface="Times New Roman"/>
                <a:cs typeface="Times New Roman"/>
              </a:rPr>
              <a:t>holding </a:t>
            </a:r>
            <a:r>
              <a:rPr sz="1800" spc="-10" dirty="0">
                <a:latin typeface="Times New Roman"/>
                <a:cs typeface="Times New Roman"/>
              </a:rPr>
              <a:t>style information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70326" y="2709545"/>
            <a:ext cx="1064260" cy="2233930"/>
            <a:chOff x="2870326" y="2709545"/>
            <a:chExt cx="1064260" cy="2233930"/>
          </a:xfrm>
        </p:grpSpPr>
        <p:sp>
          <p:nvSpPr>
            <p:cNvPr id="12" name="object 12"/>
            <p:cNvSpPr/>
            <p:nvPr/>
          </p:nvSpPr>
          <p:spPr>
            <a:xfrm>
              <a:off x="2883026" y="2722245"/>
              <a:ext cx="342265" cy="1660525"/>
            </a:xfrm>
            <a:custGeom>
              <a:avLst/>
              <a:gdLst/>
              <a:ahLst/>
              <a:cxnLst/>
              <a:rect l="l" t="t" r="r" b="b"/>
              <a:pathLst>
                <a:path w="342264" h="1660525">
                  <a:moveTo>
                    <a:pt x="0" y="0"/>
                  </a:moveTo>
                  <a:lnTo>
                    <a:pt x="66591" y="2248"/>
                  </a:lnTo>
                  <a:lnTo>
                    <a:pt x="120967" y="8366"/>
                  </a:lnTo>
                  <a:lnTo>
                    <a:pt x="157626" y="17412"/>
                  </a:lnTo>
                  <a:lnTo>
                    <a:pt x="171069" y="28447"/>
                  </a:lnTo>
                  <a:lnTo>
                    <a:pt x="171069" y="801751"/>
                  </a:lnTo>
                  <a:lnTo>
                    <a:pt x="184511" y="812786"/>
                  </a:lnTo>
                  <a:lnTo>
                    <a:pt x="221170" y="821832"/>
                  </a:lnTo>
                  <a:lnTo>
                    <a:pt x="275546" y="827950"/>
                  </a:lnTo>
                  <a:lnTo>
                    <a:pt x="342138" y="830199"/>
                  </a:lnTo>
                  <a:lnTo>
                    <a:pt x="275546" y="832447"/>
                  </a:lnTo>
                  <a:lnTo>
                    <a:pt x="221170" y="838565"/>
                  </a:lnTo>
                  <a:lnTo>
                    <a:pt x="184511" y="847611"/>
                  </a:lnTo>
                  <a:lnTo>
                    <a:pt x="171069" y="858646"/>
                  </a:lnTo>
                  <a:lnTo>
                    <a:pt x="171069" y="1631949"/>
                  </a:lnTo>
                  <a:lnTo>
                    <a:pt x="157626" y="1642985"/>
                  </a:lnTo>
                  <a:lnTo>
                    <a:pt x="120967" y="1652031"/>
                  </a:lnTo>
                  <a:lnTo>
                    <a:pt x="66591" y="1658149"/>
                  </a:lnTo>
                  <a:lnTo>
                    <a:pt x="0" y="1660397"/>
                  </a:lnTo>
                </a:path>
              </a:pathLst>
            </a:custGeom>
            <a:ln w="25400">
              <a:solidFill>
                <a:srgbClr val="42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67836" y="3570351"/>
              <a:ext cx="666750" cy="1372870"/>
            </a:xfrm>
            <a:custGeom>
              <a:avLst/>
              <a:gdLst/>
              <a:ahLst/>
              <a:cxnLst/>
              <a:rect l="l" t="t" r="r" b="b"/>
              <a:pathLst>
                <a:path w="666750" h="1372870">
                  <a:moveTo>
                    <a:pt x="45856" y="63263"/>
                  </a:moveTo>
                  <a:lnTo>
                    <a:pt x="22902" y="74252"/>
                  </a:lnTo>
                  <a:lnTo>
                    <a:pt x="643509" y="1372743"/>
                  </a:lnTo>
                  <a:lnTo>
                    <a:pt x="666368" y="1361694"/>
                  </a:lnTo>
                  <a:lnTo>
                    <a:pt x="45856" y="63263"/>
                  </a:lnTo>
                  <a:close/>
                </a:path>
                <a:path w="666750" h="1372870">
                  <a:moveTo>
                    <a:pt x="1524" y="0"/>
                  </a:moveTo>
                  <a:lnTo>
                    <a:pt x="0" y="85217"/>
                  </a:lnTo>
                  <a:lnTo>
                    <a:pt x="22902" y="74252"/>
                  </a:lnTo>
                  <a:lnTo>
                    <a:pt x="17399" y="62737"/>
                  </a:lnTo>
                  <a:lnTo>
                    <a:pt x="40386" y="51816"/>
                  </a:lnTo>
                  <a:lnTo>
                    <a:pt x="68054" y="51816"/>
                  </a:lnTo>
                  <a:lnTo>
                    <a:pt x="1524" y="0"/>
                  </a:lnTo>
                  <a:close/>
                </a:path>
                <a:path w="666750" h="1372870">
                  <a:moveTo>
                    <a:pt x="40386" y="51816"/>
                  </a:moveTo>
                  <a:lnTo>
                    <a:pt x="17399" y="62737"/>
                  </a:lnTo>
                  <a:lnTo>
                    <a:pt x="22902" y="74252"/>
                  </a:lnTo>
                  <a:lnTo>
                    <a:pt x="45856" y="63263"/>
                  </a:lnTo>
                  <a:lnTo>
                    <a:pt x="40386" y="51816"/>
                  </a:lnTo>
                  <a:close/>
                </a:path>
                <a:path w="666750" h="1372870">
                  <a:moveTo>
                    <a:pt x="68054" y="51816"/>
                  </a:moveTo>
                  <a:lnTo>
                    <a:pt x="40386" y="51816"/>
                  </a:lnTo>
                  <a:lnTo>
                    <a:pt x="45856" y="63263"/>
                  </a:lnTo>
                  <a:lnTo>
                    <a:pt x="68707" y="52324"/>
                  </a:lnTo>
                  <a:lnTo>
                    <a:pt x="68054" y="51816"/>
                  </a:lnTo>
                  <a:close/>
                </a:path>
              </a:pathLst>
            </a:custGeom>
            <a:solidFill>
              <a:srgbClr val="422D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7488" y="2164841"/>
            <a:ext cx="16154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12700" marR="1134745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&lt;style&gt; </a:t>
            </a:r>
            <a:r>
              <a:rPr sz="1200" dirty="0">
                <a:latin typeface="Times New Roman"/>
                <a:cs typeface="Times New Roman"/>
              </a:rPr>
              <a:t>body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background-</a:t>
            </a:r>
            <a:r>
              <a:rPr sz="1200" dirty="0">
                <a:latin typeface="Times New Roman"/>
                <a:cs typeface="Times New Roman"/>
              </a:rPr>
              <a:t>color: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linen;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7488" y="3445002"/>
            <a:ext cx="121602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h1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color: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maroon; </a:t>
            </a:r>
            <a:r>
              <a:rPr sz="1200" spc="-20" dirty="0">
                <a:latin typeface="Times New Roman"/>
                <a:cs typeface="Times New Roman"/>
              </a:rPr>
              <a:t>margin-</a:t>
            </a:r>
            <a:r>
              <a:rPr sz="1200" dirty="0">
                <a:latin typeface="Times New Roman"/>
                <a:cs typeface="Times New Roman"/>
              </a:rPr>
              <a:t>left: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40px;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&lt;/style&gt;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…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6941" y="2562225"/>
            <a:ext cx="319405" cy="1811020"/>
          </a:xfrm>
          <a:custGeom>
            <a:avLst/>
            <a:gdLst/>
            <a:ahLst/>
            <a:cxnLst/>
            <a:rect l="l" t="t" r="r" b="b"/>
            <a:pathLst>
              <a:path w="319404" h="1811020">
                <a:moveTo>
                  <a:pt x="0" y="0"/>
                </a:moveTo>
                <a:lnTo>
                  <a:pt x="62126" y="2093"/>
                </a:lnTo>
                <a:lnTo>
                  <a:pt x="112871" y="7794"/>
                </a:lnTo>
                <a:lnTo>
                  <a:pt x="147089" y="16234"/>
                </a:lnTo>
                <a:lnTo>
                  <a:pt x="159638" y="26542"/>
                </a:lnTo>
                <a:lnTo>
                  <a:pt x="159638" y="878713"/>
                </a:lnTo>
                <a:lnTo>
                  <a:pt x="172188" y="889021"/>
                </a:lnTo>
                <a:lnTo>
                  <a:pt x="206406" y="897461"/>
                </a:lnTo>
                <a:lnTo>
                  <a:pt x="257151" y="903162"/>
                </a:lnTo>
                <a:lnTo>
                  <a:pt x="319278" y="905255"/>
                </a:lnTo>
                <a:lnTo>
                  <a:pt x="257151" y="907349"/>
                </a:lnTo>
                <a:lnTo>
                  <a:pt x="206406" y="913050"/>
                </a:lnTo>
                <a:lnTo>
                  <a:pt x="172188" y="921490"/>
                </a:lnTo>
                <a:lnTo>
                  <a:pt x="159638" y="931799"/>
                </a:lnTo>
                <a:lnTo>
                  <a:pt x="159638" y="1783969"/>
                </a:lnTo>
                <a:lnTo>
                  <a:pt x="147089" y="1794277"/>
                </a:lnTo>
                <a:lnTo>
                  <a:pt x="112871" y="1802717"/>
                </a:lnTo>
                <a:lnTo>
                  <a:pt x="62126" y="1808418"/>
                </a:lnTo>
                <a:lnTo>
                  <a:pt x="0" y="1810512"/>
                </a:lnTo>
              </a:path>
            </a:pathLst>
          </a:custGeom>
          <a:ln w="25400">
            <a:solidFill>
              <a:srgbClr val="422D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80128" y="3333241"/>
            <a:ext cx="27844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style</a:t>
            </a:r>
            <a:r>
              <a:rPr sz="1800" spc="-10" dirty="0">
                <a:latin typeface="Times New Roman"/>
                <a:cs typeface="Times New Roman"/>
              </a:rPr>
              <a:t> information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enclosed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&lt;style&gt;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within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&lt;head&gt;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html </a:t>
            </a:r>
            <a:r>
              <a:rPr sz="1800" spc="-10" dirty="0">
                <a:latin typeface="Times New Roman"/>
                <a:cs typeface="Times New Roman"/>
              </a:rPr>
              <a:t>document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6040" y="3403980"/>
            <a:ext cx="1120775" cy="220345"/>
          </a:xfrm>
          <a:custGeom>
            <a:avLst/>
            <a:gdLst/>
            <a:ahLst/>
            <a:cxnLst/>
            <a:rect l="l" t="t" r="r" b="b"/>
            <a:pathLst>
              <a:path w="1120775" h="220345">
                <a:moveTo>
                  <a:pt x="77203" y="25135"/>
                </a:moveTo>
                <a:lnTo>
                  <a:pt x="73143" y="50175"/>
                </a:lnTo>
                <a:lnTo>
                  <a:pt x="1116584" y="219837"/>
                </a:lnTo>
                <a:lnTo>
                  <a:pt x="1120648" y="194818"/>
                </a:lnTo>
                <a:lnTo>
                  <a:pt x="77203" y="25135"/>
                </a:lnTo>
                <a:close/>
              </a:path>
              <a:path w="1120775" h="220345">
                <a:moveTo>
                  <a:pt x="81280" y="0"/>
                </a:moveTo>
                <a:lnTo>
                  <a:pt x="0" y="25400"/>
                </a:lnTo>
                <a:lnTo>
                  <a:pt x="69087" y="75184"/>
                </a:lnTo>
                <a:lnTo>
                  <a:pt x="73143" y="50175"/>
                </a:lnTo>
                <a:lnTo>
                  <a:pt x="60579" y="48133"/>
                </a:lnTo>
                <a:lnTo>
                  <a:pt x="64770" y="23114"/>
                </a:lnTo>
                <a:lnTo>
                  <a:pt x="77531" y="23114"/>
                </a:lnTo>
                <a:lnTo>
                  <a:pt x="81280" y="0"/>
                </a:lnTo>
                <a:close/>
              </a:path>
              <a:path w="1120775" h="220345">
                <a:moveTo>
                  <a:pt x="64770" y="23114"/>
                </a:moveTo>
                <a:lnTo>
                  <a:pt x="60579" y="48133"/>
                </a:lnTo>
                <a:lnTo>
                  <a:pt x="73143" y="50175"/>
                </a:lnTo>
                <a:lnTo>
                  <a:pt x="77161" y="25400"/>
                </a:lnTo>
                <a:lnTo>
                  <a:pt x="77203" y="25135"/>
                </a:lnTo>
                <a:lnTo>
                  <a:pt x="64770" y="23114"/>
                </a:lnTo>
                <a:close/>
              </a:path>
              <a:path w="1120775" h="220345">
                <a:moveTo>
                  <a:pt x="77531" y="23114"/>
                </a:moveTo>
                <a:lnTo>
                  <a:pt x="64770" y="23114"/>
                </a:lnTo>
                <a:lnTo>
                  <a:pt x="77203" y="25135"/>
                </a:lnTo>
                <a:lnTo>
                  <a:pt x="77531" y="23114"/>
                </a:lnTo>
                <a:close/>
              </a:path>
            </a:pathLst>
          </a:custGeom>
          <a:solidFill>
            <a:srgbClr val="42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0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CSS</a:t>
            </a:r>
            <a:r>
              <a:rPr sz="5400" spc="-160" dirty="0"/>
              <a:t> </a:t>
            </a:r>
            <a:r>
              <a:rPr sz="5400" dirty="0"/>
              <a:t>–</a:t>
            </a:r>
            <a:r>
              <a:rPr sz="5400" spc="-165" dirty="0"/>
              <a:t> </a:t>
            </a:r>
            <a:r>
              <a:rPr sz="5400" spc="-35" dirty="0"/>
              <a:t>Internal</a:t>
            </a:r>
            <a:r>
              <a:rPr sz="5400" spc="-185" dirty="0"/>
              <a:t> </a:t>
            </a:r>
            <a:r>
              <a:rPr sz="5400" spc="-30" dirty="0"/>
              <a:t>Style</a:t>
            </a:r>
            <a:r>
              <a:rPr sz="5400" spc="-160" dirty="0"/>
              <a:t> </a:t>
            </a:r>
            <a:r>
              <a:rPr sz="5400" spc="-10" dirty="0"/>
              <a:t>Sheets</a:t>
            </a:r>
            <a:endParaRPr sz="5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54886"/>
            <a:ext cx="8364220" cy="10312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170" dirty="0">
                <a:latin typeface="Times New Roman"/>
                <a:cs typeface="Times New Roman"/>
              </a:rPr>
              <a:t>Style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info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can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placed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inside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any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tag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(as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has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been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seen</a:t>
            </a:r>
            <a:r>
              <a:rPr sz="2800" spc="-40" dirty="0">
                <a:latin typeface="Times New Roman"/>
                <a:cs typeface="Times New Roman"/>
              </a:rPr>
              <a:t> earlier)</a:t>
            </a:r>
            <a:endParaRPr sz="28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135" dirty="0">
                <a:latin typeface="Times New Roman"/>
                <a:cs typeface="Times New Roman"/>
              </a:rPr>
              <a:t>Ex: </a:t>
            </a:r>
            <a:r>
              <a:rPr sz="2800" dirty="0">
                <a:latin typeface="Times New Roman"/>
                <a:cs typeface="Times New Roman"/>
              </a:rPr>
              <a:t>&lt;h1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style=“color:red;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text-</a:t>
            </a:r>
            <a:r>
              <a:rPr sz="2800" spc="-10" dirty="0">
                <a:latin typeface="Times New Roman"/>
                <a:cs typeface="Times New Roman"/>
              </a:rPr>
              <a:t>size:14px;”&gt;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40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CSS</a:t>
            </a:r>
            <a:r>
              <a:rPr sz="5400" spc="-165" dirty="0"/>
              <a:t> </a:t>
            </a:r>
            <a:r>
              <a:rPr sz="5400" dirty="0"/>
              <a:t>–</a:t>
            </a:r>
            <a:r>
              <a:rPr sz="5400" spc="-175" dirty="0"/>
              <a:t> </a:t>
            </a:r>
            <a:r>
              <a:rPr sz="5400" dirty="0"/>
              <a:t>Local</a:t>
            </a:r>
            <a:r>
              <a:rPr sz="5400" spc="-190" dirty="0"/>
              <a:t> </a:t>
            </a:r>
            <a:r>
              <a:rPr sz="5400" spc="-10" dirty="0"/>
              <a:t>Inline</a:t>
            </a:r>
            <a:r>
              <a:rPr sz="5400" spc="-170" dirty="0"/>
              <a:t> </a:t>
            </a:r>
            <a:r>
              <a:rPr sz="5400" spc="-10" dirty="0"/>
              <a:t>styles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40" dirty="0"/>
              <a:t> </a:t>
            </a:r>
            <a:r>
              <a:rPr sz="6000" dirty="0"/>
              <a:t>–</a:t>
            </a:r>
            <a:r>
              <a:rPr sz="6000" spc="-150" dirty="0"/>
              <a:t> </a:t>
            </a:r>
            <a:r>
              <a:rPr sz="6000" spc="-30" dirty="0"/>
              <a:t>Cascading</a:t>
            </a:r>
            <a:r>
              <a:rPr sz="6000" spc="-130" dirty="0"/>
              <a:t> </a:t>
            </a:r>
            <a:r>
              <a:rPr sz="6000" spc="-10" dirty="0"/>
              <a:t>Order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35940" y="985774"/>
            <a:ext cx="8397240" cy="4990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 marR="84455" indent="-28067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5115" algn="l"/>
              </a:tabLst>
            </a:pPr>
            <a:r>
              <a:rPr sz="3200" spc="-135" dirty="0">
                <a:latin typeface="Times New Roman"/>
                <a:cs typeface="Times New Roman"/>
              </a:rPr>
              <a:t>With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a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mix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internal,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external,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and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inline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style 	</a:t>
            </a:r>
            <a:r>
              <a:rPr sz="3200" spc="-120" dirty="0">
                <a:latin typeface="Times New Roman"/>
                <a:cs typeface="Times New Roman"/>
              </a:rPr>
              <a:t>information,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styles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will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be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applied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60" dirty="0">
                <a:latin typeface="Times New Roman"/>
                <a:cs typeface="Times New Roman"/>
              </a:rPr>
              <a:t>by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building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325" dirty="0">
                <a:latin typeface="Times New Roman"/>
                <a:cs typeface="Times New Roman"/>
              </a:rPr>
              <a:t>a 	</a:t>
            </a:r>
            <a:r>
              <a:rPr sz="3200" spc="-125" dirty="0">
                <a:latin typeface="Times New Roman"/>
                <a:cs typeface="Times New Roman"/>
              </a:rPr>
              <a:t>‘virtual’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style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sheet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considering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each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style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specification 	</a:t>
            </a:r>
            <a:r>
              <a:rPr sz="3200" spc="-155" dirty="0">
                <a:latin typeface="Times New Roman"/>
                <a:cs typeface="Times New Roman"/>
              </a:rPr>
              <a:t>in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following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priority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order:</a:t>
            </a:r>
            <a:endParaRPr sz="3200">
              <a:latin typeface="Times New Roman"/>
              <a:cs typeface="Times New Roman"/>
            </a:endParaRPr>
          </a:p>
          <a:p>
            <a:pPr marL="559435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9435" algn="l"/>
              </a:tabLst>
            </a:pPr>
            <a:r>
              <a:rPr sz="3200" spc="-170" dirty="0">
                <a:latin typeface="Times New Roman"/>
                <a:cs typeface="Times New Roman"/>
              </a:rPr>
              <a:t>Inline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style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(inside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an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HTML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element)</a:t>
            </a:r>
            <a:endParaRPr sz="3200">
              <a:latin typeface="Times New Roman"/>
              <a:cs typeface="Times New Roman"/>
            </a:endParaRPr>
          </a:p>
          <a:p>
            <a:pPr marL="558800" marR="24765" lvl="1" indent="-3016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spc="-135" dirty="0">
                <a:latin typeface="Times New Roman"/>
                <a:cs typeface="Times New Roman"/>
              </a:rPr>
              <a:t>External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and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internal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style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sheets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(in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head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section 	</a:t>
            </a:r>
            <a:r>
              <a:rPr sz="3200" spc="-200" dirty="0">
                <a:latin typeface="Times New Roman"/>
                <a:cs typeface="Times New Roman"/>
              </a:rPr>
              <a:t>using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order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of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links/style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sections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in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head)</a:t>
            </a:r>
            <a:endParaRPr sz="3200">
              <a:latin typeface="Times New Roman"/>
              <a:cs typeface="Times New Roman"/>
            </a:endParaRPr>
          </a:p>
          <a:p>
            <a:pPr marL="55880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8800" algn="l"/>
              </a:tabLst>
            </a:pPr>
            <a:r>
              <a:rPr sz="3200" spc="-175" dirty="0">
                <a:latin typeface="Times New Roman"/>
                <a:cs typeface="Times New Roman"/>
              </a:rPr>
              <a:t>More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specific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selectors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are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selected</a:t>
            </a:r>
            <a:endParaRPr sz="3200">
              <a:latin typeface="Times New Roman"/>
              <a:cs typeface="Times New Roman"/>
            </a:endParaRPr>
          </a:p>
          <a:p>
            <a:pPr marL="833119" marR="5080" lvl="2" indent="-263525">
              <a:lnSpc>
                <a:spcPct val="100000"/>
              </a:lnSpc>
              <a:spcBef>
                <a:spcPts val="45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4390" algn="l"/>
              </a:tabLst>
            </a:pPr>
            <a:r>
              <a:rPr sz="2800" spc="-160" dirty="0">
                <a:latin typeface="Times New Roman"/>
                <a:cs typeface="Times New Roman"/>
              </a:rPr>
              <a:t>For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example,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95" dirty="0">
                <a:latin typeface="Times New Roman"/>
                <a:cs typeface="Times New Roman"/>
              </a:rPr>
              <a:t>we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have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for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140" dirty="0">
                <a:latin typeface="Times New Roman"/>
                <a:cs typeface="Times New Roman"/>
              </a:rPr>
              <a:t>&lt;p&gt;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for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id1, 	</a:t>
            </a:r>
            <a:r>
              <a:rPr sz="2800" spc="-100" dirty="0">
                <a:latin typeface="Times New Roman"/>
                <a:cs typeface="Times New Roman"/>
              </a:rPr>
              <a:t>then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of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70" dirty="0">
                <a:latin typeface="Times New Roman"/>
                <a:cs typeface="Times New Roman"/>
              </a:rPr>
              <a:t>&lt;p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id=id1&gt;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will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of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id1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69964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50" dirty="0"/>
              <a:t> </a:t>
            </a:r>
            <a:r>
              <a:rPr sz="6000" dirty="0"/>
              <a:t>–</a:t>
            </a:r>
            <a:r>
              <a:rPr sz="6000" spc="-155" dirty="0"/>
              <a:t> </a:t>
            </a:r>
            <a:r>
              <a:rPr sz="6000" spc="-10" dirty="0"/>
              <a:t>Style</a:t>
            </a:r>
            <a:r>
              <a:rPr sz="6000" spc="-150" dirty="0"/>
              <a:t> </a:t>
            </a:r>
            <a:r>
              <a:rPr sz="6000" spc="-80" dirty="0"/>
              <a:t>Attributes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35940" y="887933"/>
            <a:ext cx="3241040" cy="45065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54545"/>
              <a:buFont typeface="Segoe UI Symbol"/>
              <a:buChar char="⚫"/>
              <a:tabLst>
                <a:tab pos="285115" algn="l"/>
              </a:tabLst>
            </a:pPr>
            <a:r>
              <a:rPr sz="4400" spc="-10" dirty="0">
                <a:latin typeface="Times New Roman"/>
                <a:cs typeface="Times New Roman"/>
              </a:rPr>
              <a:t>Colors</a:t>
            </a:r>
            <a:endParaRPr sz="440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54545"/>
              <a:buFont typeface="Segoe UI Symbol"/>
              <a:buChar char="⚫"/>
              <a:tabLst>
                <a:tab pos="285115" algn="l"/>
              </a:tabLst>
            </a:pPr>
            <a:r>
              <a:rPr sz="4400" spc="-280" dirty="0">
                <a:latin typeface="Times New Roman"/>
                <a:cs typeface="Times New Roman"/>
              </a:rPr>
              <a:t>Backgrounds</a:t>
            </a:r>
            <a:endParaRPr sz="440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54545"/>
              <a:buFont typeface="Segoe UI Symbol"/>
              <a:buChar char="⚫"/>
              <a:tabLst>
                <a:tab pos="285115" algn="l"/>
              </a:tabLst>
            </a:pPr>
            <a:r>
              <a:rPr sz="4400" spc="-75" dirty="0">
                <a:latin typeface="Times New Roman"/>
                <a:cs typeface="Times New Roman"/>
              </a:rPr>
              <a:t>Borders</a:t>
            </a:r>
            <a:endParaRPr sz="44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54545"/>
              <a:buFont typeface="Segoe UI Symbol"/>
              <a:buChar char="⚫"/>
              <a:tabLst>
                <a:tab pos="285115" algn="l"/>
              </a:tabLst>
            </a:pPr>
            <a:r>
              <a:rPr sz="4400" spc="-290" dirty="0">
                <a:latin typeface="Times New Roman"/>
                <a:cs typeface="Times New Roman"/>
              </a:rPr>
              <a:t>Margins</a:t>
            </a:r>
            <a:endParaRPr sz="440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54545"/>
              <a:buFont typeface="Segoe UI Symbol"/>
              <a:buChar char="⚫"/>
              <a:tabLst>
                <a:tab pos="285115" algn="l"/>
              </a:tabLst>
            </a:pPr>
            <a:r>
              <a:rPr sz="4400" spc="-290" dirty="0">
                <a:latin typeface="Times New Roman"/>
                <a:cs typeface="Times New Roman"/>
              </a:rPr>
              <a:t>Padding</a:t>
            </a:r>
            <a:endParaRPr sz="4400">
              <a:latin typeface="Times New Roman"/>
              <a:cs typeface="Times New Roman"/>
            </a:endParaRPr>
          </a:p>
          <a:p>
            <a:pPr marL="285115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54545"/>
              <a:buFont typeface="Segoe UI Symbol"/>
              <a:buChar char="⚫"/>
              <a:tabLst>
                <a:tab pos="285115" algn="l"/>
              </a:tabLst>
            </a:pPr>
            <a:r>
              <a:rPr sz="4400" spc="-90" dirty="0">
                <a:latin typeface="Times New Roman"/>
                <a:cs typeface="Times New Roman"/>
              </a:rPr>
              <a:t>Height/Width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35" dirty="0"/>
              <a:t> </a:t>
            </a:r>
            <a:r>
              <a:rPr sz="6000" dirty="0"/>
              <a:t>-</a:t>
            </a:r>
            <a:r>
              <a:rPr sz="6000" spc="-40" dirty="0"/>
              <a:t> </a:t>
            </a:r>
            <a:r>
              <a:rPr sz="6000" spc="-10" dirty="0"/>
              <a:t>Colors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612140" y="942644"/>
            <a:ext cx="6969759" cy="50596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495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120" dirty="0">
                <a:latin typeface="Times New Roman"/>
                <a:cs typeface="Times New Roman"/>
              </a:rPr>
              <a:t>Colors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can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specified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as:</a:t>
            </a:r>
            <a:endParaRPr sz="2800">
              <a:latin typeface="Times New Roman"/>
              <a:cs typeface="Times New Roman"/>
            </a:endParaRPr>
          </a:p>
          <a:p>
            <a:pPr marL="227329" marR="1434465" lvl="1" indent="-227329" algn="r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71428"/>
              <a:buFont typeface="Segoe UI Symbol"/>
              <a:buChar char="⚫"/>
              <a:tabLst>
                <a:tab pos="227329" algn="l"/>
              </a:tabLst>
            </a:pPr>
            <a:r>
              <a:rPr sz="2800" spc="-365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color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name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like</a:t>
            </a:r>
            <a:r>
              <a:rPr sz="2800" spc="-34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‘red’,</a:t>
            </a:r>
            <a:r>
              <a:rPr sz="2800" spc="-46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‘lightblue’,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etc</a:t>
            </a:r>
            <a:endParaRPr sz="2800">
              <a:latin typeface="Times New Roman"/>
              <a:cs typeface="Times New Roman"/>
            </a:endParaRPr>
          </a:p>
          <a:p>
            <a:pPr marL="227965" marR="1456055" lvl="2" indent="-227965" algn="r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227965" algn="l"/>
              </a:tabLst>
            </a:pPr>
            <a:r>
              <a:rPr sz="2400" spc="-210" dirty="0">
                <a:latin typeface="Times New Roman"/>
                <a:cs typeface="Times New Roman"/>
              </a:rPr>
              <a:t>HTML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supports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140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standard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color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names</a:t>
            </a:r>
            <a:endParaRPr sz="2400">
              <a:latin typeface="Times New Roman"/>
              <a:cs typeface="Times New Roman"/>
            </a:endParaRPr>
          </a:p>
          <a:p>
            <a:pPr marL="558800" lvl="1" indent="-227329">
              <a:lnSpc>
                <a:spcPct val="100000"/>
              </a:lnSpc>
              <a:spcBef>
                <a:spcPts val="345"/>
              </a:spcBef>
              <a:buClr>
                <a:srgbClr val="9B2C1F"/>
              </a:buClr>
              <a:buSzPct val="71428"/>
              <a:buFont typeface="Segoe UI Symbol"/>
              <a:buChar char="⚫"/>
              <a:tabLst>
                <a:tab pos="558800" algn="l"/>
              </a:tabLst>
            </a:pPr>
            <a:r>
              <a:rPr sz="2800" spc="-365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hex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value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#ff0000,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#000066,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833755" lvl="2" indent="-227965">
              <a:lnSpc>
                <a:spcPct val="100000"/>
              </a:lnSpc>
              <a:spcBef>
                <a:spcPts val="455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833755" algn="l"/>
              </a:tabLst>
            </a:pPr>
            <a:r>
              <a:rPr sz="2400" spc="-180" dirty="0">
                <a:latin typeface="Times New Roman"/>
                <a:cs typeface="Times New Roman"/>
              </a:rPr>
              <a:t>Rgb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values</a:t>
            </a:r>
            <a:endParaRPr sz="2400">
              <a:latin typeface="Times New Roman"/>
              <a:cs typeface="Times New Roman"/>
            </a:endParaRPr>
          </a:p>
          <a:p>
            <a:pPr marL="833755" lvl="2" indent="-22796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833755" algn="l"/>
              </a:tabLst>
            </a:pPr>
            <a:r>
              <a:rPr sz="2400" spc="-114" dirty="0">
                <a:latin typeface="Times New Roman"/>
                <a:cs typeface="Times New Roman"/>
              </a:rPr>
              <a:t>2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hex</a:t>
            </a:r>
            <a:r>
              <a:rPr sz="2400" spc="-29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‘nibbles’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per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color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giving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ranges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0-</a:t>
            </a:r>
            <a:r>
              <a:rPr sz="2400" spc="-110" dirty="0">
                <a:latin typeface="Times New Roman"/>
                <a:cs typeface="Times New Roman"/>
              </a:rPr>
              <a:t>255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each</a:t>
            </a:r>
            <a:endParaRPr sz="2400">
              <a:latin typeface="Times New Roman"/>
              <a:cs typeface="Times New Roman"/>
            </a:endParaRPr>
          </a:p>
          <a:p>
            <a:pPr marL="558800" lvl="1" indent="-227329">
              <a:lnSpc>
                <a:spcPct val="100000"/>
              </a:lnSpc>
              <a:spcBef>
                <a:spcPts val="345"/>
              </a:spcBef>
              <a:buClr>
                <a:srgbClr val="9B2C1F"/>
              </a:buClr>
              <a:buSzPct val="71428"/>
              <a:buFont typeface="Segoe UI Symbol"/>
              <a:buChar char="⚫"/>
              <a:tabLst>
                <a:tab pos="558800" algn="l"/>
              </a:tabLst>
            </a:pPr>
            <a:r>
              <a:rPr sz="2800" spc="-245" dirty="0">
                <a:latin typeface="Times New Roman"/>
                <a:cs typeface="Times New Roman"/>
              </a:rPr>
              <a:t>An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90" dirty="0">
                <a:latin typeface="Times New Roman"/>
                <a:cs typeface="Times New Roman"/>
              </a:rPr>
              <a:t>RGB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value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like:</a:t>
            </a:r>
            <a:r>
              <a:rPr sz="2800" spc="-1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rgb(255,0,0)</a:t>
            </a:r>
            <a:endParaRPr sz="2800">
              <a:latin typeface="Times New Roman"/>
              <a:cs typeface="Times New Roman"/>
            </a:endParaRPr>
          </a:p>
          <a:p>
            <a:pPr marL="833755" lvl="2" indent="-227965">
              <a:lnSpc>
                <a:spcPct val="100000"/>
              </a:lnSpc>
              <a:spcBef>
                <a:spcPts val="455"/>
              </a:spcBef>
              <a:buClr>
                <a:srgbClr val="E6B0AB"/>
              </a:buClr>
              <a:buSzPct val="83333"/>
              <a:buFont typeface="Segoe UI Symbol"/>
              <a:buChar char="⚫"/>
              <a:tabLst>
                <a:tab pos="833755" algn="l"/>
              </a:tabLst>
            </a:pPr>
            <a:r>
              <a:rPr sz="2400" spc="-204" dirty="0">
                <a:latin typeface="Times New Roman"/>
                <a:cs typeface="Times New Roman"/>
              </a:rPr>
              <a:t>Same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hex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values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but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with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decimal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numbers</a:t>
            </a:r>
            <a:endParaRPr sz="24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540"/>
              </a:spcBef>
              <a:buClr>
                <a:srgbClr val="D24717"/>
              </a:buClr>
              <a:buSzPct val="83928"/>
              <a:buFont typeface="Segoe UI Symbol"/>
              <a:buChar char="⚫"/>
              <a:tabLst>
                <a:tab pos="283845" algn="l"/>
              </a:tabLst>
            </a:pPr>
            <a:r>
              <a:rPr sz="2800" spc="-20" dirty="0"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  <a:p>
            <a:pPr marL="558800" lvl="1" indent="-227329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71428"/>
              <a:buFont typeface="Segoe UI Symbol"/>
              <a:buChar char="⚫"/>
              <a:tabLst>
                <a:tab pos="558800" algn="l"/>
              </a:tabLst>
            </a:pPr>
            <a:r>
              <a:rPr sz="2800" spc="-160" dirty="0">
                <a:latin typeface="Times New Roman"/>
                <a:cs typeface="Times New Roman"/>
              </a:rPr>
              <a:t>h1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{color:green;}</a:t>
            </a:r>
            <a:endParaRPr sz="2800">
              <a:latin typeface="Times New Roman"/>
              <a:cs typeface="Times New Roman"/>
            </a:endParaRPr>
          </a:p>
          <a:p>
            <a:pPr marL="558800" lvl="1" indent="-227329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71428"/>
              <a:buFont typeface="Segoe UI Symbol"/>
              <a:buChar char="⚫"/>
              <a:tabLst>
                <a:tab pos="558800" algn="l"/>
              </a:tabLst>
            </a:pPr>
            <a:r>
              <a:rPr sz="2800" spc="-130" dirty="0">
                <a:latin typeface="Times New Roman"/>
                <a:cs typeface="Times New Roman"/>
              </a:rPr>
              <a:t>p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{color: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red;}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60" dirty="0"/>
              <a:t> </a:t>
            </a:r>
            <a:r>
              <a:rPr sz="6000" dirty="0"/>
              <a:t>–</a:t>
            </a:r>
            <a:r>
              <a:rPr sz="6000" spc="-65" dirty="0"/>
              <a:t> </a:t>
            </a:r>
            <a:r>
              <a:rPr sz="6000" spc="-35" dirty="0"/>
              <a:t>Backgrounds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681990" y="919784"/>
            <a:ext cx="7766684" cy="20078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5115" indent="-281305">
              <a:lnSpc>
                <a:spcPct val="100000"/>
              </a:lnSpc>
              <a:spcBef>
                <a:spcPts val="500"/>
              </a:spcBef>
              <a:buClr>
                <a:srgbClr val="D24717"/>
              </a:buClr>
              <a:buSzPct val="62500"/>
              <a:buFont typeface="Segoe UI Symbol"/>
              <a:buChar char="⚫"/>
              <a:tabLst>
                <a:tab pos="285115" algn="l"/>
              </a:tabLst>
            </a:pPr>
            <a:r>
              <a:rPr sz="4000" spc="-210" dirty="0">
                <a:latin typeface="Times New Roman"/>
                <a:cs typeface="Times New Roman"/>
              </a:rPr>
              <a:t>Elements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250" dirty="0">
                <a:latin typeface="Times New Roman"/>
                <a:cs typeface="Times New Roman"/>
              </a:rPr>
              <a:t>can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325" dirty="0">
                <a:latin typeface="Times New Roman"/>
                <a:cs typeface="Times New Roman"/>
              </a:rPr>
              <a:t>have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175" dirty="0">
                <a:latin typeface="Times New Roman"/>
                <a:cs typeface="Times New Roman"/>
              </a:rPr>
              <a:t>different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170" dirty="0">
                <a:latin typeface="Times New Roman"/>
                <a:cs typeface="Times New Roman"/>
              </a:rPr>
              <a:t>backgrounds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10" dirty="0">
                <a:latin typeface="Times New Roman"/>
                <a:cs typeface="Times New Roman"/>
              </a:rPr>
              <a:t>Colors</a:t>
            </a:r>
            <a:endParaRPr sz="4000">
              <a:latin typeface="Times New Roman"/>
              <a:cs typeface="Times New Roman"/>
            </a:endParaRPr>
          </a:p>
          <a:p>
            <a:pPr marL="570865" lvl="1" indent="-3651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2500"/>
              <a:buFont typeface="Segoe UI Symbol"/>
              <a:buChar char="⚫"/>
              <a:tabLst>
                <a:tab pos="570865" algn="l"/>
              </a:tabLst>
            </a:pPr>
            <a:r>
              <a:rPr sz="4000" spc="-300" dirty="0">
                <a:latin typeface="Times New Roman"/>
                <a:cs typeface="Times New Roman"/>
              </a:rPr>
              <a:t>Images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786701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45" dirty="0"/>
              <a:t> </a:t>
            </a:r>
            <a:r>
              <a:rPr sz="6000" dirty="0"/>
              <a:t>–</a:t>
            </a:r>
            <a:r>
              <a:rPr sz="6000" spc="-155" dirty="0"/>
              <a:t> </a:t>
            </a:r>
            <a:r>
              <a:rPr sz="6000" spc="-40" dirty="0"/>
              <a:t>Background</a:t>
            </a:r>
            <a:r>
              <a:rPr sz="6000" spc="-140" dirty="0"/>
              <a:t> </a:t>
            </a:r>
            <a:r>
              <a:rPr sz="6000" spc="-10" dirty="0"/>
              <a:t>Color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681990" y="901953"/>
            <a:ext cx="7513955" cy="39954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8067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100" dirty="0">
                <a:latin typeface="Times New Roman"/>
                <a:cs typeface="Times New Roman"/>
              </a:rPr>
              <a:t>Attribute: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background-</a:t>
            </a:r>
            <a:r>
              <a:rPr sz="3600" spc="-10" dirty="0">
                <a:latin typeface="Times New Roman"/>
                <a:cs typeface="Times New Roman"/>
              </a:rPr>
              <a:t>color</a:t>
            </a:r>
            <a:endParaRPr sz="36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250" dirty="0">
                <a:latin typeface="Times New Roman"/>
                <a:cs typeface="Times New Roman"/>
              </a:rPr>
              <a:t>Value:</a:t>
            </a:r>
            <a:r>
              <a:rPr sz="3600" spc="-220" dirty="0">
                <a:latin typeface="Times New Roman"/>
                <a:cs typeface="Times New Roman"/>
              </a:rPr>
              <a:t> </a:t>
            </a:r>
            <a:r>
              <a:rPr sz="3600" spc="-140" dirty="0">
                <a:latin typeface="Times New Roman"/>
                <a:cs typeface="Times New Roman"/>
              </a:rPr>
              <a:t>description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210" dirty="0">
                <a:latin typeface="Times New Roman"/>
                <a:cs typeface="Times New Roman"/>
              </a:rPr>
              <a:t>of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colors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  <a:tab pos="1278255" algn="l"/>
              </a:tabLst>
            </a:pPr>
            <a:r>
              <a:rPr sz="3600" spc="-25" dirty="0">
                <a:latin typeface="Times New Roman"/>
                <a:cs typeface="Times New Roman"/>
              </a:rPr>
              <a:t>h1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60" dirty="0">
                <a:latin typeface="Times New Roman"/>
                <a:cs typeface="Times New Roman"/>
              </a:rPr>
              <a:t>{background-</a:t>
            </a:r>
            <a:r>
              <a:rPr sz="3600" spc="-120" dirty="0">
                <a:latin typeface="Times New Roman"/>
                <a:cs typeface="Times New Roman"/>
              </a:rPr>
              <a:t>color: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green;}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  <a:tab pos="1373505" algn="l"/>
              </a:tabLst>
            </a:pPr>
            <a:r>
              <a:rPr sz="3600" spc="-25" dirty="0">
                <a:latin typeface="Times New Roman"/>
                <a:cs typeface="Times New Roman"/>
              </a:rPr>
              <a:t>div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60" dirty="0">
                <a:latin typeface="Times New Roman"/>
                <a:cs typeface="Times New Roman"/>
              </a:rPr>
              <a:t>{background-</a:t>
            </a:r>
            <a:r>
              <a:rPr sz="3600" spc="-120" dirty="0">
                <a:latin typeface="Times New Roman"/>
                <a:cs typeface="Times New Roman"/>
              </a:rPr>
              <a:t>color: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#777700;}</a:t>
            </a:r>
            <a:endParaRPr sz="3600">
              <a:latin typeface="Times New Roman"/>
              <a:cs typeface="Times New Roman"/>
            </a:endParaRPr>
          </a:p>
          <a:p>
            <a:pPr marL="834390" marR="5080" lvl="2" indent="-302260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4375"/>
              <a:buFont typeface="Segoe UI Symbol"/>
              <a:buChar char="⚫"/>
              <a:tabLst>
                <a:tab pos="834390" algn="l"/>
              </a:tabLst>
            </a:pPr>
            <a:r>
              <a:rPr sz="3200" spc="-200" dirty="0">
                <a:latin typeface="Times New Roman"/>
                <a:cs typeface="Times New Roman"/>
              </a:rPr>
              <a:t>div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just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used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divide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page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into </a:t>
            </a:r>
            <a:r>
              <a:rPr sz="3200" spc="-170" dirty="0">
                <a:latin typeface="Times New Roman"/>
                <a:cs typeface="Times New Roman"/>
              </a:rPr>
              <a:t>subsections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no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other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structural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effect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the </a:t>
            </a:r>
            <a:r>
              <a:rPr sz="3200" spc="-20" dirty="0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85451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45" dirty="0"/>
              <a:t> </a:t>
            </a:r>
            <a:r>
              <a:rPr sz="6000" dirty="0"/>
              <a:t>–</a:t>
            </a:r>
            <a:r>
              <a:rPr sz="6000" spc="-155" dirty="0"/>
              <a:t> </a:t>
            </a:r>
            <a:r>
              <a:rPr sz="6000" spc="-40" dirty="0"/>
              <a:t>Background</a:t>
            </a:r>
            <a:r>
              <a:rPr sz="6000" spc="-140" dirty="0"/>
              <a:t> </a:t>
            </a:r>
            <a:r>
              <a:rPr sz="6000" spc="-55" dirty="0"/>
              <a:t>Images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499109" y="823917"/>
            <a:ext cx="8232140" cy="46704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7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75" dirty="0">
                <a:latin typeface="Times New Roman"/>
                <a:cs typeface="Times New Roman"/>
              </a:rPr>
              <a:t>Attribute: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background-</a:t>
            </a:r>
            <a:r>
              <a:rPr sz="2600" spc="-10" dirty="0">
                <a:latin typeface="Times New Roman"/>
                <a:cs typeface="Times New Roman"/>
              </a:rPr>
              <a:t>image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229" dirty="0">
                <a:latin typeface="Times New Roman"/>
                <a:cs typeface="Times New Roman"/>
              </a:rPr>
              <a:t>Value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usually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35" dirty="0">
                <a:latin typeface="Times New Roman"/>
                <a:cs typeface="Times New Roman"/>
              </a:rPr>
              <a:t>URL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graphic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file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0" dirty="0">
                <a:latin typeface="Times New Roman"/>
                <a:cs typeface="Times New Roman"/>
              </a:rPr>
              <a:t>Example: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60" dirty="0">
                <a:latin typeface="Times New Roman"/>
                <a:cs typeface="Times New Roman"/>
              </a:rPr>
              <a:t>body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{background-</a:t>
            </a:r>
            <a:r>
              <a:rPr sz="2400" spc="-125" dirty="0">
                <a:latin typeface="Times New Roman"/>
                <a:cs typeface="Times New Roman"/>
              </a:rPr>
              <a:t>image:</a:t>
            </a:r>
            <a:r>
              <a:rPr sz="2400" spc="-70" dirty="0">
                <a:latin typeface="Times New Roman"/>
                <a:cs typeface="Times New Roman"/>
              </a:rPr>
              <a:t> URL(“mountain.jpg”)}</a:t>
            </a:r>
            <a:endParaRPr sz="24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95" dirty="0">
                <a:latin typeface="Times New Roman"/>
                <a:cs typeface="Times New Roman"/>
              </a:rPr>
              <a:t>Images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positioned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within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element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70" dirty="0">
                <a:latin typeface="Times New Roman"/>
                <a:cs typeface="Times New Roman"/>
              </a:rPr>
              <a:t>Attribute: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background-</a:t>
            </a:r>
            <a:r>
              <a:rPr sz="2400" spc="-10" dirty="0">
                <a:latin typeface="Times New Roman"/>
                <a:cs typeface="Times New Roman"/>
              </a:rPr>
              <a:t>position:</a:t>
            </a:r>
            <a:endParaRPr sz="2400">
              <a:latin typeface="Times New Roman"/>
              <a:cs typeface="Times New Roman"/>
            </a:endParaRPr>
          </a:p>
          <a:p>
            <a:pPr marL="560070" marR="5080" lvl="1" indent="-23241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spc="-170" dirty="0">
                <a:latin typeface="Times New Roman"/>
                <a:cs typeface="Times New Roman"/>
              </a:rPr>
              <a:t>Value: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(horizontal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vertical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positioning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(left,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center,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right,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bottom, </a:t>
            </a:r>
            <a:r>
              <a:rPr sz="2400" spc="-85" dirty="0">
                <a:latin typeface="Times New Roman"/>
                <a:cs typeface="Times New Roman"/>
              </a:rPr>
              <a:t>center,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top))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0" dirty="0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 marL="60579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latin typeface="Times New Roman"/>
                <a:cs typeface="Times New Roman"/>
              </a:rPr>
              <a:t>&lt;!—</a:t>
            </a:r>
            <a:r>
              <a:rPr sz="2000" spc="-114" dirty="0">
                <a:latin typeface="Times New Roman"/>
                <a:cs typeface="Times New Roman"/>
              </a:rPr>
              <a:t>place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image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starting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upper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right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corner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Times New Roman"/>
                <a:cs typeface="Times New Roman"/>
              </a:rPr>
              <a:t>page’s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body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--</a:t>
            </a:r>
            <a:r>
              <a:rPr sz="2000" spc="150" dirty="0">
                <a:latin typeface="Times New Roman"/>
                <a:cs typeface="Times New Roman"/>
              </a:rPr>
              <a:t>&gt;</a:t>
            </a:r>
            <a:endParaRPr sz="2000">
              <a:latin typeface="Times New Roman"/>
              <a:cs typeface="Times New Roman"/>
            </a:endParaRPr>
          </a:p>
          <a:p>
            <a:pPr marL="605790">
              <a:lnSpc>
                <a:spcPct val="100000"/>
              </a:lnSpc>
              <a:spcBef>
                <a:spcPts val="395"/>
              </a:spcBef>
            </a:pPr>
            <a:r>
              <a:rPr sz="2000" spc="-125" dirty="0">
                <a:latin typeface="Times New Roman"/>
                <a:cs typeface="Times New Roman"/>
              </a:rPr>
              <a:t>body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{background-</a:t>
            </a:r>
            <a:r>
              <a:rPr sz="2000" spc="-105" dirty="0">
                <a:latin typeface="Times New Roman"/>
                <a:cs typeface="Times New Roman"/>
              </a:rPr>
              <a:t>image: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URL(“mountain.jpg”);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background-</a:t>
            </a:r>
            <a:r>
              <a:rPr sz="2000" spc="-80" dirty="0">
                <a:latin typeface="Times New Roman"/>
                <a:cs typeface="Times New Roman"/>
              </a:rPr>
              <a:t>position: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right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top}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0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3273"/>
            <a:ext cx="76904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CSS</a:t>
            </a:r>
            <a:r>
              <a:rPr sz="5400" spc="-120" dirty="0"/>
              <a:t> </a:t>
            </a:r>
            <a:r>
              <a:rPr sz="5400" dirty="0"/>
              <a:t>–</a:t>
            </a:r>
            <a:r>
              <a:rPr sz="5400" spc="-130" dirty="0"/>
              <a:t> </a:t>
            </a:r>
            <a:r>
              <a:rPr sz="5400" spc="-45" dirty="0"/>
              <a:t>Background</a:t>
            </a:r>
            <a:r>
              <a:rPr sz="5400" spc="-125" dirty="0"/>
              <a:t> </a:t>
            </a:r>
            <a:r>
              <a:rPr sz="5400" spc="-45" dirty="0"/>
              <a:t>Images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535940" y="656586"/>
            <a:ext cx="5981700" cy="54444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27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80" dirty="0">
                <a:latin typeface="Times New Roman"/>
                <a:cs typeface="Times New Roman"/>
              </a:rPr>
              <a:t>Images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repeated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two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small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cover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area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15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spc="-65" dirty="0">
                <a:latin typeface="Times New Roman"/>
                <a:cs typeface="Times New Roman"/>
              </a:rPr>
              <a:t>Attribute: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background-</a:t>
            </a:r>
            <a:r>
              <a:rPr sz="2200" spc="-10" dirty="0">
                <a:latin typeface="Times New Roman"/>
                <a:cs typeface="Times New Roman"/>
              </a:rPr>
              <a:t>repeat</a:t>
            </a:r>
            <a:endParaRPr sz="22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14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spc="-20" dirty="0">
                <a:latin typeface="Times New Roman"/>
                <a:cs typeface="Times New Roman"/>
              </a:rPr>
              <a:t>Values:</a:t>
            </a:r>
            <a:endParaRPr sz="22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204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b="1" dirty="0">
                <a:latin typeface="Times New Roman"/>
                <a:cs typeface="Times New Roman"/>
              </a:rPr>
              <a:t>repeat-</a:t>
            </a:r>
            <a:r>
              <a:rPr sz="1900" b="1" spc="95" dirty="0">
                <a:latin typeface="Times New Roman"/>
                <a:cs typeface="Times New Roman"/>
              </a:rPr>
              <a:t>x</a:t>
            </a:r>
            <a:r>
              <a:rPr sz="1900" b="1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Times New Roman"/>
                <a:cs typeface="Times New Roman"/>
              </a:rPr>
              <a:t>repeat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horizontally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10" dirty="0">
                <a:latin typeface="Times New Roman"/>
                <a:cs typeface="Times New Roman"/>
              </a:rPr>
              <a:t>across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area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b="1" dirty="0">
                <a:latin typeface="Times New Roman"/>
                <a:cs typeface="Times New Roman"/>
              </a:rPr>
              <a:t>repeat-y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Times New Roman"/>
                <a:cs typeface="Times New Roman"/>
              </a:rPr>
              <a:t>repeat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vertically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10" dirty="0">
                <a:latin typeface="Times New Roman"/>
                <a:cs typeface="Times New Roman"/>
              </a:rPr>
              <a:t>down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area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b="1" dirty="0">
                <a:latin typeface="Times New Roman"/>
                <a:cs typeface="Times New Roman"/>
              </a:rPr>
              <a:t>no-repeat</a:t>
            </a:r>
            <a:r>
              <a:rPr sz="1900" b="1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–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do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45" dirty="0">
                <a:latin typeface="Times New Roman"/>
                <a:cs typeface="Times New Roman"/>
              </a:rPr>
              <a:t>not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Times New Roman"/>
                <a:cs typeface="Times New Roman"/>
              </a:rPr>
              <a:t>repeat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image</a:t>
            </a:r>
            <a:endParaRPr sz="19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254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80" dirty="0">
                <a:latin typeface="Times New Roman"/>
                <a:cs typeface="Times New Roman"/>
              </a:rPr>
              <a:t>Images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scroll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with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page: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160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spc="-130" dirty="0">
                <a:latin typeface="Times New Roman"/>
                <a:cs typeface="Times New Roman"/>
              </a:rPr>
              <a:t>Background-</a:t>
            </a:r>
            <a:r>
              <a:rPr sz="2200" spc="-30" dirty="0">
                <a:latin typeface="Times New Roman"/>
                <a:cs typeface="Times New Roman"/>
              </a:rPr>
              <a:t>attachment:scroll</a:t>
            </a:r>
            <a:endParaRPr sz="22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2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specify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attributes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using</a:t>
            </a:r>
            <a:r>
              <a:rPr sz="2400" spc="-2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‘</a:t>
            </a:r>
            <a:r>
              <a:rPr sz="2400" b="1" spc="-10" dirty="0">
                <a:latin typeface="Times New Roman"/>
                <a:cs typeface="Times New Roman"/>
              </a:rPr>
              <a:t>background</a:t>
            </a:r>
            <a:r>
              <a:rPr sz="2400" spc="-10" dirty="0">
                <a:latin typeface="Times New Roman"/>
                <a:cs typeface="Times New Roman"/>
              </a:rPr>
              <a:t>:’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ct val="100000"/>
              </a:lnSpc>
              <a:spcBef>
                <a:spcPts val="155"/>
              </a:spcBef>
              <a:buClr>
                <a:srgbClr val="9B2C1F"/>
              </a:buClr>
              <a:buSzPct val="84090"/>
              <a:buFont typeface="Segoe UI Symbol"/>
              <a:buChar char="⚫"/>
              <a:tabLst>
                <a:tab pos="560705" algn="l"/>
              </a:tabLst>
            </a:pPr>
            <a:r>
              <a:rPr sz="2200" spc="-190" dirty="0">
                <a:latin typeface="Times New Roman"/>
                <a:cs typeface="Times New Roman"/>
              </a:rPr>
              <a:t>Values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background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must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be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this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order:</a:t>
            </a:r>
            <a:endParaRPr sz="2200">
              <a:latin typeface="Times New Roman"/>
              <a:cs typeface="Times New Roman"/>
            </a:endParaRPr>
          </a:p>
          <a:p>
            <a:pPr marL="1050290" lvl="2" indent="-444500">
              <a:lnSpc>
                <a:spcPct val="100000"/>
              </a:lnSpc>
              <a:spcBef>
                <a:spcPts val="21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1050290" algn="l"/>
              </a:tabLst>
            </a:pPr>
            <a:r>
              <a:rPr sz="1900" spc="-95" dirty="0">
                <a:latin typeface="Times New Roman"/>
                <a:cs typeface="Times New Roman"/>
              </a:rPr>
              <a:t>background-</a:t>
            </a:r>
            <a:r>
              <a:rPr sz="1900" spc="-10" dirty="0">
                <a:latin typeface="Times New Roman"/>
                <a:cs typeface="Times New Roman"/>
              </a:rPr>
              <a:t>color</a:t>
            </a:r>
            <a:endParaRPr sz="1900">
              <a:latin typeface="Times New Roman"/>
              <a:cs typeface="Times New Roman"/>
            </a:endParaRPr>
          </a:p>
          <a:p>
            <a:pPr marL="1050290" lvl="2" indent="-444500">
              <a:lnSpc>
                <a:spcPct val="100000"/>
              </a:lnSpc>
              <a:spcBef>
                <a:spcPts val="17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1050290" algn="l"/>
              </a:tabLst>
            </a:pPr>
            <a:r>
              <a:rPr sz="1900" spc="-100" dirty="0">
                <a:latin typeface="Times New Roman"/>
                <a:cs typeface="Times New Roman"/>
              </a:rPr>
              <a:t>background-</a:t>
            </a:r>
            <a:r>
              <a:rPr sz="1900" spc="-10" dirty="0">
                <a:latin typeface="Times New Roman"/>
                <a:cs typeface="Times New Roman"/>
              </a:rPr>
              <a:t>image</a:t>
            </a:r>
            <a:endParaRPr sz="1900">
              <a:latin typeface="Times New Roman"/>
              <a:cs typeface="Times New Roman"/>
            </a:endParaRPr>
          </a:p>
          <a:p>
            <a:pPr marL="1050290" lvl="2" indent="-444500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1050290" algn="l"/>
              </a:tabLst>
            </a:pPr>
            <a:r>
              <a:rPr sz="1900" spc="-95" dirty="0">
                <a:latin typeface="Times New Roman"/>
                <a:cs typeface="Times New Roman"/>
              </a:rPr>
              <a:t>background-</a:t>
            </a:r>
            <a:r>
              <a:rPr sz="1900" spc="-10" dirty="0">
                <a:latin typeface="Times New Roman"/>
                <a:cs typeface="Times New Roman"/>
              </a:rPr>
              <a:t>repeat</a:t>
            </a:r>
            <a:endParaRPr sz="1900">
              <a:latin typeface="Times New Roman"/>
              <a:cs typeface="Times New Roman"/>
            </a:endParaRPr>
          </a:p>
          <a:p>
            <a:pPr marL="1050290" lvl="2" indent="-444500">
              <a:lnSpc>
                <a:spcPct val="100000"/>
              </a:lnSpc>
              <a:spcBef>
                <a:spcPts val="175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1050290" algn="l"/>
              </a:tabLst>
            </a:pPr>
            <a:r>
              <a:rPr sz="1900" spc="-95" dirty="0">
                <a:latin typeface="Times New Roman"/>
                <a:cs typeface="Times New Roman"/>
              </a:rPr>
              <a:t>background-</a:t>
            </a:r>
            <a:r>
              <a:rPr sz="1900" spc="-10" dirty="0">
                <a:latin typeface="Times New Roman"/>
                <a:cs typeface="Times New Roman"/>
              </a:rPr>
              <a:t>attachment</a:t>
            </a:r>
            <a:endParaRPr sz="1900">
              <a:latin typeface="Times New Roman"/>
              <a:cs typeface="Times New Roman"/>
            </a:endParaRPr>
          </a:p>
          <a:p>
            <a:pPr marL="1050290" lvl="2" indent="-444500">
              <a:lnSpc>
                <a:spcPct val="100000"/>
              </a:lnSpc>
              <a:spcBef>
                <a:spcPts val="17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1050290" algn="l"/>
              </a:tabLst>
            </a:pPr>
            <a:r>
              <a:rPr sz="1900" spc="-95" dirty="0">
                <a:latin typeface="Times New Roman"/>
                <a:cs typeface="Times New Roman"/>
              </a:rPr>
              <a:t>background-</a:t>
            </a:r>
            <a:r>
              <a:rPr sz="1900" spc="-10" dirty="0">
                <a:latin typeface="Times New Roman"/>
                <a:cs typeface="Times New Roman"/>
              </a:rPr>
              <a:t>position</a:t>
            </a:r>
            <a:endParaRPr sz="1900">
              <a:latin typeface="Times New Roman"/>
              <a:cs typeface="Times New Roman"/>
            </a:endParaRPr>
          </a:p>
          <a:p>
            <a:pPr marL="833119" lvl="2" indent="-227329">
              <a:lnSpc>
                <a:spcPct val="100000"/>
              </a:lnSpc>
              <a:spcBef>
                <a:spcPts val="170"/>
              </a:spcBef>
              <a:buClr>
                <a:srgbClr val="E6B0AB"/>
              </a:buClr>
              <a:buSzPct val="84210"/>
              <a:buFont typeface="Segoe UI Symbol"/>
              <a:buChar char="⚫"/>
              <a:tabLst>
                <a:tab pos="833119" algn="l"/>
              </a:tabLst>
            </a:pPr>
            <a:r>
              <a:rPr sz="1900" spc="-10" dirty="0">
                <a:latin typeface="Times New Roman"/>
                <a:cs typeface="Times New Roman"/>
              </a:rPr>
              <a:t>Example: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9538" y="6140792"/>
            <a:ext cx="591439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sz="1900" spc="-120" dirty="0">
                <a:latin typeface="Times New Roman"/>
                <a:cs typeface="Times New Roman"/>
              </a:rPr>
              <a:t>body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80" dirty="0">
                <a:latin typeface="Times New Roman"/>
                <a:cs typeface="Times New Roman"/>
              </a:rPr>
              <a:t>{background: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10" dirty="0">
                <a:latin typeface="Times New Roman"/>
                <a:cs typeface="Times New Roman"/>
              </a:rPr>
              <a:t>URL(“mountain.jpg”)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Times New Roman"/>
                <a:cs typeface="Times New Roman"/>
              </a:rPr>
              <a:t>repeat-</a:t>
            </a:r>
            <a:r>
              <a:rPr sz="1900" spc="-90" dirty="0">
                <a:latin typeface="Times New Roman"/>
                <a:cs typeface="Times New Roman"/>
              </a:rPr>
              <a:t>x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scroll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Times New Roman"/>
                <a:cs typeface="Times New Roman"/>
              </a:rPr>
              <a:t>right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top}</a:t>
            </a:r>
            <a:endParaRPr sz="1900" dirty="0">
              <a:latin typeface="Times New Roman"/>
              <a:cs typeface="Times New Roman"/>
            </a:endParaRPr>
          </a:p>
          <a:p>
            <a:pPr marL="2425700">
              <a:lnSpc>
                <a:spcPct val="100000"/>
              </a:lnSpc>
              <a:spcBef>
                <a:spcPts val="645"/>
              </a:spcBef>
            </a:pPr>
            <a:r>
              <a:rPr sz="1000" dirty="0">
                <a:latin typeface="Arial MT"/>
                <a:cs typeface="Arial MT"/>
              </a:rPr>
              <a:t>(</a:t>
            </a:r>
            <a:r>
              <a:rPr lang="en-IN" sz="1000" dirty="0">
                <a:latin typeface="Arial MT"/>
                <a:cs typeface="Arial MT"/>
              </a:rPr>
              <a:t> 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25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Borders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040" y="996441"/>
            <a:ext cx="8452485" cy="5406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marR="530860" indent="-271145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97815" algn="l"/>
              </a:tabLst>
            </a:pPr>
            <a:r>
              <a:rPr sz="2600" spc="-295" dirty="0">
                <a:latin typeface="Times New Roman"/>
                <a:cs typeface="Times New Roman"/>
              </a:rPr>
              <a:t>CSS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allows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specification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style,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width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color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element 	</a:t>
            </a:r>
            <a:r>
              <a:rPr sz="2600" spc="-10" dirty="0">
                <a:latin typeface="Times New Roman"/>
                <a:cs typeface="Times New Roman"/>
              </a:rPr>
              <a:t>borders</a:t>
            </a:r>
            <a:endParaRPr sz="2600">
              <a:latin typeface="Times New Roman"/>
              <a:cs typeface="Times New Roman"/>
            </a:endParaRPr>
          </a:p>
          <a:p>
            <a:pPr marL="2965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96545" algn="l"/>
              </a:tabLst>
            </a:pPr>
            <a:r>
              <a:rPr sz="2600" spc="-10" dirty="0">
                <a:latin typeface="Times New Roman"/>
                <a:cs typeface="Times New Roman"/>
              </a:rPr>
              <a:t>Attributes:</a:t>
            </a:r>
            <a:endParaRPr sz="2600">
              <a:latin typeface="Times New Roman"/>
              <a:cs typeface="Times New Roman"/>
            </a:endParaRPr>
          </a:p>
          <a:p>
            <a:pPr marL="572770" marR="17780" lvl="1" indent="-23241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72770" algn="l"/>
              </a:tabLst>
            </a:pPr>
            <a:r>
              <a:rPr sz="2400" b="1" dirty="0">
                <a:latin typeface="Times New Roman"/>
                <a:cs typeface="Times New Roman"/>
              </a:rPr>
              <a:t>border-style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20" dirty="0">
                <a:latin typeface="Times New Roman"/>
                <a:cs typeface="Times New Roman"/>
              </a:rPr>
              <a:t> style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keyword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includes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dotted,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dashed,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solid,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double, </a:t>
            </a:r>
            <a:r>
              <a:rPr sz="2400" spc="-114" dirty="0">
                <a:latin typeface="Times New Roman"/>
                <a:cs typeface="Times New Roman"/>
              </a:rPr>
              <a:t>groove,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ridge,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inset,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outset,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none,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hidden}</a:t>
            </a:r>
            <a:endParaRPr sz="2400">
              <a:latin typeface="Times New Roman"/>
              <a:cs typeface="Times New Roman"/>
            </a:endParaRPr>
          </a:p>
          <a:p>
            <a:pPr marL="845819" lvl="2" indent="-227329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45819" algn="l"/>
              </a:tabLst>
            </a:pPr>
            <a:r>
              <a:rPr sz="2000" spc="-50" dirty="0">
                <a:latin typeface="Times New Roman"/>
                <a:cs typeface="Times New Roman"/>
              </a:rPr>
              <a:t>One </a:t>
            </a:r>
            <a:r>
              <a:rPr sz="2000" spc="-125" dirty="0">
                <a:latin typeface="Times New Roman"/>
                <a:cs typeface="Times New Roman"/>
              </a:rPr>
              <a:t>value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–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Applies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all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4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sides</a:t>
            </a:r>
            <a:endParaRPr sz="2000">
              <a:latin typeface="Times New Roman"/>
              <a:cs typeface="Times New Roman"/>
            </a:endParaRPr>
          </a:p>
          <a:p>
            <a:pPr marL="845819" lvl="2" indent="-227329">
              <a:lnSpc>
                <a:spcPct val="100000"/>
              </a:lnSpc>
              <a:spcBef>
                <a:spcPts val="39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45819" algn="l"/>
              </a:tabLst>
            </a:pPr>
            <a:r>
              <a:rPr sz="2000" spc="-210" dirty="0">
                <a:latin typeface="Times New Roman"/>
                <a:cs typeface="Times New Roman"/>
              </a:rPr>
              <a:t>Two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values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1950" baseline="25641" dirty="0">
                <a:latin typeface="Times New Roman"/>
                <a:cs typeface="Times New Roman"/>
              </a:rPr>
              <a:t>st</a:t>
            </a:r>
            <a:r>
              <a:rPr sz="1950" spc="120" baseline="25641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applies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top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and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bottom,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</a:t>
            </a:r>
            <a:r>
              <a:rPr sz="1950" spc="-15" baseline="25641" dirty="0">
                <a:latin typeface="Times New Roman"/>
                <a:cs typeface="Times New Roman"/>
              </a:rPr>
              <a:t>nd</a:t>
            </a:r>
            <a:r>
              <a:rPr sz="1950" spc="157" baseline="25641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applies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left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and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right</a:t>
            </a:r>
            <a:endParaRPr sz="2000">
              <a:latin typeface="Times New Roman"/>
              <a:cs typeface="Times New Roman"/>
            </a:endParaRPr>
          </a:p>
          <a:p>
            <a:pPr marL="845819" lvl="2" indent="-227329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45819" algn="l"/>
              </a:tabLst>
            </a:pPr>
            <a:r>
              <a:rPr sz="2000" spc="-85" dirty="0">
                <a:latin typeface="Times New Roman"/>
                <a:cs typeface="Times New Roman"/>
              </a:rPr>
              <a:t>Three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values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1950" baseline="25641" dirty="0">
                <a:latin typeface="Times New Roman"/>
                <a:cs typeface="Times New Roman"/>
              </a:rPr>
              <a:t>st</a:t>
            </a:r>
            <a:r>
              <a:rPr sz="1950" spc="-30" baseline="25641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applies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top,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</a:t>
            </a:r>
            <a:r>
              <a:rPr sz="1950" spc="-15" baseline="25641" dirty="0">
                <a:latin typeface="Times New Roman"/>
                <a:cs typeface="Times New Roman"/>
              </a:rPr>
              <a:t>nd</a:t>
            </a:r>
            <a:r>
              <a:rPr sz="1950" spc="150" baseline="25641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applies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left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and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right,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1950" baseline="25641" dirty="0">
                <a:latin typeface="Times New Roman"/>
                <a:cs typeface="Times New Roman"/>
              </a:rPr>
              <a:t>rd</a:t>
            </a:r>
            <a:r>
              <a:rPr sz="1950" spc="157" baseline="25641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applies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bottom</a:t>
            </a:r>
            <a:endParaRPr sz="2000">
              <a:latin typeface="Times New Roman"/>
              <a:cs typeface="Times New Roman"/>
            </a:endParaRPr>
          </a:p>
          <a:p>
            <a:pPr marL="845819" lvl="2" indent="-227329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45819" algn="l"/>
              </a:tabLst>
            </a:pPr>
            <a:r>
              <a:rPr sz="2000" spc="-114" dirty="0">
                <a:latin typeface="Times New Roman"/>
                <a:cs typeface="Times New Roman"/>
              </a:rPr>
              <a:t>Four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values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–</a:t>
            </a:r>
            <a:r>
              <a:rPr sz="2000" spc="-285" dirty="0">
                <a:latin typeface="Times New Roman"/>
                <a:cs typeface="Times New Roman"/>
              </a:rPr>
              <a:t> </a:t>
            </a:r>
            <a:r>
              <a:rPr sz="2000" spc="-175" dirty="0">
                <a:latin typeface="Times New Roman"/>
                <a:cs typeface="Times New Roman"/>
              </a:rPr>
              <a:t>Values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Times New Roman"/>
                <a:cs typeface="Times New Roman"/>
              </a:rPr>
              <a:t>applied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top,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right,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bottom,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left</a:t>
            </a:r>
            <a:endParaRPr sz="2000">
              <a:latin typeface="Times New Roman"/>
              <a:cs typeface="Times New Roman"/>
            </a:endParaRPr>
          </a:p>
          <a:p>
            <a:pPr marL="572135" lvl="1" indent="-231775">
              <a:lnSpc>
                <a:spcPct val="100000"/>
              </a:lnSpc>
              <a:spcBef>
                <a:spcPts val="34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72135" algn="l"/>
              </a:tabLst>
            </a:pPr>
            <a:r>
              <a:rPr sz="2400" b="1" dirty="0">
                <a:latin typeface="Times New Roman"/>
                <a:cs typeface="Times New Roman"/>
              </a:rPr>
              <a:t>border-width</a:t>
            </a:r>
            <a:r>
              <a:rPr sz="2400" b="1" spc="1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45819" lvl="2" indent="-227329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45819" algn="l"/>
              </a:tabLst>
            </a:pPr>
            <a:r>
              <a:rPr sz="2000" spc="-180" dirty="0">
                <a:latin typeface="Times New Roman"/>
                <a:cs typeface="Times New Roman"/>
              </a:rPr>
              <a:t>Value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35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be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specified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pt,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px,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cm,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em</a:t>
            </a:r>
            <a:endParaRPr sz="2000">
              <a:latin typeface="Times New Roman"/>
              <a:cs typeface="Times New Roman"/>
            </a:endParaRPr>
          </a:p>
          <a:p>
            <a:pPr marL="845819" lvl="2" indent="-227329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45819" algn="l"/>
              </a:tabLst>
            </a:pPr>
            <a:r>
              <a:rPr sz="2000" spc="-180" dirty="0">
                <a:latin typeface="Times New Roman"/>
                <a:cs typeface="Times New Roman"/>
              </a:rPr>
              <a:t>Value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14" dirty="0">
                <a:latin typeface="Times New Roman"/>
                <a:cs typeface="Times New Roman"/>
              </a:rPr>
              <a:t>use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3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Times New Roman"/>
                <a:cs typeface="Times New Roman"/>
              </a:rPr>
              <a:t>keywords: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thin,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medium,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thick</a:t>
            </a:r>
            <a:endParaRPr sz="2000">
              <a:latin typeface="Times New Roman"/>
              <a:cs typeface="Times New Roman"/>
            </a:endParaRPr>
          </a:p>
          <a:p>
            <a:pPr marL="572135" lvl="1" indent="-231775">
              <a:lnSpc>
                <a:spcPct val="100000"/>
              </a:lnSpc>
              <a:spcBef>
                <a:spcPts val="34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72135" algn="l"/>
              </a:tabLst>
            </a:pPr>
            <a:r>
              <a:rPr sz="2400" b="1" dirty="0">
                <a:latin typeface="Times New Roman"/>
                <a:cs typeface="Times New Roman"/>
              </a:rPr>
              <a:t>border-</a:t>
            </a:r>
            <a:r>
              <a:rPr sz="2400" b="1" spc="-10" dirty="0">
                <a:latin typeface="Times New Roman"/>
                <a:cs typeface="Times New Roman"/>
              </a:rPr>
              <a:t>color</a:t>
            </a:r>
            <a:endParaRPr sz="2400">
              <a:latin typeface="Times New Roman"/>
              <a:cs typeface="Times New Roman"/>
            </a:endParaRPr>
          </a:p>
          <a:p>
            <a:pPr marL="845819" lvl="2" indent="-227329">
              <a:lnSpc>
                <a:spcPct val="100000"/>
              </a:lnSpc>
              <a:spcBef>
                <a:spcPts val="459"/>
              </a:spcBef>
              <a:buClr>
                <a:srgbClr val="E6B0AB"/>
              </a:buClr>
              <a:buSzPct val="85000"/>
              <a:buFont typeface="Segoe UI Symbol"/>
              <a:buChar char="⚫"/>
              <a:tabLst>
                <a:tab pos="845819" algn="l"/>
              </a:tabLst>
            </a:pPr>
            <a:r>
              <a:rPr sz="2000" spc="-145" dirty="0">
                <a:latin typeface="Times New Roman"/>
                <a:cs typeface="Times New Roman"/>
              </a:rPr>
              <a:t>Values: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50" dirty="0">
                <a:latin typeface="Times New Roman"/>
                <a:cs typeface="Times New Roman"/>
              </a:rPr>
              <a:t>See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Colors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earlier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talk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125730"/>
            <a:ext cx="485838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25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Borders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762221"/>
            <a:ext cx="8325484" cy="51244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50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60" dirty="0">
                <a:latin typeface="Times New Roman"/>
                <a:cs typeface="Times New Roman"/>
              </a:rPr>
              <a:t>Shorthands:</a:t>
            </a:r>
            <a:endParaRPr sz="3200">
              <a:latin typeface="Times New Roman"/>
              <a:cs typeface="Times New Roman"/>
            </a:endParaRPr>
          </a:p>
          <a:p>
            <a:pPr marL="558800" marR="508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b="1" dirty="0">
                <a:latin typeface="Times New Roman"/>
                <a:cs typeface="Times New Roman"/>
              </a:rPr>
              <a:t>border-left-style,</a:t>
            </a:r>
            <a:r>
              <a:rPr sz="3200" b="1" spc="1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border-right-style,</a:t>
            </a:r>
            <a:r>
              <a:rPr sz="3200" b="1" spc="13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border- 	</a:t>
            </a:r>
            <a:r>
              <a:rPr sz="3200" b="1" spc="75" dirty="0">
                <a:latin typeface="Times New Roman"/>
                <a:cs typeface="Times New Roman"/>
              </a:rPr>
              <a:t>top-</a:t>
            </a:r>
            <a:r>
              <a:rPr sz="3200" b="1" dirty="0">
                <a:latin typeface="Times New Roman"/>
                <a:cs typeface="Times New Roman"/>
              </a:rPr>
              <a:t>style,</a:t>
            </a:r>
            <a:r>
              <a:rPr sz="3200" b="1" spc="2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border-bottom-</a:t>
            </a:r>
            <a:r>
              <a:rPr sz="3200" b="1" spc="-10" dirty="0">
                <a:latin typeface="Times New Roman"/>
                <a:cs typeface="Times New Roman"/>
              </a:rPr>
              <a:t>style</a:t>
            </a:r>
            <a:endParaRPr sz="3200">
              <a:latin typeface="Times New Roman"/>
              <a:cs typeface="Times New Roman"/>
            </a:endParaRPr>
          </a:p>
          <a:p>
            <a:pPr marL="559435" lvl="1" indent="-3016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9435" algn="l"/>
              </a:tabLst>
            </a:pPr>
            <a:r>
              <a:rPr sz="3200" spc="-270" dirty="0">
                <a:latin typeface="Times New Roman"/>
                <a:cs typeface="Times New Roman"/>
              </a:rPr>
              <a:t>Same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for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border-</a:t>
            </a:r>
            <a:r>
              <a:rPr sz="3200" b="1" spc="125" dirty="0">
                <a:latin typeface="Times New Roman"/>
                <a:cs typeface="Times New Roman"/>
              </a:rPr>
              <a:t>x-</a:t>
            </a:r>
            <a:r>
              <a:rPr sz="3200" b="1" spc="50" dirty="0">
                <a:latin typeface="Times New Roman"/>
                <a:cs typeface="Times New Roman"/>
              </a:rPr>
              <a:t>width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border-</a:t>
            </a:r>
            <a:r>
              <a:rPr sz="3200" b="1" spc="125" dirty="0">
                <a:latin typeface="Times New Roman"/>
                <a:cs typeface="Times New Roman"/>
              </a:rPr>
              <a:t>x-</a:t>
            </a:r>
            <a:r>
              <a:rPr sz="3200" b="1" spc="40" dirty="0">
                <a:latin typeface="Times New Roman"/>
                <a:cs typeface="Times New Roman"/>
              </a:rPr>
              <a:t>color</a:t>
            </a:r>
            <a:endParaRPr sz="3200">
              <a:latin typeface="Times New Roman"/>
              <a:cs typeface="Times New Roman"/>
            </a:endParaRPr>
          </a:p>
          <a:p>
            <a:pPr marL="558800" lvl="1" indent="-3016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8800" algn="l"/>
              </a:tabLst>
            </a:pPr>
            <a:r>
              <a:rPr sz="3200" b="1" dirty="0">
                <a:latin typeface="Times New Roman"/>
                <a:cs typeface="Times New Roman"/>
              </a:rPr>
              <a:t>border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handles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all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3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attributes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in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order:</a:t>
            </a:r>
            <a:endParaRPr sz="32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5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0" dirty="0">
                <a:latin typeface="Times New Roman"/>
                <a:cs typeface="Times New Roman"/>
              </a:rPr>
              <a:t>width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35" dirty="0">
                <a:latin typeface="Times New Roman"/>
                <a:cs typeface="Times New Roman"/>
              </a:rPr>
              <a:t>style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(required)</a:t>
            </a:r>
            <a:endParaRPr sz="28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00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0" dirty="0">
                <a:latin typeface="Times New Roman"/>
                <a:cs typeface="Times New Roman"/>
              </a:rPr>
              <a:t>color</a:t>
            </a:r>
            <a:endParaRPr sz="2800">
              <a:latin typeface="Times New Roman"/>
              <a:cs typeface="Times New Roman"/>
            </a:endParaRPr>
          </a:p>
          <a:p>
            <a:pPr marL="559435" lvl="1" indent="-301625">
              <a:lnSpc>
                <a:spcPct val="100000"/>
              </a:lnSpc>
              <a:spcBef>
                <a:spcPts val="34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9435" algn="l"/>
              </a:tabLst>
            </a:pPr>
            <a:r>
              <a:rPr sz="3200" spc="-45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  <a:p>
            <a:pPr marL="833119" lvl="2" indent="-263525">
              <a:lnSpc>
                <a:spcPct val="100000"/>
              </a:lnSpc>
              <a:spcBef>
                <a:spcPts val="455"/>
              </a:spcBef>
              <a:buClr>
                <a:srgbClr val="E6B0AB"/>
              </a:buClr>
              <a:buSzPct val="83928"/>
              <a:buFont typeface="Segoe UI Symbol"/>
              <a:buChar char="⚫"/>
              <a:tabLst>
                <a:tab pos="833119" algn="l"/>
              </a:tabLst>
            </a:pPr>
            <a:r>
              <a:rPr sz="2800" spc="-160" dirty="0">
                <a:latin typeface="Times New Roman"/>
                <a:cs typeface="Times New Roman"/>
              </a:rPr>
              <a:t>h1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{border: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5px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solid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orange}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25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Borders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938784"/>
            <a:ext cx="778637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&lt;!DOCTYPE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html&gt;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&lt;html&gt;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&lt;head&gt;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&lt;style&gt;</a:t>
            </a:r>
            <a:endParaRPr sz="2000">
              <a:latin typeface="Times New Roman"/>
              <a:cs typeface="Times New Roman"/>
            </a:endParaRPr>
          </a:p>
          <a:p>
            <a:pPr marL="12700" marR="437197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h2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border: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10px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dashed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green;}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border: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5px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solid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red;}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&lt;/style&gt;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&lt;/head&gt;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&lt;body&gt;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&lt;h2&gt;The border</a:t>
            </a:r>
            <a:r>
              <a:rPr sz="2000" spc="-10" dirty="0">
                <a:latin typeface="Times New Roman"/>
                <a:cs typeface="Times New Roman"/>
              </a:rPr>
              <a:t> Property&lt;/h2&gt;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&lt;p&gt;This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shorthand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property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border-</a:t>
            </a:r>
            <a:r>
              <a:rPr sz="2000" dirty="0">
                <a:latin typeface="Times New Roman"/>
                <a:cs typeface="Times New Roman"/>
              </a:rPr>
              <a:t>width,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border-</a:t>
            </a:r>
            <a:r>
              <a:rPr sz="2000" dirty="0">
                <a:latin typeface="Times New Roman"/>
                <a:cs typeface="Times New Roman"/>
              </a:rPr>
              <a:t>style,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border-color.&lt;/p&gt;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&lt;/body&gt;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&lt;/html&gt;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4307" y="4534661"/>
            <a:ext cx="6679692" cy="107899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44945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35" dirty="0"/>
              <a:t> </a:t>
            </a:r>
            <a:r>
              <a:rPr sz="6000" dirty="0"/>
              <a:t>-</a:t>
            </a:r>
            <a:r>
              <a:rPr sz="6000" spc="-40" dirty="0"/>
              <a:t> </a:t>
            </a:r>
            <a:r>
              <a:rPr sz="6000" spc="-10" dirty="0"/>
              <a:t>Margins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459740" y="823917"/>
            <a:ext cx="7842884" cy="48482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7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75" dirty="0">
                <a:latin typeface="Times New Roman"/>
                <a:cs typeface="Times New Roman"/>
              </a:rPr>
              <a:t>Attribute: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margin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160" dirty="0">
                <a:latin typeface="Times New Roman"/>
                <a:cs typeface="Times New Roman"/>
              </a:rPr>
              <a:t>Margin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gives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spacing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outside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the</a:t>
            </a:r>
            <a:r>
              <a:rPr sz="2600" spc="-31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‘border’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element</a:t>
            </a:r>
            <a:endParaRPr sz="2600">
              <a:latin typeface="Times New Roman"/>
              <a:cs typeface="Times New Roman"/>
            </a:endParaRPr>
          </a:p>
          <a:p>
            <a:pPr marL="283210" marR="96520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65" dirty="0">
                <a:latin typeface="Times New Roman"/>
                <a:cs typeface="Times New Roman"/>
              </a:rPr>
              <a:t>Similar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border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margin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has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separate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attributes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left,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top, 	</a:t>
            </a:r>
            <a:r>
              <a:rPr sz="2600" spc="-60" dirty="0">
                <a:latin typeface="Times New Roman"/>
                <a:cs typeface="Times New Roman"/>
              </a:rPr>
              <a:t>bottom,</a:t>
            </a:r>
            <a:r>
              <a:rPr sz="2600" spc="-150" dirty="0">
                <a:latin typeface="Times New Roman"/>
                <a:cs typeface="Times New Roman"/>
              </a:rPr>
              <a:t> 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right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sides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spc="-50" dirty="0">
                <a:latin typeface="Times New Roman"/>
                <a:cs typeface="Times New Roman"/>
              </a:rPr>
              <a:t>Values: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b="1" dirty="0">
                <a:latin typeface="Times New Roman"/>
                <a:cs typeface="Times New Roman"/>
              </a:rPr>
              <a:t>auto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browser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calculates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margin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length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px,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pt,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cm,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etc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200" dirty="0">
                <a:latin typeface="Times New Roman"/>
                <a:cs typeface="Times New Roman"/>
              </a:rPr>
              <a:t>%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margin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percentage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width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containing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b="1" dirty="0">
                <a:latin typeface="Times New Roman"/>
                <a:cs typeface="Times New Roman"/>
              </a:rPr>
              <a:t>Inherit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Margin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inherited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from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parent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</a:t>
            </a:r>
            <a:endParaRPr sz="2400">
              <a:latin typeface="Times New Roman"/>
              <a:cs typeface="Times New Roman"/>
            </a:endParaRPr>
          </a:p>
          <a:p>
            <a:pPr marL="283210" marR="5080" indent="-271145">
              <a:lnSpc>
                <a:spcPct val="100000"/>
              </a:lnSpc>
              <a:spcBef>
                <a:spcPts val="57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b="1" spc="-20" dirty="0">
                <a:latin typeface="Times New Roman"/>
                <a:cs typeface="Times New Roman"/>
              </a:rPr>
              <a:t>margin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also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have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4,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3,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2,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1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value(s).</a:t>
            </a:r>
            <a:r>
              <a:rPr sz="2600" spc="-3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Application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pattern 	</a:t>
            </a:r>
            <a:r>
              <a:rPr sz="2600" spc="-145" dirty="0">
                <a:latin typeface="Times New Roman"/>
                <a:cs typeface="Times New Roman"/>
              </a:rPr>
              <a:t>similar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border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25" dirty="0"/>
              <a:t> </a:t>
            </a:r>
            <a:r>
              <a:rPr sz="6000" dirty="0"/>
              <a:t>–</a:t>
            </a:r>
            <a:r>
              <a:rPr sz="6000" spc="-125" dirty="0"/>
              <a:t> </a:t>
            </a:r>
            <a:r>
              <a:rPr sz="6000" spc="-60" dirty="0"/>
              <a:t>Example:</a:t>
            </a:r>
            <a:r>
              <a:rPr sz="6000" spc="-120" dirty="0"/>
              <a:t> </a:t>
            </a:r>
            <a:r>
              <a:rPr sz="6000" spc="-10" dirty="0"/>
              <a:t>Margin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383540" y="940307"/>
            <a:ext cx="8474075" cy="417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Times New Roman"/>
                <a:cs typeface="Times New Roman"/>
              </a:rPr>
              <a:t>&lt;!DOCTYPE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html&gt;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&lt;html&gt;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&lt;head&gt;</a:t>
            </a:r>
            <a:endParaRPr sz="1600">
              <a:latin typeface="Times New Roman"/>
              <a:cs typeface="Times New Roman"/>
            </a:endParaRPr>
          </a:p>
          <a:p>
            <a:pPr marL="12700" marR="7839075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&lt;style&gt; </a:t>
            </a:r>
            <a:r>
              <a:rPr sz="1600" dirty="0">
                <a:latin typeface="Times New Roman"/>
                <a:cs typeface="Times New Roman"/>
              </a:rPr>
              <a:t>div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{</a:t>
            </a:r>
            <a:endParaRPr sz="1600">
              <a:latin typeface="Times New Roman"/>
              <a:cs typeface="Times New Roman"/>
            </a:endParaRPr>
          </a:p>
          <a:p>
            <a:pPr marL="113664" marR="601408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border: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1px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solid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black;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margin:</a:t>
            </a:r>
            <a:r>
              <a:rPr sz="1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25px</a:t>
            </a:r>
            <a:r>
              <a:rPr sz="1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50px; </a:t>
            </a:r>
            <a:r>
              <a:rPr sz="1600" spc="-10" dirty="0">
                <a:latin typeface="Times New Roman"/>
                <a:cs typeface="Times New Roman"/>
              </a:rPr>
              <a:t>background-</a:t>
            </a:r>
            <a:r>
              <a:rPr sz="1600" dirty="0">
                <a:latin typeface="Times New Roman"/>
                <a:cs typeface="Times New Roman"/>
              </a:rPr>
              <a:t>color: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lightblue;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&lt;/style&gt;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&lt;/head&gt;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&lt;body&gt;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&lt;h2&gt;The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margin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shorthand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property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values&lt;/h2&gt;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&lt;div&gt;This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div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top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bottom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margin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25px,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right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left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margin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50px.&lt;/div&gt;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&lt;hr&gt;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&lt;/body&gt;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&lt;/html&gt;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498" y="4932640"/>
            <a:ext cx="6580053" cy="82198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45135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35" dirty="0"/>
              <a:t> </a:t>
            </a:r>
            <a:r>
              <a:rPr sz="6000" dirty="0"/>
              <a:t>-</a:t>
            </a:r>
            <a:r>
              <a:rPr sz="6000" spc="-40" dirty="0"/>
              <a:t> </a:t>
            </a:r>
            <a:r>
              <a:rPr sz="6000" spc="-70" dirty="0"/>
              <a:t>Padding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383540" y="890015"/>
            <a:ext cx="8542655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300990" indent="-28067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5115" algn="l"/>
              </a:tabLst>
            </a:pPr>
            <a:r>
              <a:rPr sz="3200" spc="-204" dirty="0">
                <a:latin typeface="Times New Roman"/>
                <a:cs typeface="Times New Roman"/>
              </a:rPr>
              <a:t>Padding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generates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space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around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an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element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but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within 	</a:t>
            </a:r>
            <a:r>
              <a:rPr sz="3200" spc="-120" dirty="0">
                <a:latin typeface="Times New Roman"/>
                <a:cs typeface="Times New Roman"/>
              </a:rPr>
              <a:t>its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border</a:t>
            </a:r>
            <a:endParaRPr sz="3200">
              <a:latin typeface="Times New Roman"/>
              <a:cs typeface="Times New Roman"/>
            </a:endParaRPr>
          </a:p>
          <a:p>
            <a:pPr marL="283845" marR="5080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5115" algn="l"/>
              </a:tabLst>
            </a:pPr>
            <a:r>
              <a:rPr sz="3200" spc="-100" dirty="0">
                <a:latin typeface="Times New Roman"/>
                <a:cs typeface="Times New Roman"/>
              </a:rPr>
              <a:t>Attributes: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padding,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padding-</a:t>
            </a:r>
            <a:r>
              <a:rPr sz="3200" spc="-65" dirty="0">
                <a:latin typeface="Times New Roman"/>
                <a:cs typeface="Times New Roman"/>
              </a:rPr>
              <a:t>left,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padding-</a:t>
            </a:r>
            <a:r>
              <a:rPr sz="3200" spc="-55" dirty="0">
                <a:latin typeface="Times New Roman"/>
                <a:cs typeface="Times New Roman"/>
              </a:rPr>
              <a:t>top,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padding- 	</a:t>
            </a:r>
            <a:r>
              <a:rPr sz="3200" spc="-75" dirty="0">
                <a:latin typeface="Times New Roman"/>
                <a:cs typeface="Times New Roman"/>
              </a:rPr>
              <a:t>bottom,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padding-</a:t>
            </a:r>
            <a:r>
              <a:rPr sz="3200" spc="-20" dirty="0">
                <a:latin typeface="Times New Roman"/>
                <a:cs typeface="Times New Roman"/>
              </a:rPr>
              <a:t>right</a:t>
            </a:r>
            <a:endParaRPr sz="32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spc="-90" dirty="0">
                <a:latin typeface="Times New Roman"/>
                <a:cs typeface="Times New Roman"/>
              </a:rPr>
              <a:t>Values:</a:t>
            </a:r>
            <a:endParaRPr sz="3200">
              <a:latin typeface="Times New Roman"/>
              <a:cs typeface="Times New Roman"/>
            </a:endParaRPr>
          </a:p>
          <a:p>
            <a:pPr marL="559435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9435" algn="l"/>
              </a:tabLst>
            </a:pPr>
            <a:r>
              <a:rPr sz="3200" spc="-190" dirty="0">
                <a:latin typeface="Times New Roman"/>
                <a:cs typeface="Times New Roman"/>
              </a:rPr>
              <a:t>Length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300" dirty="0">
                <a:latin typeface="Times New Roman"/>
                <a:cs typeface="Times New Roman"/>
              </a:rPr>
              <a:t> </a:t>
            </a:r>
            <a:r>
              <a:rPr sz="3200" spc="-420" dirty="0">
                <a:latin typeface="Times New Roman"/>
                <a:cs typeface="Times New Roman"/>
              </a:rPr>
              <a:t>A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length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Times New Roman"/>
                <a:cs typeface="Times New Roman"/>
              </a:rPr>
              <a:t>value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in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pt,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px,</a:t>
            </a:r>
            <a:r>
              <a:rPr sz="3200" spc="-18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cm,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em,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etc</a:t>
            </a:r>
            <a:endParaRPr sz="3200">
              <a:latin typeface="Times New Roman"/>
              <a:cs typeface="Times New Roman"/>
            </a:endParaRPr>
          </a:p>
          <a:p>
            <a:pPr marL="559435" lvl="1" indent="-3016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9435" algn="l"/>
              </a:tabLst>
            </a:pPr>
            <a:r>
              <a:rPr sz="3200" spc="-270" dirty="0">
                <a:latin typeface="Times New Roman"/>
                <a:cs typeface="Times New Roman"/>
              </a:rPr>
              <a:t>%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-</a:t>
            </a:r>
            <a:r>
              <a:rPr sz="3200" spc="-315" dirty="0">
                <a:latin typeface="Times New Roman"/>
                <a:cs typeface="Times New Roman"/>
              </a:rPr>
              <a:t> </a:t>
            </a:r>
            <a:r>
              <a:rPr sz="3200" spc="-420" dirty="0">
                <a:latin typeface="Times New Roman"/>
                <a:cs typeface="Times New Roman"/>
              </a:rPr>
              <a:t>A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percentage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the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width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element</a:t>
            </a:r>
            <a:endParaRPr sz="3200">
              <a:latin typeface="Times New Roman"/>
              <a:cs typeface="Times New Roman"/>
            </a:endParaRPr>
          </a:p>
          <a:p>
            <a:pPr marL="558800" marR="103759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b="1" dirty="0">
                <a:latin typeface="Times New Roman"/>
                <a:cs typeface="Times New Roman"/>
              </a:rPr>
              <a:t>inherit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–</a:t>
            </a:r>
            <a:r>
              <a:rPr sz="3200" spc="-45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The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padding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inherited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from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parent 	</a:t>
            </a:r>
            <a:r>
              <a:rPr sz="3200" spc="-10" dirty="0">
                <a:latin typeface="Times New Roman"/>
                <a:cs typeface="Times New Roman"/>
              </a:rPr>
              <a:t>element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32003"/>
            <a:ext cx="78835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25" dirty="0"/>
              <a:t> </a:t>
            </a:r>
            <a:r>
              <a:rPr sz="6000" dirty="0"/>
              <a:t>–</a:t>
            </a:r>
            <a:r>
              <a:rPr sz="6000" spc="-125" dirty="0"/>
              <a:t> </a:t>
            </a:r>
            <a:r>
              <a:rPr sz="6000" spc="-60" dirty="0"/>
              <a:t>Example:</a:t>
            </a:r>
            <a:r>
              <a:rPr sz="6000" spc="-120" dirty="0"/>
              <a:t> </a:t>
            </a:r>
            <a:r>
              <a:rPr sz="6000" spc="-55" dirty="0"/>
              <a:t>Padding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459740" y="1034796"/>
            <a:ext cx="7320915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&lt;!DOCTYPE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html&gt;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&lt;html&gt;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&lt;head&gt;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&lt;style&gt;</a:t>
            </a:r>
            <a:endParaRPr sz="1800">
              <a:latin typeface="Times New Roman"/>
              <a:cs typeface="Times New Roman"/>
            </a:endParaRPr>
          </a:p>
          <a:p>
            <a:pPr marL="527050" marR="4549775" indent="-51435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div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border: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1px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solid</a:t>
            </a:r>
            <a:r>
              <a:rPr sz="1800" spc="-10" dirty="0">
                <a:latin typeface="Times New Roman"/>
                <a:cs typeface="Times New Roman"/>
              </a:rPr>
              <a:t> black;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padding:</a:t>
            </a:r>
            <a:r>
              <a:rPr sz="1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25px;</a:t>
            </a:r>
            <a:endParaRPr sz="1800">
              <a:latin typeface="Times New Roman"/>
              <a:cs typeface="Times New Roman"/>
            </a:endParaRPr>
          </a:p>
          <a:p>
            <a:pPr marL="52705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background-</a:t>
            </a:r>
            <a:r>
              <a:rPr sz="1800" dirty="0">
                <a:latin typeface="Times New Roman"/>
                <a:cs typeface="Times New Roman"/>
              </a:rPr>
              <a:t>color: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lightblue;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&lt;/style&gt;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&lt;/head&gt;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&lt;body&gt;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&lt;h2&gt;The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padding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shorthand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property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value&lt;/h2&gt;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&lt;div&gt;This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div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top,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bottom,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left,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right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padding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25px.&lt;/div&gt;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&lt;/body&gt;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&lt;/html&gt;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036" y="4568411"/>
            <a:ext cx="6579112" cy="99328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60" dirty="0"/>
              <a:t> </a:t>
            </a:r>
            <a:r>
              <a:rPr sz="6000" dirty="0"/>
              <a:t>–</a:t>
            </a:r>
            <a:r>
              <a:rPr sz="6000" spc="-65" dirty="0"/>
              <a:t> </a:t>
            </a:r>
            <a:r>
              <a:rPr sz="6000" spc="-90" dirty="0"/>
              <a:t>Height/Width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35940" y="978153"/>
            <a:ext cx="8114665" cy="4119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8130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215" dirty="0">
                <a:latin typeface="Times New Roman"/>
                <a:cs typeface="Times New Roman"/>
              </a:rPr>
              <a:t>These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10" dirty="0">
                <a:latin typeface="Times New Roman"/>
                <a:cs typeface="Times New Roman"/>
              </a:rPr>
              <a:t>attributes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40" dirty="0">
                <a:latin typeface="Times New Roman"/>
                <a:cs typeface="Times New Roman"/>
              </a:rPr>
              <a:t>give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80" dirty="0">
                <a:latin typeface="Times New Roman"/>
                <a:cs typeface="Times New Roman"/>
              </a:rPr>
              <a:t>height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15" dirty="0">
                <a:latin typeface="Times New Roman"/>
                <a:cs typeface="Times New Roman"/>
              </a:rPr>
              <a:t>and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width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10" dirty="0">
                <a:latin typeface="Times New Roman"/>
                <a:cs typeface="Times New Roman"/>
              </a:rPr>
              <a:t>of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65" dirty="0">
                <a:latin typeface="Times New Roman"/>
                <a:cs typeface="Times New Roman"/>
              </a:rPr>
              <a:t>an </a:t>
            </a:r>
            <a:r>
              <a:rPr sz="3600" spc="-10" dirty="0">
                <a:latin typeface="Times New Roman"/>
                <a:cs typeface="Times New Roman"/>
              </a:rPr>
              <a:t>element</a:t>
            </a:r>
            <a:endParaRPr sz="3600">
              <a:latin typeface="Times New Roman"/>
              <a:cs typeface="Times New Roman"/>
            </a:endParaRPr>
          </a:p>
          <a:p>
            <a:pPr marL="285115" marR="468630" indent="-28130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180" dirty="0">
                <a:latin typeface="Times New Roman"/>
                <a:cs typeface="Times New Roman"/>
              </a:rPr>
              <a:t>Default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25" dirty="0">
                <a:latin typeface="Times New Roman"/>
                <a:cs typeface="Times New Roman"/>
              </a:rPr>
              <a:t>value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235" dirty="0">
                <a:latin typeface="Times New Roman"/>
                <a:cs typeface="Times New Roman"/>
              </a:rPr>
              <a:t>is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auto</a:t>
            </a:r>
            <a:r>
              <a:rPr sz="3600" b="1" spc="-70" dirty="0">
                <a:latin typeface="Times New Roman"/>
                <a:cs typeface="Times New Roman"/>
              </a:rPr>
              <a:t> </a:t>
            </a:r>
            <a:r>
              <a:rPr sz="3600" spc="-210" dirty="0">
                <a:latin typeface="Times New Roman"/>
                <a:cs typeface="Times New Roman"/>
              </a:rPr>
              <a:t>which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30" dirty="0">
                <a:latin typeface="Times New Roman"/>
                <a:cs typeface="Times New Roman"/>
              </a:rPr>
              <a:t>lets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20" dirty="0">
                <a:latin typeface="Times New Roman"/>
                <a:cs typeface="Times New Roman"/>
              </a:rPr>
              <a:t>browser </a:t>
            </a:r>
            <a:r>
              <a:rPr sz="3600" spc="-195" dirty="0">
                <a:latin typeface="Times New Roman"/>
                <a:cs typeface="Times New Roman"/>
              </a:rPr>
              <a:t>figure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out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the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45" dirty="0">
                <a:latin typeface="Times New Roman"/>
                <a:cs typeface="Times New Roman"/>
              </a:rPr>
              <a:t>best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size</a:t>
            </a:r>
            <a:endParaRPr sz="3600">
              <a:latin typeface="Times New Roman"/>
              <a:cs typeface="Times New Roman"/>
            </a:endParaRPr>
          </a:p>
          <a:p>
            <a:pPr marL="285115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69444"/>
              <a:buFont typeface="Segoe UI Symbol"/>
              <a:buChar char="⚫"/>
              <a:tabLst>
                <a:tab pos="285115" algn="l"/>
              </a:tabLst>
            </a:pPr>
            <a:r>
              <a:rPr sz="3600" spc="-300" dirty="0">
                <a:latin typeface="Times New Roman"/>
                <a:cs typeface="Times New Roman"/>
              </a:rPr>
              <a:t>Values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225" dirty="0">
                <a:latin typeface="Times New Roman"/>
                <a:cs typeface="Times New Roman"/>
              </a:rPr>
              <a:t>can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70" dirty="0">
                <a:latin typeface="Times New Roman"/>
                <a:cs typeface="Times New Roman"/>
              </a:rPr>
              <a:t>be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95" dirty="0">
                <a:latin typeface="Times New Roman"/>
                <a:cs typeface="Times New Roman"/>
              </a:rPr>
              <a:t>specified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as: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470" dirty="0">
                <a:latin typeface="Times New Roman"/>
                <a:cs typeface="Times New Roman"/>
              </a:rPr>
              <a:t>A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55" dirty="0">
                <a:latin typeface="Times New Roman"/>
                <a:cs typeface="Times New Roman"/>
              </a:rPr>
              <a:t>length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in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pt,</a:t>
            </a:r>
            <a:r>
              <a:rPr sz="3600" spc="-225" dirty="0">
                <a:latin typeface="Times New Roman"/>
                <a:cs typeface="Times New Roman"/>
              </a:rPr>
              <a:t> </a:t>
            </a:r>
            <a:r>
              <a:rPr sz="3600" spc="-60" dirty="0">
                <a:latin typeface="Times New Roman"/>
                <a:cs typeface="Times New Roman"/>
              </a:rPr>
              <a:t>px,</a:t>
            </a:r>
            <a:r>
              <a:rPr sz="3600" spc="-215" dirty="0">
                <a:latin typeface="Times New Roman"/>
                <a:cs typeface="Times New Roman"/>
              </a:rPr>
              <a:t> </a:t>
            </a:r>
            <a:r>
              <a:rPr sz="3600" spc="-114" dirty="0">
                <a:latin typeface="Times New Roman"/>
                <a:cs typeface="Times New Roman"/>
              </a:rPr>
              <a:t>cm,</a:t>
            </a:r>
            <a:r>
              <a:rPr sz="3600" spc="-22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etc.</a:t>
            </a:r>
            <a:endParaRPr sz="3600">
              <a:latin typeface="Times New Roman"/>
              <a:cs typeface="Times New Roman"/>
            </a:endParaRPr>
          </a:p>
          <a:p>
            <a:pPr marL="559435" lvl="1" indent="-3397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722"/>
              <a:buFont typeface="Segoe UI Symbol"/>
              <a:buChar char="⚫"/>
              <a:tabLst>
                <a:tab pos="559435" algn="l"/>
              </a:tabLst>
            </a:pPr>
            <a:r>
              <a:rPr sz="3600" spc="-470" dirty="0">
                <a:latin typeface="Times New Roman"/>
                <a:cs typeface="Times New Roman"/>
              </a:rPr>
              <a:t>A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65" dirty="0">
                <a:latin typeface="Times New Roman"/>
                <a:cs typeface="Times New Roman"/>
              </a:rPr>
              <a:t>percentage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210" dirty="0">
                <a:latin typeface="Times New Roman"/>
                <a:cs typeface="Times New Roman"/>
              </a:rPr>
              <a:t>of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10" dirty="0">
                <a:latin typeface="Times New Roman"/>
                <a:cs typeface="Times New Roman"/>
              </a:rPr>
              <a:t>the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90" dirty="0">
                <a:latin typeface="Times New Roman"/>
                <a:cs typeface="Times New Roman"/>
              </a:rPr>
              <a:t>containing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block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5746" y="6493372"/>
            <a:ext cx="182245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(</a:t>
            </a:r>
            <a:r>
              <a:rPr lang="en-IN" sz="1000" dirty="0">
                <a:latin typeface="Arial MT"/>
                <a:cs typeface="Arial MT"/>
              </a:rPr>
              <a:t> 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1976"/>
            <a:ext cx="86067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40275" algn="l"/>
              </a:tabLst>
            </a:pPr>
            <a:r>
              <a:rPr sz="5400" dirty="0"/>
              <a:t>CSS</a:t>
            </a:r>
            <a:r>
              <a:rPr sz="5400" spc="-55" dirty="0"/>
              <a:t> </a:t>
            </a:r>
            <a:r>
              <a:rPr sz="5400" dirty="0"/>
              <a:t>–</a:t>
            </a:r>
            <a:r>
              <a:rPr sz="5400" spc="-55" dirty="0"/>
              <a:t> </a:t>
            </a:r>
            <a:r>
              <a:rPr sz="5400" spc="-10" dirty="0"/>
              <a:t>Example:</a:t>
            </a:r>
            <a:r>
              <a:rPr sz="5400" dirty="0"/>
              <a:t>	</a:t>
            </a:r>
            <a:r>
              <a:rPr sz="5400" spc="-85" dirty="0"/>
              <a:t>Height/Width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459740" y="1034034"/>
            <a:ext cx="6992620" cy="459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&lt;!DOCTYPE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html&gt;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&lt;html&gt;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&lt;head&gt;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&lt;style&gt;</a:t>
            </a:r>
            <a:endParaRPr sz="2000">
              <a:latin typeface="Times New Roman"/>
              <a:cs typeface="Times New Roman"/>
            </a:endParaRPr>
          </a:p>
          <a:p>
            <a:pPr marL="139700" marR="4862195" indent="-12763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div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height:</a:t>
            </a:r>
            <a:r>
              <a:rPr sz="2000" spc="-10" dirty="0">
                <a:latin typeface="Times New Roman"/>
                <a:cs typeface="Times New Roman"/>
              </a:rPr>
              <a:t> 200px; </a:t>
            </a:r>
            <a:r>
              <a:rPr sz="2000" dirty="0">
                <a:latin typeface="Times New Roman"/>
                <a:cs typeface="Times New Roman"/>
              </a:rPr>
              <a:t>width: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50%;</a:t>
            </a:r>
            <a:endParaRPr sz="20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background-</a:t>
            </a:r>
            <a:r>
              <a:rPr sz="2000" dirty="0">
                <a:latin typeface="Times New Roman"/>
                <a:cs typeface="Times New Roman"/>
              </a:rPr>
              <a:t>color: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powderblue;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&lt;/style&gt;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&lt;/head&gt;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&lt;body&gt;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&lt;h2&gt;Set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height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element&lt;/h2&gt;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&lt;p&gt;This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height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200px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50%:&lt;/p&gt;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&lt;div&gt;&lt;/div&gt;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&lt;/body&gt;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&lt;/html&gt;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194430" y="4718430"/>
            <a:ext cx="5346700" cy="2070100"/>
            <a:chOff x="3194430" y="4718430"/>
            <a:chExt cx="5346700" cy="2070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8019" y="4722875"/>
              <a:ext cx="2785018" cy="19911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00780" y="4724780"/>
              <a:ext cx="5334000" cy="2057400"/>
            </a:xfrm>
            <a:custGeom>
              <a:avLst/>
              <a:gdLst/>
              <a:ahLst/>
              <a:cxnLst/>
              <a:rect l="l" t="t" r="r" b="b"/>
              <a:pathLst>
                <a:path w="5334000" h="2057400">
                  <a:moveTo>
                    <a:pt x="0" y="2057400"/>
                  </a:moveTo>
                  <a:lnTo>
                    <a:pt x="5334000" y="2057400"/>
                  </a:lnTo>
                  <a:lnTo>
                    <a:pt x="5334000" y="0"/>
                  </a:lnTo>
                  <a:lnTo>
                    <a:pt x="0" y="0"/>
                  </a:lnTo>
                  <a:lnTo>
                    <a:pt x="0" y="2057400"/>
                  </a:lnTo>
                  <a:close/>
                </a:path>
              </a:pathLst>
            </a:custGeom>
            <a:ln w="12700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7302" y="6305550"/>
            <a:ext cx="2343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54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42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45" dirty="0"/>
              <a:t> </a:t>
            </a:r>
            <a:r>
              <a:rPr sz="6000" dirty="0"/>
              <a:t>–</a:t>
            </a:r>
            <a:r>
              <a:rPr sz="6000" spc="-150" dirty="0"/>
              <a:t> </a:t>
            </a:r>
            <a:r>
              <a:rPr sz="6000" dirty="0"/>
              <a:t>The</a:t>
            </a:r>
            <a:r>
              <a:rPr sz="6000" spc="-140" dirty="0"/>
              <a:t> </a:t>
            </a:r>
            <a:r>
              <a:rPr sz="6000" dirty="0"/>
              <a:t>Box</a:t>
            </a:r>
            <a:r>
              <a:rPr sz="6000" spc="-145" dirty="0"/>
              <a:t> </a:t>
            </a:r>
            <a:r>
              <a:rPr sz="6000" spc="-10" dirty="0"/>
              <a:t>Model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35940" y="985774"/>
            <a:ext cx="7954009" cy="4618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 marR="407670" indent="-28067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5115" algn="l"/>
              </a:tabLst>
            </a:pPr>
            <a:r>
              <a:rPr sz="3200" spc="-365" dirty="0">
                <a:latin typeface="Times New Roman"/>
                <a:cs typeface="Times New Roman"/>
              </a:rPr>
              <a:t>CSS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90" dirty="0">
                <a:latin typeface="Times New Roman"/>
                <a:cs typeface="Times New Roman"/>
              </a:rPr>
              <a:t>Box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Model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refers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layout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an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element 	</a:t>
            </a:r>
            <a:r>
              <a:rPr sz="3200" spc="-175" dirty="0">
                <a:latin typeface="Times New Roman"/>
                <a:cs typeface="Times New Roman"/>
              </a:rPr>
              <a:t>including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margin,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borders,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padding,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and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content</a:t>
            </a:r>
            <a:endParaRPr sz="3200">
              <a:latin typeface="Times New Roman"/>
              <a:cs typeface="Times New Roman"/>
            </a:endParaRPr>
          </a:p>
          <a:p>
            <a:pPr marL="55880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8800" algn="l"/>
              </a:tabLst>
            </a:pPr>
            <a:r>
              <a:rPr sz="3200" b="1" spc="-40" dirty="0">
                <a:latin typeface="Times New Roman"/>
                <a:cs typeface="Times New Roman"/>
              </a:rPr>
              <a:t>Content:</a:t>
            </a:r>
            <a:r>
              <a:rPr sz="3200" b="1" spc="-44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The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content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element</a:t>
            </a:r>
            <a:endParaRPr sz="3200">
              <a:latin typeface="Times New Roman"/>
              <a:cs typeface="Times New Roman"/>
            </a:endParaRPr>
          </a:p>
          <a:p>
            <a:pPr marL="558800" marR="94615" lvl="1" indent="-3016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b="1" spc="-40" dirty="0">
                <a:latin typeface="Times New Roman"/>
                <a:cs typeface="Times New Roman"/>
              </a:rPr>
              <a:t>Padding</a:t>
            </a:r>
            <a:r>
              <a:rPr sz="3200" spc="-40" dirty="0">
                <a:latin typeface="Times New Roman"/>
                <a:cs typeface="Times New Roman"/>
              </a:rPr>
              <a:t>: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area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around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content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and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within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	</a:t>
            </a:r>
            <a:r>
              <a:rPr sz="3200" spc="-114" dirty="0">
                <a:latin typeface="Times New Roman"/>
                <a:cs typeface="Times New Roman"/>
              </a:rPr>
              <a:t>border.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Padding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transparent</a:t>
            </a:r>
            <a:endParaRPr sz="3200">
              <a:latin typeface="Times New Roman"/>
              <a:cs typeface="Times New Roman"/>
            </a:endParaRPr>
          </a:p>
          <a:p>
            <a:pPr marL="558800" marR="5080" lvl="1" indent="-3016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b="1" spc="-30" dirty="0">
                <a:latin typeface="Times New Roman"/>
                <a:cs typeface="Times New Roman"/>
              </a:rPr>
              <a:t>Border</a:t>
            </a:r>
            <a:r>
              <a:rPr sz="3200" spc="-30" dirty="0">
                <a:latin typeface="Times New Roman"/>
                <a:cs typeface="Times New Roman"/>
              </a:rPr>
              <a:t>:</a:t>
            </a:r>
            <a:r>
              <a:rPr sz="3200" spc="-415" dirty="0">
                <a:latin typeface="Times New Roman"/>
                <a:cs typeface="Times New Roman"/>
              </a:rPr>
              <a:t> </a:t>
            </a:r>
            <a:r>
              <a:rPr sz="3200" spc="-42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border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that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surrounds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element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and 	</a:t>
            </a:r>
            <a:r>
              <a:rPr sz="3200" spc="-45" dirty="0">
                <a:latin typeface="Times New Roman"/>
                <a:cs typeface="Times New Roman"/>
              </a:rPr>
              <a:t>padding</a:t>
            </a:r>
            <a:endParaRPr sz="3200">
              <a:latin typeface="Times New Roman"/>
              <a:cs typeface="Times New Roman"/>
            </a:endParaRPr>
          </a:p>
          <a:p>
            <a:pPr marL="558800" marR="92075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b="1" spc="-40" dirty="0">
                <a:latin typeface="Times New Roman"/>
                <a:cs typeface="Times New Roman"/>
              </a:rPr>
              <a:t>Margin</a:t>
            </a:r>
            <a:r>
              <a:rPr sz="3200" spc="-40" dirty="0">
                <a:latin typeface="Times New Roman"/>
                <a:cs typeface="Times New Roman"/>
              </a:rPr>
              <a:t>:</a:t>
            </a:r>
            <a:r>
              <a:rPr sz="3200" spc="-415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Area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outside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the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border.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Times New Roman"/>
                <a:cs typeface="Times New Roman"/>
              </a:rPr>
              <a:t>Margin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is 	</a:t>
            </a:r>
            <a:r>
              <a:rPr sz="3200" spc="-10" dirty="0">
                <a:latin typeface="Times New Roman"/>
                <a:cs typeface="Times New Roman"/>
              </a:rPr>
              <a:t>transparent.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165" dirty="0"/>
              <a:t> </a:t>
            </a:r>
            <a:r>
              <a:rPr dirty="0"/>
              <a:t>–</a:t>
            </a:r>
            <a:r>
              <a:rPr spc="-175" dirty="0"/>
              <a:t> </a:t>
            </a:r>
            <a:r>
              <a:rPr dirty="0"/>
              <a:t>Box</a:t>
            </a:r>
            <a:r>
              <a:rPr spc="-175" dirty="0"/>
              <a:t> </a:t>
            </a:r>
            <a:r>
              <a:rPr spc="-1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487" y="1563447"/>
            <a:ext cx="8632937" cy="32017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390" y="-33273"/>
            <a:ext cx="77743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40275" algn="l"/>
              </a:tabLst>
            </a:pPr>
            <a:r>
              <a:rPr sz="5400" dirty="0"/>
              <a:t>CSS</a:t>
            </a:r>
            <a:r>
              <a:rPr sz="5400" spc="-50" dirty="0"/>
              <a:t> </a:t>
            </a:r>
            <a:r>
              <a:rPr sz="5400" dirty="0"/>
              <a:t>–</a:t>
            </a:r>
            <a:r>
              <a:rPr sz="5400" spc="-55" dirty="0"/>
              <a:t> </a:t>
            </a:r>
            <a:r>
              <a:rPr sz="5400" spc="-10" dirty="0"/>
              <a:t>Example:</a:t>
            </a:r>
            <a:r>
              <a:rPr sz="5400" dirty="0"/>
              <a:t>	Box</a:t>
            </a:r>
            <a:r>
              <a:rPr sz="5400" spc="-254" dirty="0"/>
              <a:t> </a:t>
            </a:r>
            <a:r>
              <a:rPr sz="5400" spc="-10" dirty="0"/>
              <a:t>Model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224790" y="787400"/>
            <a:ext cx="8807450" cy="523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&lt;!DOCTYPE </a:t>
            </a:r>
            <a:r>
              <a:rPr sz="1800" spc="-10" dirty="0">
                <a:latin typeface="Times New Roman"/>
                <a:cs typeface="Times New Roman"/>
              </a:rPr>
              <a:t>html&gt;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&lt;html&gt;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&lt;head&gt;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&lt;style&gt;</a:t>
            </a:r>
            <a:endParaRPr sz="1800">
              <a:latin typeface="Times New Roman"/>
              <a:cs typeface="Times New Roman"/>
            </a:endParaRPr>
          </a:p>
          <a:p>
            <a:pPr marL="127000" marR="5636895" indent="-1143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div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-10" dirty="0">
                <a:latin typeface="Times New Roman"/>
                <a:cs typeface="Times New Roman"/>
              </a:rPr>
              <a:t> background-</a:t>
            </a:r>
            <a:r>
              <a:rPr sz="1800" dirty="0">
                <a:latin typeface="Times New Roman"/>
                <a:cs typeface="Times New Roman"/>
              </a:rPr>
              <a:t>color: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lightgrey; </a:t>
            </a:r>
            <a:r>
              <a:rPr sz="1800" dirty="0">
                <a:latin typeface="Times New Roman"/>
                <a:cs typeface="Times New Roman"/>
              </a:rPr>
              <a:t>width: </a:t>
            </a:r>
            <a:r>
              <a:rPr sz="1800" spc="-10" dirty="0">
                <a:latin typeface="Times New Roman"/>
                <a:cs typeface="Times New Roman"/>
              </a:rPr>
              <a:t>300px;</a:t>
            </a:r>
            <a:endParaRPr sz="1800">
              <a:latin typeface="Times New Roman"/>
              <a:cs typeface="Times New Roman"/>
            </a:endParaRPr>
          </a:p>
          <a:p>
            <a:pPr marL="127000" marR="63677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border: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15px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solid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green; </a:t>
            </a:r>
            <a:r>
              <a:rPr sz="1800" dirty="0">
                <a:latin typeface="Times New Roman"/>
                <a:cs typeface="Times New Roman"/>
              </a:rPr>
              <a:t>padding: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50px;</a:t>
            </a:r>
            <a:endParaRPr sz="1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margin: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20px;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&lt;/style&gt;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&lt;/head&gt;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&lt;body&gt;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&lt;h2&gt;Demonstrating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Box</a:t>
            </a:r>
            <a:r>
              <a:rPr sz="1800" spc="-10" dirty="0">
                <a:latin typeface="Times New Roman"/>
                <a:cs typeface="Times New Roman"/>
              </a:rPr>
              <a:t> Model&lt;/h2&gt;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&lt;p&gt;The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box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essentially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box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wraps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around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every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HTML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consists </a:t>
            </a:r>
            <a:r>
              <a:rPr sz="1800" dirty="0">
                <a:latin typeface="Times New Roman"/>
                <a:cs typeface="Times New Roman"/>
              </a:rPr>
              <a:t>of: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borders,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padding,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margins,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actual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content.&lt;/p&gt;</a:t>
            </a:r>
            <a:endParaRPr sz="1800">
              <a:latin typeface="Times New Roman"/>
              <a:cs typeface="Times New Roman"/>
            </a:endParaRPr>
          </a:p>
          <a:p>
            <a:pPr marL="12700" marR="20891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&lt;div&gt;This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50px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padding,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20px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margin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15px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green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border.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rest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doesn't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matter!&lt;/div&gt;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&lt;/body&gt;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&lt;/html&gt;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9823" y="1429575"/>
            <a:ext cx="5264100" cy="20465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-32003"/>
            <a:ext cx="700785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95" dirty="0"/>
              <a:t> </a:t>
            </a:r>
            <a:r>
              <a:rPr sz="6000" dirty="0"/>
              <a:t>–</a:t>
            </a:r>
            <a:r>
              <a:rPr sz="6000" spc="-200" dirty="0"/>
              <a:t> </a:t>
            </a:r>
            <a:r>
              <a:rPr sz="6000" dirty="0"/>
              <a:t>Styles</a:t>
            </a:r>
            <a:r>
              <a:rPr sz="6000" spc="-195" dirty="0"/>
              <a:t> </a:t>
            </a:r>
            <a:r>
              <a:rPr sz="6000" dirty="0"/>
              <a:t>for</a:t>
            </a:r>
            <a:r>
              <a:rPr sz="6000" spc="-190" dirty="0"/>
              <a:t> </a:t>
            </a:r>
            <a:r>
              <a:rPr sz="6000" spc="-20" dirty="0"/>
              <a:t>Links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383540" y="1053591"/>
            <a:ext cx="8606790" cy="4265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marR="5080" indent="-271145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95" dirty="0">
                <a:latin typeface="Times New Roman"/>
                <a:cs typeface="Times New Roman"/>
              </a:rPr>
              <a:t>Links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styled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using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any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95" dirty="0">
                <a:latin typeface="Times New Roman"/>
                <a:cs typeface="Times New Roman"/>
              </a:rPr>
              <a:t>CSS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attributes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(color,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background-</a:t>
            </a:r>
            <a:r>
              <a:rPr sz="2600" spc="-45" dirty="0">
                <a:latin typeface="Times New Roman"/>
                <a:cs typeface="Times New Roman"/>
              </a:rPr>
              <a:t>color, 	</a:t>
            </a:r>
            <a:r>
              <a:rPr sz="2600" spc="-50" dirty="0">
                <a:latin typeface="Times New Roman"/>
                <a:cs typeface="Times New Roman"/>
              </a:rPr>
              <a:t>text-</a:t>
            </a:r>
            <a:r>
              <a:rPr sz="2600" spc="-95" dirty="0">
                <a:latin typeface="Times New Roman"/>
                <a:cs typeface="Times New Roman"/>
              </a:rPr>
              <a:t>decoration,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font-</a:t>
            </a:r>
            <a:r>
              <a:rPr sz="2600" spc="-185" dirty="0">
                <a:latin typeface="Times New Roman"/>
                <a:cs typeface="Times New Roman"/>
              </a:rPr>
              <a:t>family,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font-</a:t>
            </a:r>
            <a:r>
              <a:rPr sz="2600" spc="-125" dirty="0">
                <a:latin typeface="Times New Roman"/>
                <a:cs typeface="Times New Roman"/>
              </a:rPr>
              <a:t>size,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background,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etc)</a:t>
            </a:r>
            <a:endParaRPr sz="26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i="1" spc="-260" dirty="0">
                <a:latin typeface="Times New Roman"/>
                <a:cs typeface="Times New Roman"/>
              </a:rPr>
              <a:t>Links</a:t>
            </a:r>
            <a:r>
              <a:rPr sz="2600" i="1" spc="-45" dirty="0">
                <a:latin typeface="Times New Roman"/>
                <a:cs typeface="Times New Roman"/>
              </a:rPr>
              <a:t> </a:t>
            </a:r>
            <a:r>
              <a:rPr sz="2600" i="1" spc="-290" dirty="0">
                <a:latin typeface="Times New Roman"/>
                <a:cs typeface="Times New Roman"/>
              </a:rPr>
              <a:t>can</a:t>
            </a:r>
            <a:r>
              <a:rPr sz="2600" i="1" spc="-30" dirty="0">
                <a:latin typeface="Times New Roman"/>
                <a:cs typeface="Times New Roman"/>
              </a:rPr>
              <a:t> </a:t>
            </a:r>
            <a:r>
              <a:rPr sz="2600" i="1" spc="-315" dirty="0">
                <a:latin typeface="Times New Roman"/>
                <a:cs typeface="Times New Roman"/>
              </a:rPr>
              <a:t>have</a:t>
            </a:r>
            <a:r>
              <a:rPr sz="2600" i="1" spc="-25" dirty="0">
                <a:latin typeface="Times New Roman"/>
                <a:cs typeface="Times New Roman"/>
              </a:rPr>
              <a:t> </a:t>
            </a:r>
            <a:r>
              <a:rPr sz="2600" i="1" spc="-220" dirty="0">
                <a:latin typeface="Times New Roman"/>
                <a:cs typeface="Times New Roman"/>
              </a:rPr>
              <a:t>different</a:t>
            </a:r>
            <a:r>
              <a:rPr sz="2600" i="1" spc="-40" dirty="0">
                <a:latin typeface="Times New Roman"/>
                <a:cs typeface="Times New Roman"/>
              </a:rPr>
              <a:t> </a:t>
            </a:r>
            <a:r>
              <a:rPr sz="2600" i="1" spc="-204" dirty="0">
                <a:latin typeface="Times New Roman"/>
                <a:cs typeface="Times New Roman"/>
              </a:rPr>
              <a:t>styling</a:t>
            </a:r>
            <a:r>
              <a:rPr sz="2600" i="1" spc="-30" dirty="0">
                <a:latin typeface="Times New Roman"/>
                <a:cs typeface="Times New Roman"/>
              </a:rPr>
              <a:t> </a:t>
            </a:r>
            <a:r>
              <a:rPr sz="2600" i="1" spc="-330" dirty="0">
                <a:latin typeface="Times New Roman"/>
                <a:cs typeface="Times New Roman"/>
              </a:rPr>
              <a:t>based</a:t>
            </a:r>
            <a:r>
              <a:rPr sz="2600" i="1" spc="-40" dirty="0">
                <a:latin typeface="Times New Roman"/>
                <a:cs typeface="Times New Roman"/>
              </a:rPr>
              <a:t> </a:t>
            </a:r>
            <a:r>
              <a:rPr sz="2600" i="1" spc="-290" dirty="0">
                <a:latin typeface="Times New Roman"/>
                <a:cs typeface="Times New Roman"/>
              </a:rPr>
              <a:t>on</a:t>
            </a:r>
            <a:r>
              <a:rPr sz="2600" i="1" spc="-45" dirty="0">
                <a:latin typeface="Times New Roman"/>
                <a:cs typeface="Times New Roman"/>
              </a:rPr>
              <a:t> </a:t>
            </a:r>
            <a:r>
              <a:rPr sz="2600" i="1" spc="-215" dirty="0">
                <a:latin typeface="Times New Roman"/>
                <a:cs typeface="Times New Roman"/>
              </a:rPr>
              <a:t>their</a:t>
            </a:r>
            <a:r>
              <a:rPr sz="2600" i="1" spc="-300" dirty="0">
                <a:latin typeface="Times New Roman"/>
                <a:cs typeface="Times New Roman"/>
              </a:rPr>
              <a:t> </a:t>
            </a:r>
            <a:r>
              <a:rPr sz="2600" i="1" spc="-195" dirty="0">
                <a:latin typeface="Times New Roman"/>
                <a:cs typeface="Times New Roman"/>
              </a:rPr>
              <a:t>‘state’.</a:t>
            </a:r>
            <a:r>
              <a:rPr sz="2600" i="1" spc="-310" dirty="0">
                <a:latin typeface="Times New Roman"/>
                <a:cs typeface="Times New Roman"/>
              </a:rPr>
              <a:t> </a:t>
            </a:r>
            <a:r>
              <a:rPr sz="2600" i="1" spc="-125" dirty="0">
                <a:latin typeface="Times New Roman"/>
                <a:cs typeface="Times New Roman"/>
              </a:rPr>
              <a:t>4</a:t>
            </a:r>
            <a:r>
              <a:rPr sz="2600" i="1" spc="-45" dirty="0">
                <a:latin typeface="Times New Roman"/>
                <a:cs typeface="Times New Roman"/>
              </a:rPr>
              <a:t> </a:t>
            </a:r>
            <a:r>
              <a:rPr sz="2600" i="1" spc="-254" dirty="0">
                <a:latin typeface="Times New Roman"/>
                <a:cs typeface="Times New Roman"/>
              </a:rPr>
              <a:t>states</a:t>
            </a:r>
            <a:r>
              <a:rPr sz="2600" i="1" spc="-40" dirty="0">
                <a:latin typeface="Times New Roman"/>
                <a:cs typeface="Times New Roman"/>
              </a:rPr>
              <a:t> </a:t>
            </a:r>
            <a:r>
              <a:rPr sz="2600" i="1" spc="-300" dirty="0">
                <a:latin typeface="Times New Roman"/>
                <a:cs typeface="Times New Roman"/>
              </a:rPr>
              <a:t>are: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b="1" dirty="0">
                <a:latin typeface="Times New Roman"/>
                <a:cs typeface="Times New Roman"/>
              </a:rPr>
              <a:t>link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229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unvisited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link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b="1" dirty="0">
                <a:latin typeface="Times New Roman"/>
                <a:cs typeface="Times New Roman"/>
              </a:rPr>
              <a:t>visited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link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that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has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visited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b="1" dirty="0">
                <a:latin typeface="Times New Roman"/>
                <a:cs typeface="Times New Roman"/>
              </a:rPr>
              <a:t>hover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link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when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cursor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os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hovering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over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b="1" dirty="0">
                <a:latin typeface="Times New Roman"/>
                <a:cs typeface="Times New Roman"/>
              </a:rPr>
              <a:t>active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link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when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left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mouse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button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depressed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over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endParaRPr sz="2400">
              <a:latin typeface="Times New Roman"/>
              <a:cs typeface="Times New Roman"/>
            </a:endParaRPr>
          </a:p>
          <a:p>
            <a:pPr marL="283845" indent="-271145">
              <a:lnSpc>
                <a:spcPct val="100000"/>
              </a:lnSpc>
              <a:spcBef>
                <a:spcPts val="57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i="1" spc="-270" dirty="0">
                <a:latin typeface="Times New Roman"/>
                <a:cs typeface="Times New Roman"/>
              </a:rPr>
              <a:t>Ordering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i="1" spc="-240" dirty="0">
                <a:latin typeface="Times New Roman"/>
                <a:cs typeface="Times New Roman"/>
              </a:rPr>
              <a:t>is</a:t>
            </a:r>
            <a:r>
              <a:rPr sz="2600" i="1" spc="-5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important!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155" dirty="0">
                <a:latin typeface="Times New Roman"/>
                <a:cs typeface="Times New Roman"/>
              </a:rPr>
              <a:t>If</a:t>
            </a:r>
            <a:r>
              <a:rPr sz="2600" i="1" spc="-45" dirty="0">
                <a:latin typeface="Times New Roman"/>
                <a:cs typeface="Times New Roman"/>
              </a:rPr>
              <a:t> </a:t>
            </a:r>
            <a:r>
              <a:rPr sz="2600" i="1" spc="-175" dirty="0">
                <a:latin typeface="Times New Roman"/>
                <a:cs typeface="Times New Roman"/>
              </a:rPr>
              <a:t>all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125" dirty="0">
                <a:latin typeface="Times New Roman"/>
                <a:cs typeface="Times New Roman"/>
              </a:rPr>
              <a:t>4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254" dirty="0">
                <a:latin typeface="Times New Roman"/>
                <a:cs typeface="Times New Roman"/>
              </a:rPr>
              <a:t>states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315" dirty="0">
                <a:latin typeface="Times New Roman"/>
                <a:cs typeface="Times New Roman"/>
              </a:rPr>
              <a:t>have</a:t>
            </a:r>
            <a:r>
              <a:rPr sz="2600" i="1" spc="-40" dirty="0">
                <a:latin typeface="Times New Roman"/>
                <a:cs typeface="Times New Roman"/>
              </a:rPr>
              <a:t> </a:t>
            </a:r>
            <a:r>
              <a:rPr sz="2600" i="1" spc="-65" dirty="0">
                <a:latin typeface="Times New Roman"/>
                <a:cs typeface="Times New Roman"/>
              </a:rPr>
              <a:t>styles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b="1" dirty="0">
                <a:latin typeface="Times New Roman"/>
                <a:cs typeface="Times New Roman"/>
              </a:rPr>
              <a:t>hover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must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after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link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visited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b="1" dirty="0">
                <a:latin typeface="Times New Roman"/>
                <a:cs typeface="Times New Roman"/>
              </a:rPr>
              <a:t>active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must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follow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hover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111" y="-32003"/>
            <a:ext cx="87210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90" dirty="0"/>
              <a:t> </a:t>
            </a:r>
            <a:r>
              <a:rPr sz="6000" dirty="0"/>
              <a:t>–</a:t>
            </a:r>
            <a:r>
              <a:rPr sz="6000" spc="-190" dirty="0"/>
              <a:t> </a:t>
            </a:r>
            <a:r>
              <a:rPr sz="6000" spc="-60" dirty="0"/>
              <a:t>Example:</a:t>
            </a:r>
            <a:r>
              <a:rPr sz="6000" spc="-180" dirty="0"/>
              <a:t> </a:t>
            </a:r>
            <a:r>
              <a:rPr sz="6000" dirty="0"/>
              <a:t>Link</a:t>
            </a:r>
            <a:r>
              <a:rPr sz="6000" spc="-180" dirty="0"/>
              <a:t> </a:t>
            </a:r>
            <a:r>
              <a:rPr sz="6000" spc="-10" dirty="0"/>
              <a:t>Styles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261111" y="1035557"/>
            <a:ext cx="168084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Times New Roman"/>
                <a:cs typeface="Times New Roman"/>
              </a:rPr>
              <a:t>&lt;!DOCTYPE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html&gt;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&lt;html&gt;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&lt;head&gt;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111" y="1767586"/>
            <a:ext cx="453707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&lt;style&gt;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a:link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{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text-</a:t>
            </a:r>
            <a:r>
              <a:rPr sz="1600" dirty="0">
                <a:latin typeface="Times New Roman"/>
                <a:cs typeface="Times New Roman"/>
              </a:rPr>
              <a:t>decoration: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none;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a:visited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{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text-</a:t>
            </a:r>
            <a:r>
              <a:rPr sz="1600" dirty="0">
                <a:latin typeface="Times New Roman"/>
                <a:cs typeface="Times New Roman"/>
              </a:rPr>
              <a:t>decoration: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none;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color: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green;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} </a:t>
            </a:r>
            <a:r>
              <a:rPr sz="1600" dirty="0">
                <a:latin typeface="Times New Roman"/>
                <a:cs typeface="Times New Roman"/>
              </a:rPr>
              <a:t>a:hover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{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text-</a:t>
            </a:r>
            <a:r>
              <a:rPr sz="1600" dirty="0">
                <a:latin typeface="Times New Roman"/>
                <a:cs typeface="Times New Roman"/>
              </a:rPr>
              <a:t>decoration: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underline;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color: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red;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} </a:t>
            </a:r>
            <a:r>
              <a:rPr sz="1600" dirty="0">
                <a:latin typeface="Times New Roman"/>
                <a:cs typeface="Times New Roman"/>
              </a:rPr>
              <a:t>a:active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{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text-</a:t>
            </a:r>
            <a:r>
              <a:rPr sz="1600" dirty="0">
                <a:latin typeface="Times New Roman"/>
                <a:cs typeface="Times New Roman"/>
              </a:rPr>
              <a:t>decoration: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underline;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color: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hotpink;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&lt;/style&gt;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&lt;/head&gt;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&lt;body&gt;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111" y="3718052"/>
            <a:ext cx="610933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&lt;p&gt;&lt;b&gt;&lt;a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href="default.asp"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target="_blank"&gt;This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 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link&lt;/a&gt;&lt;/b&gt;&lt;/p&gt;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&lt;p&gt;Misc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text&lt;/p&gt;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111" y="4206240"/>
            <a:ext cx="7200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&lt;/body&gt;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&lt;/html&gt;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7832" y="1585467"/>
            <a:ext cx="3232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left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button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depressed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link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6270" y="4140707"/>
            <a:ext cx="1663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visiting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link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5271" y="1943100"/>
            <a:ext cx="3286309" cy="8001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903" y="4690871"/>
            <a:ext cx="3171969" cy="79628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215" dirty="0"/>
              <a:t> </a:t>
            </a:r>
            <a:r>
              <a:rPr dirty="0"/>
              <a:t>–</a:t>
            </a:r>
            <a:r>
              <a:rPr spc="-225" dirty="0"/>
              <a:t> </a:t>
            </a:r>
            <a:r>
              <a:rPr spc="-25" dirty="0"/>
              <a:t>Styles</a:t>
            </a:r>
            <a:r>
              <a:rPr spc="-225" dirty="0"/>
              <a:t> </a:t>
            </a:r>
            <a:r>
              <a:rPr dirty="0"/>
              <a:t>for</a:t>
            </a:r>
            <a:r>
              <a:rPr spc="-245" dirty="0"/>
              <a:t> </a:t>
            </a:r>
            <a:r>
              <a:rPr spc="-1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9976" y="920199"/>
            <a:ext cx="8077200" cy="497014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61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i="1" spc="-385" dirty="0">
                <a:latin typeface="Times New Roman"/>
                <a:cs typeface="Times New Roman"/>
              </a:rPr>
              <a:t>Unordered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spc="-204" dirty="0">
                <a:latin typeface="Times New Roman"/>
                <a:cs typeface="Times New Roman"/>
              </a:rPr>
              <a:t>list:</a:t>
            </a:r>
            <a:r>
              <a:rPr sz="3200" i="1" spc="-330" dirty="0">
                <a:latin typeface="Times New Roman"/>
                <a:cs typeface="Times New Roman"/>
              </a:rPr>
              <a:t> </a:t>
            </a:r>
            <a:r>
              <a:rPr sz="3200" i="1" spc="-180" dirty="0">
                <a:latin typeface="Times New Roman"/>
                <a:cs typeface="Times New Roman"/>
              </a:rPr>
              <a:t>list-</a:t>
            </a:r>
            <a:r>
              <a:rPr sz="3200" i="1" spc="-240" dirty="0">
                <a:latin typeface="Times New Roman"/>
                <a:cs typeface="Times New Roman"/>
              </a:rPr>
              <a:t>style-</a:t>
            </a:r>
            <a:r>
              <a:rPr sz="3200" i="1" spc="-305" dirty="0">
                <a:latin typeface="Times New Roman"/>
                <a:cs typeface="Times New Roman"/>
              </a:rPr>
              <a:t>type</a:t>
            </a:r>
            <a:endParaRPr sz="32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5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Circle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0" dirty="0">
                <a:latin typeface="Times New Roman"/>
                <a:cs typeface="Times New Roman"/>
              </a:rPr>
              <a:t>Square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20" dirty="0">
                <a:latin typeface="Times New Roman"/>
                <a:cs typeface="Times New Roman"/>
              </a:rPr>
              <a:t>Disc</a:t>
            </a:r>
            <a:endParaRPr sz="28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54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i="1" spc="-409" dirty="0">
                <a:latin typeface="Times New Roman"/>
                <a:cs typeface="Times New Roman"/>
              </a:rPr>
              <a:t>Ordered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i="1" spc="-204" dirty="0">
                <a:latin typeface="Times New Roman"/>
                <a:cs typeface="Times New Roman"/>
              </a:rPr>
              <a:t>list:</a:t>
            </a:r>
            <a:r>
              <a:rPr sz="3200" i="1" spc="-325" dirty="0">
                <a:latin typeface="Times New Roman"/>
                <a:cs typeface="Times New Roman"/>
              </a:rPr>
              <a:t> </a:t>
            </a:r>
            <a:r>
              <a:rPr sz="3200" i="1" spc="-180" dirty="0">
                <a:latin typeface="Times New Roman"/>
                <a:cs typeface="Times New Roman"/>
              </a:rPr>
              <a:t>list-</a:t>
            </a:r>
            <a:r>
              <a:rPr sz="3200" i="1" spc="-240" dirty="0">
                <a:latin typeface="Times New Roman"/>
                <a:cs typeface="Times New Roman"/>
              </a:rPr>
              <a:t>style-</a:t>
            </a:r>
            <a:r>
              <a:rPr sz="3200" i="1" spc="-305" dirty="0">
                <a:latin typeface="Times New Roman"/>
                <a:cs typeface="Times New Roman"/>
              </a:rPr>
              <a:t>type</a:t>
            </a:r>
            <a:endParaRPr sz="32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5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10" dirty="0">
                <a:latin typeface="Times New Roman"/>
                <a:cs typeface="Times New Roman"/>
              </a:rPr>
              <a:t>Upper-</a:t>
            </a:r>
            <a:r>
              <a:rPr sz="2800" spc="-10" dirty="0">
                <a:latin typeface="Times New Roman"/>
                <a:cs typeface="Times New Roman"/>
              </a:rPr>
              <a:t>roman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65" dirty="0">
                <a:latin typeface="Times New Roman"/>
                <a:cs typeface="Times New Roman"/>
              </a:rPr>
              <a:t>Lower-</a:t>
            </a:r>
            <a:r>
              <a:rPr sz="2800" spc="-10" dirty="0">
                <a:latin typeface="Times New Roman"/>
                <a:cs typeface="Times New Roman"/>
              </a:rPr>
              <a:t>roman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05" dirty="0">
                <a:latin typeface="Times New Roman"/>
                <a:cs typeface="Times New Roman"/>
              </a:rPr>
              <a:t>Upper-</a:t>
            </a:r>
            <a:r>
              <a:rPr sz="2800" spc="-10" dirty="0">
                <a:latin typeface="Times New Roman"/>
                <a:cs typeface="Times New Roman"/>
              </a:rPr>
              <a:t>alpha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165" dirty="0">
                <a:latin typeface="Times New Roman"/>
                <a:cs typeface="Times New Roman"/>
              </a:rPr>
              <a:t>Lower-</a:t>
            </a:r>
            <a:r>
              <a:rPr sz="2800" spc="-10" dirty="0">
                <a:latin typeface="Times New Roman"/>
                <a:cs typeface="Times New Roman"/>
              </a:rPr>
              <a:t>alpha</a:t>
            </a:r>
            <a:endParaRPr sz="2800">
              <a:latin typeface="Times New Roman"/>
              <a:cs typeface="Times New Roman"/>
            </a:endParaRPr>
          </a:p>
          <a:p>
            <a:pPr marL="558800" lvl="1" indent="-2635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3928"/>
              <a:buFont typeface="Segoe UI Symbol"/>
              <a:buChar char="⚫"/>
              <a:tabLst>
                <a:tab pos="558800" algn="l"/>
              </a:tabLst>
            </a:pPr>
            <a:r>
              <a:rPr sz="2800" spc="-40" dirty="0">
                <a:latin typeface="Times New Roman"/>
                <a:cs typeface="Times New Roman"/>
              </a:rPr>
              <a:t>Other: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400" u="sng" spc="-5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https://www.w3schools.com/cssref/pr_list-</a:t>
            </a:r>
            <a:r>
              <a:rPr sz="2400" u="sng" spc="-1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style-</a:t>
            </a:r>
            <a:r>
              <a:rPr sz="2400" u="sng" spc="-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type.asp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-125730"/>
            <a:ext cx="748030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</a:t>
            </a:r>
            <a:r>
              <a:rPr spc="-215" dirty="0"/>
              <a:t> </a:t>
            </a:r>
            <a:r>
              <a:rPr dirty="0"/>
              <a:t>–</a:t>
            </a:r>
            <a:r>
              <a:rPr spc="-225" dirty="0"/>
              <a:t> </a:t>
            </a:r>
            <a:r>
              <a:rPr spc="-25" dirty="0"/>
              <a:t>Styles</a:t>
            </a:r>
            <a:r>
              <a:rPr spc="-225" dirty="0"/>
              <a:t> </a:t>
            </a:r>
            <a:r>
              <a:rPr dirty="0"/>
              <a:t>for</a:t>
            </a:r>
            <a:r>
              <a:rPr spc="-245" dirty="0"/>
              <a:t> </a:t>
            </a:r>
            <a:r>
              <a:rPr spc="-1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38421"/>
            <a:ext cx="8083550" cy="261747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505"/>
              </a:spcBef>
              <a:buClr>
                <a:srgbClr val="D24717"/>
              </a:buClr>
              <a:buSzPct val="78125"/>
              <a:buFont typeface="Segoe UI Symbol"/>
              <a:buChar char="⚫"/>
              <a:tabLst>
                <a:tab pos="284480" algn="l"/>
              </a:tabLst>
            </a:pPr>
            <a:r>
              <a:rPr sz="3200" i="1" spc="-254" dirty="0">
                <a:latin typeface="Times New Roman"/>
                <a:cs typeface="Times New Roman"/>
              </a:rPr>
              <a:t>Attribute:</a:t>
            </a:r>
            <a:r>
              <a:rPr sz="3200" i="1" spc="-335" dirty="0">
                <a:latin typeface="Times New Roman"/>
                <a:cs typeface="Times New Roman"/>
              </a:rPr>
              <a:t> </a:t>
            </a:r>
            <a:r>
              <a:rPr sz="3200" i="1" spc="-175" dirty="0">
                <a:latin typeface="Times New Roman"/>
                <a:cs typeface="Times New Roman"/>
              </a:rPr>
              <a:t>list-</a:t>
            </a:r>
            <a:r>
              <a:rPr sz="3200" i="1" spc="-240" dirty="0">
                <a:latin typeface="Times New Roman"/>
                <a:cs typeface="Times New Roman"/>
              </a:rPr>
              <a:t>style-</a:t>
            </a:r>
            <a:r>
              <a:rPr sz="3200" i="1" spc="-280" dirty="0">
                <a:latin typeface="Times New Roman"/>
                <a:cs typeface="Times New Roman"/>
              </a:rPr>
              <a:t>position</a:t>
            </a:r>
            <a:r>
              <a:rPr sz="3200" i="1" spc="35" dirty="0">
                <a:latin typeface="Times New Roman"/>
                <a:cs typeface="Times New Roman"/>
              </a:rPr>
              <a:t> </a:t>
            </a:r>
            <a:r>
              <a:rPr sz="3200" i="1" spc="-300" dirty="0">
                <a:latin typeface="Times New Roman"/>
                <a:cs typeface="Times New Roman"/>
              </a:rPr>
              <a:t>(shorthand</a:t>
            </a:r>
            <a:r>
              <a:rPr sz="3200" i="1" spc="25" dirty="0">
                <a:latin typeface="Times New Roman"/>
                <a:cs typeface="Times New Roman"/>
              </a:rPr>
              <a:t> </a:t>
            </a:r>
            <a:r>
              <a:rPr sz="3200" i="1" spc="-245" dirty="0">
                <a:latin typeface="Times New Roman"/>
                <a:cs typeface="Times New Roman"/>
              </a:rPr>
              <a:t>attribute:</a:t>
            </a:r>
            <a:r>
              <a:rPr sz="3200" i="1" spc="-320" dirty="0">
                <a:latin typeface="Times New Roman"/>
                <a:cs typeface="Times New Roman"/>
              </a:rPr>
              <a:t> </a:t>
            </a:r>
            <a:r>
              <a:rPr sz="3200" i="1" spc="-175" dirty="0">
                <a:latin typeface="Times New Roman"/>
                <a:cs typeface="Times New Roman"/>
              </a:rPr>
              <a:t>list-</a:t>
            </a:r>
            <a:r>
              <a:rPr sz="3200" i="1" spc="-275" dirty="0">
                <a:latin typeface="Times New Roman"/>
                <a:cs typeface="Times New Roman"/>
              </a:rPr>
              <a:t>style)</a:t>
            </a:r>
            <a:endParaRPr sz="3200">
              <a:latin typeface="Times New Roman"/>
              <a:cs typeface="Times New Roman"/>
            </a:endParaRPr>
          </a:p>
          <a:p>
            <a:pPr marL="560070" marR="190500" lvl="1" indent="-302260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60070" algn="l"/>
              </a:tabLst>
            </a:pPr>
            <a:r>
              <a:rPr sz="3200" spc="-190" dirty="0">
                <a:latin typeface="Times New Roman"/>
                <a:cs typeface="Times New Roman"/>
              </a:rPr>
              <a:t>Inside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bullet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marker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pulled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in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with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text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(so </a:t>
            </a:r>
            <a:r>
              <a:rPr sz="3200" spc="-175" dirty="0">
                <a:latin typeface="Times New Roman"/>
                <a:cs typeface="Times New Roman"/>
              </a:rPr>
              <a:t>inside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border)</a:t>
            </a:r>
            <a:endParaRPr sz="3200">
              <a:latin typeface="Times New Roman"/>
              <a:cs typeface="Times New Roman"/>
            </a:endParaRPr>
          </a:p>
          <a:p>
            <a:pPr marL="559435" lvl="1" indent="-3016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4375"/>
              <a:buFont typeface="Segoe UI Symbol"/>
              <a:buChar char="⚫"/>
              <a:tabLst>
                <a:tab pos="559435" algn="l"/>
              </a:tabLst>
            </a:pPr>
            <a:r>
              <a:rPr sz="3200" spc="-114" dirty="0">
                <a:latin typeface="Times New Roman"/>
                <a:cs typeface="Times New Roman"/>
              </a:rPr>
              <a:t>Outside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bullet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marker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is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left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outside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element’s</a:t>
            </a:r>
            <a:endParaRPr sz="3200">
              <a:latin typeface="Times New Roman"/>
              <a:cs typeface="Times New Roman"/>
            </a:endParaRPr>
          </a:p>
          <a:p>
            <a:pPr marL="560070">
              <a:lnSpc>
                <a:spcPct val="100000"/>
              </a:lnSpc>
            </a:pPr>
            <a:r>
              <a:rPr sz="3200" spc="-85" dirty="0">
                <a:latin typeface="Times New Roman"/>
                <a:cs typeface="Times New Roman"/>
              </a:rPr>
              <a:t>border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(out-</a:t>
            </a:r>
            <a:r>
              <a:rPr sz="3200" spc="-60" dirty="0">
                <a:latin typeface="Times New Roman"/>
                <a:cs typeface="Times New Roman"/>
              </a:rPr>
              <a:t>hanging)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3217"/>
            <a:ext cx="860425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CSS</a:t>
            </a:r>
            <a:r>
              <a:rPr sz="5200" spc="-190" dirty="0"/>
              <a:t> </a:t>
            </a:r>
            <a:r>
              <a:rPr sz="5200" dirty="0"/>
              <a:t>–</a:t>
            </a:r>
            <a:r>
              <a:rPr sz="5200" spc="-185" dirty="0"/>
              <a:t> </a:t>
            </a:r>
            <a:r>
              <a:rPr sz="5200" spc="-45" dirty="0"/>
              <a:t>Example:</a:t>
            </a:r>
            <a:r>
              <a:rPr sz="5200" spc="-185" dirty="0"/>
              <a:t> </a:t>
            </a:r>
            <a:r>
              <a:rPr sz="5200" spc="-20" dirty="0"/>
              <a:t>Styles</a:t>
            </a:r>
            <a:r>
              <a:rPr sz="5200" spc="-170" dirty="0"/>
              <a:t> </a:t>
            </a:r>
            <a:r>
              <a:rPr sz="5200" dirty="0"/>
              <a:t>for</a:t>
            </a:r>
            <a:r>
              <a:rPr sz="5200" spc="-190" dirty="0"/>
              <a:t> </a:t>
            </a:r>
            <a:r>
              <a:rPr sz="5200" spc="-10" dirty="0"/>
              <a:t>Lists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383540" y="1036320"/>
            <a:ext cx="4124325" cy="536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&lt;!DOCTYPE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&lt;style&gt;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li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{border: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solid;}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ul.a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1400" spc="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list-style-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position: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outside;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background: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#ff9999;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}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ul.b</a:t>
            </a:r>
            <a:r>
              <a:rPr sz="1400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{</a:t>
            </a:r>
            <a:r>
              <a:rPr sz="1400" spc="30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AFEF"/>
                </a:solidFill>
                <a:latin typeface="Times New Roman"/>
                <a:cs typeface="Times New Roman"/>
              </a:rPr>
              <a:t>list-style-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position:</a:t>
            </a:r>
            <a:r>
              <a:rPr sz="1400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inside;</a:t>
            </a:r>
            <a:r>
              <a:rPr sz="1400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background:</a:t>
            </a:r>
            <a:r>
              <a:rPr sz="1400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#9999ff;</a:t>
            </a:r>
            <a:r>
              <a:rPr sz="1400" spc="2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0AFEF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&lt;/style&gt;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&lt;h1&gt;The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list-style-</a:t>
            </a:r>
            <a:r>
              <a:rPr sz="1400" dirty="0">
                <a:latin typeface="Times New Roman"/>
                <a:cs typeface="Times New Roman"/>
              </a:rPr>
              <a:t>position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Property&lt;/h1&gt;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&lt;h2&gt;list-style-</a:t>
            </a:r>
            <a:r>
              <a:rPr sz="1400" dirty="0">
                <a:latin typeface="Times New Roman"/>
                <a:cs typeface="Times New Roman"/>
              </a:rPr>
              <a:t>position: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outside</a:t>
            </a:r>
            <a:r>
              <a:rPr sz="1400" spc="-10" dirty="0">
                <a:latin typeface="Times New Roman"/>
                <a:cs typeface="Times New Roman"/>
              </a:rPr>
              <a:t> (default):&lt;/h2&gt;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&lt;ul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class="a"&gt;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&lt;li&gt;Coffee</a:t>
            </a:r>
            <a:r>
              <a:rPr sz="14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14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brewed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drink&lt;/li&gt;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&lt;li&gt;Tea</a:t>
            </a:r>
            <a:r>
              <a:rPr sz="1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14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aromatic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beverage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&lt;/li&gt;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&lt;li&gt;Coca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Cola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14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carbonated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soft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drink&lt;/li&gt;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&lt;/ul&gt;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&lt;h2&gt;list-style-</a:t>
            </a:r>
            <a:r>
              <a:rPr sz="1400" dirty="0">
                <a:latin typeface="Times New Roman"/>
                <a:cs typeface="Times New Roman"/>
              </a:rPr>
              <a:t>position: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inside:&lt;/h2&gt;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&lt;ul</a:t>
            </a:r>
            <a:r>
              <a:rPr sz="1400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AFEF"/>
                </a:solidFill>
                <a:latin typeface="Times New Roman"/>
                <a:cs typeface="Times New Roman"/>
              </a:rPr>
              <a:t>class="b"&gt;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&lt;li&gt;Coffee</a:t>
            </a:r>
            <a:r>
              <a:rPr sz="1400" spc="-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-</a:t>
            </a:r>
            <a:r>
              <a:rPr sz="1400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1400" spc="-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brewed</a:t>
            </a:r>
            <a:r>
              <a:rPr sz="1400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AFEF"/>
                </a:solidFill>
                <a:latin typeface="Times New Roman"/>
                <a:cs typeface="Times New Roman"/>
              </a:rPr>
              <a:t>drink&lt;/li&gt;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solidFill>
                  <a:srgbClr val="00AFEF"/>
                </a:solidFill>
                <a:latin typeface="Times New Roman"/>
                <a:cs typeface="Times New Roman"/>
              </a:rPr>
              <a:t>&lt;li&gt;Tea</a:t>
            </a:r>
            <a:r>
              <a:rPr sz="1400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-</a:t>
            </a:r>
            <a:r>
              <a:rPr sz="1400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An</a:t>
            </a:r>
            <a:r>
              <a:rPr sz="1400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aromatic</a:t>
            </a:r>
            <a:r>
              <a:rPr sz="1400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beverage</a:t>
            </a:r>
            <a:r>
              <a:rPr sz="1400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AFEF"/>
                </a:solidFill>
                <a:latin typeface="Times New Roman"/>
                <a:cs typeface="Times New Roman"/>
              </a:rPr>
              <a:t>&lt;/li&gt;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&lt;li&gt;Coca</a:t>
            </a:r>
            <a:r>
              <a:rPr sz="1400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Cola</a:t>
            </a:r>
            <a:r>
              <a:rPr sz="1400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-</a:t>
            </a:r>
            <a:r>
              <a:rPr sz="1400" spc="-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1400" spc="-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carbonated</a:t>
            </a:r>
            <a:r>
              <a:rPr sz="1400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AFEF"/>
                </a:solidFill>
                <a:latin typeface="Times New Roman"/>
                <a:cs typeface="Times New Roman"/>
              </a:rPr>
              <a:t>soft</a:t>
            </a:r>
            <a:r>
              <a:rPr sz="1400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AFEF"/>
                </a:solidFill>
                <a:latin typeface="Times New Roman"/>
                <a:cs typeface="Times New Roman"/>
              </a:rPr>
              <a:t>drink&lt;/li&gt;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AFEF"/>
                </a:solidFill>
                <a:latin typeface="Times New Roman"/>
                <a:cs typeface="Times New Roman"/>
              </a:rPr>
              <a:t>&lt;/ul&gt;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2000250"/>
            <a:ext cx="4409774" cy="33337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375" y="-32003"/>
            <a:ext cx="7366634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CSS</a:t>
            </a:r>
            <a:r>
              <a:rPr sz="6000" spc="-195" dirty="0"/>
              <a:t> </a:t>
            </a:r>
            <a:r>
              <a:rPr sz="6000" dirty="0"/>
              <a:t>–</a:t>
            </a:r>
            <a:r>
              <a:rPr sz="6000" spc="-200" dirty="0"/>
              <a:t> </a:t>
            </a:r>
            <a:r>
              <a:rPr sz="6000" dirty="0"/>
              <a:t>Styles</a:t>
            </a:r>
            <a:r>
              <a:rPr sz="6000" spc="-195" dirty="0"/>
              <a:t> </a:t>
            </a:r>
            <a:r>
              <a:rPr sz="6000" dirty="0"/>
              <a:t>for</a:t>
            </a:r>
            <a:r>
              <a:rPr sz="6000" spc="-190" dirty="0"/>
              <a:t> </a:t>
            </a:r>
            <a:r>
              <a:rPr sz="6000" spc="-55" dirty="0"/>
              <a:t>Tables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722376" y="996441"/>
            <a:ext cx="8244205" cy="248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marR="5080" indent="-271145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90" dirty="0">
                <a:latin typeface="Times New Roman"/>
                <a:cs typeface="Times New Roman"/>
              </a:rPr>
              <a:t>Various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table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elements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take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properties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like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border,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padding, 	</a:t>
            </a:r>
            <a:r>
              <a:rPr sz="2600" spc="-50" dirty="0">
                <a:latin typeface="Times New Roman"/>
                <a:cs typeface="Times New Roman"/>
              </a:rPr>
              <a:t>text-</a:t>
            </a:r>
            <a:r>
              <a:rPr sz="2600" spc="-125" dirty="0">
                <a:latin typeface="Times New Roman"/>
                <a:cs typeface="Times New Roman"/>
              </a:rPr>
              <a:t>align,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width,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height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others</a:t>
            </a:r>
            <a:endParaRPr sz="26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0" dirty="0">
                <a:latin typeface="Times New Roman"/>
                <a:cs typeface="Times New Roman"/>
              </a:rPr>
              <a:t>border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10" dirty="0">
                <a:latin typeface="Times New Roman"/>
                <a:cs typeface="Times New Roman"/>
              </a:rPr>
              <a:t>width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50" dirty="0">
                <a:latin typeface="Times New Roman"/>
                <a:cs typeface="Times New Roman"/>
              </a:rPr>
              <a:t>text-</a:t>
            </a:r>
            <a:r>
              <a:rPr sz="2400" spc="-10" dirty="0">
                <a:latin typeface="Times New Roman"/>
                <a:cs typeface="Times New Roman"/>
              </a:rPr>
              <a:t>align</a:t>
            </a:r>
            <a:endParaRPr sz="2400">
              <a:latin typeface="Times New Roman"/>
              <a:cs typeface="Times New Roman"/>
            </a:endParaRPr>
          </a:p>
          <a:p>
            <a:pPr marL="559435" lvl="1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59435" algn="l"/>
              </a:tabLst>
            </a:pPr>
            <a:r>
              <a:rPr sz="2400" spc="-75" dirty="0">
                <a:latin typeface="Times New Roman"/>
                <a:cs typeface="Times New Roman"/>
              </a:rPr>
              <a:t>border-</a:t>
            </a:r>
            <a:r>
              <a:rPr sz="2400" spc="-10" dirty="0">
                <a:latin typeface="Times New Roman"/>
                <a:cs typeface="Times New Roman"/>
              </a:rPr>
              <a:t>collapse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1096" y="2238375"/>
            <a:ext cx="5893499" cy="40469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0"/>
              </a:lnSpc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543046" y="6480672"/>
            <a:ext cx="1847850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(</a:t>
            </a:r>
            <a:r>
              <a:rPr lang="en-IN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5746" y="6493372"/>
            <a:ext cx="182245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latin typeface="Arial MT"/>
                <a:cs typeface="Arial MT"/>
              </a:rPr>
              <a:t>(</a:t>
            </a:r>
            <a:r>
              <a:rPr lang="en-IN" sz="1000" dirty="0">
                <a:latin typeface="Arial MT"/>
                <a:cs typeface="Arial MT"/>
              </a:rPr>
              <a:t> 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939" y="-43180"/>
            <a:ext cx="62077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130" dirty="0"/>
              <a:t> </a:t>
            </a:r>
            <a:r>
              <a:rPr sz="4000" dirty="0"/>
              <a:t>–</a:t>
            </a:r>
            <a:r>
              <a:rPr sz="4000" spc="-114" dirty="0"/>
              <a:t> </a:t>
            </a:r>
            <a:r>
              <a:rPr sz="4000" spc="-35" dirty="0"/>
              <a:t>Example:</a:t>
            </a:r>
            <a:r>
              <a:rPr sz="4000" spc="-114" dirty="0"/>
              <a:t> </a:t>
            </a:r>
            <a:r>
              <a:rPr sz="4000" spc="-55" dirty="0"/>
              <a:t>Table</a:t>
            </a:r>
            <a:r>
              <a:rPr sz="4000" spc="-120" dirty="0"/>
              <a:t> </a:t>
            </a:r>
            <a:r>
              <a:rPr sz="4000" spc="-10" dirty="0"/>
              <a:t>Styling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431545" y="569721"/>
            <a:ext cx="4065904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Times New Roman"/>
                <a:cs typeface="Times New Roman"/>
              </a:rPr>
              <a:t>&lt;!DOCTYPE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&lt;html&gt;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&lt;head&gt;</a:t>
            </a:r>
            <a:endParaRPr sz="1400">
              <a:latin typeface="Times New Roman"/>
              <a:cs typeface="Times New Roman"/>
            </a:endParaRPr>
          </a:p>
          <a:p>
            <a:pPr marL="12700" marR="311531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&lt;style&gt; </a:t>
            </a:r>
            <a:r>
              <a:rPr sz="1400" dirty="0">
                <a:latin typeface="Times New Roman"/>
                <a:cs typeface="Times New Roman"/>
              </a:rPr>
              <a:t>table,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td,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border: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1px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solid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black;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table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01600" marR="212852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border-</a:t>
            </a:r>
            <a:r>
              <a:rPr sz="1400" dirty="0">
                <a:latin typeface="Times New Roman"/>
                <a:cs typeface="Times New Roman"/>
              </a:rPr>
              <a:t>collapse: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collapse; </a:t>
            </a:r>
            <a:r>
              <a:rPr sz="1400" dirty="0">
                <a:latin typeface="Times New Roman"/>
                <a:cs typeface="Times New Roman"/>
              </a:rPr>
              <a:t>width: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100%;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th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text-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align: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center;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&lt;/style&gt;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&lt;/head&gt;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&lt;h2&gt;The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text-</a:t>
            </a:r>
            <a:r>
              <a:rPr sz="1400" dirty="0">
                <a:latin typeface="Times New Roman"/>
                <a:cs typeface="Times New Roman"/>
              </a:rPr>
              <a:t>align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Property&lt;/h2&gt;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&lt;p&gt;This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property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horizontal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alignment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(like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left,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right,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center) 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content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10" dirty="0">
                <a:latin typeface="Times New Roman"/>
                <a:cs typeface="Times New Roman"/>
              </a:rPr>
              <a:t> td:&lt;/p&gt;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&lt;table&gt;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&lt;tr&gt;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700" y="5264150"/>
            <a:ext cx="14624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Times New Roman"/>
                <a:cs typeface="Times New Roman"/>
              </a:rPr>
              <a:t>&lt;th&gt;Firstname&lt;/th&gt;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&lt;th&gt;Lastname&lt;/th&gt;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&lt;th&gt;Savings&lt;/th&gt;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&lt;/tr&gt;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4796" y="498602"/>
            <a:ext cx="1560830" cy="493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&lt;tr&gt;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&lt;td&gt;Peter&lt;/td&gt;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&lt;td&gt;Griffin&lt;/td&gt;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&lt;td&gt;$100&lt;/td&gt;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&lt;/tr&gt;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&lt;tr&gt;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&lt;td&gt;Lois&lt;/td&gt;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&lt;td&gt;Griffin&lt;/td&gt;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&lt;td&gt;$150&lt;/td&gt;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&lt;/tr&gt;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&lt;tr&gt;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&lt;td&gt;Joe&lt;/td&gt;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&lt;td&gt;Swanson&lt;/td&gt;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&lt;td&gt;$300&lt;/td&gt;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&lt;/tr&gt;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&lt;tr&gt;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&lt;td&gt;Cleveland&lt;/td&gt;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&lt;td&gt;Brown&lt;/td&gt;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&lt;td&gt;$250&lt;/td&gt;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&lt;/tr&gt;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&lt;/table&gt;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&lt;/body&gt;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&lt;/html&gt;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76538" y="5425821"/>
            <a:ext cx="4991100" cy="1385570"/>
            <a:chOff x="2276538" y="5425821"/>
            <a:chExt cx="4991100" cy="13855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5435344"/>
              <a:ext cx="4972050" cy="13662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81301" y="5430583"/>
              <a:ext cx="4981575" cy="1376045"/>
            </a:xfrm>
            <a:custGeom>
              <a:avLst/>
              <a:gdLst/>
              <a:ahLst/>
              <a:cxnLst/>
              <a:rect l="l" t="t" r="r" b="b"/>
              <a:pathLst>
                <a:path w="4981575" h="1376045">
                  <a:moveTo>
                    <a:pt x="0" y="1375790"/>
                  </a:moveTo>
                  <a:lnTo>
                    <a:pt x="4981575" y="1375790"/>
                  </a:lnTo>
                  <a:lnTo>
                    <a:pt x="4981575" y="0"/>
                  </a:lnTo>
                  <a:lnTo>
                    <a:pt x="0" y="0"/>
                  </a:lnTo>
                  <a:lnTo>
                    <a:pt x="0" y="1375790"/>
                  </a:lnTo>
                  <a:close/>
                </a:path>
              </a:pathLst>
            </a:custGeom>
            <a:ln w="9525">
              <a:solidFill>
                <a:srgbClr val="422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7302" y="6305550"/>
            <a:ext cx="2362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64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3046" y="6468617"/>
            <a:ext cx="184785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(</a:t>
            </a:r>
            <a:r>
              <a:rPr lang="en-IN" sz="1000" dirty="0">
                <a:latin typeface="Arial MT"/>
                <a:cs typeface="Arial MT"/>
              </a:rPr>
              <a:t> 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-183642"/>
            <a:ext cx="454469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155" dirty="0"/>
              <a:t>Summary</a:t>
            </a:r>
            <a:endParaRPr sz="8800"/>
          </a:p>
        </p:txBody>
      </p:sp>
      <p:sp>
        <p:nvSpPr>
          <p:cNvPr id="4" name="object 4"/>
          <p:cNvSpPr txBox="1"/>
          <p:nvPr/>
        </p:nvSpPr>
        <p:spPr>
          <a:xfrm>
            <a:off x="535940" y="934415"/>
            <a:ext cx="7971790" cy="54108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4480" indent="-280670">
              <a:lnSpc>
                <a:spcPct val="100000"/>
              </a:lnSpc>
              <a:spcBef>
                <a:spcPts val="500"/>
              </a:spcBef>
              <a:buClr>
                <a:srgbClr val="D24717"/>
              </a:buClr>
              <a:buSzPct val="75000"/>
              <a:buFont typeface="Segoe UI Symbol"/>
              <a:buChar char="⚫"/>
              <a:tabLst>
                <a:tab pos="284480" algn="l"/>
              </a:tabLst>
            </a:pPr>
            <a:r>
              <a:rPr sz="3200" b="1" spc="-270" dirty="0">
                <a:latin typeface="Times New Roman"/>
                <a:cs typeface="Times New Roman"/>
              </a:rPr>
              <a:t>HTML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Hyper</a:t>
            </a:r>
            <a:r>
              <a:rPr sz="3200" spc="-44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Text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Markup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Language</a:t>
            </a:r>
            <a:endParaRPr sz="3200">
              <a:latin typeface="Times New Roman"/>
              <a:cs typeface="Times New Roman"/>
            </a:endParaRPr>
          </a:p>
          <a:p>
            <a:pPr marL="55880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558800" algn="l"/>
              </a:tabLst>
            </a:pPr>
            <a:r>
              <a:rPr sz="3200" spc="-190" dirty="0">
                <a:latin typeface="Times New Roman"/>
                <a:cs typeface="Times New Roman"/>
              </a:rPr>
              <a:t>Used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describe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most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web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page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content</a:t>
            </a:r>
            <a:endParaRPr sz="3200">
              <a:latin typeface="Times New Roman"/>
              <a:cs typeface="Times New Roman"/>
            </a:endParaRPr>
          </a:p>
          <a:p>
            <a:pPr marL="558800" lvl="1" indent="-3016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558800" algn="l"/>
              </a:tabLst>
            </a:pPr>
            <a:r>
              <a:rPr sz="3200" spc="-175" dirty="0">
                <a:latin typeface="Times New Roman"/>
                <a:cs typeface="Times New Roman"/>
              </a:rPr>
              <a:t>Static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no</a:t>
            </a:r>
            <a:r>
              <a:rPr sz="3200" spc="-39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‘execution’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semantics</a:t>
            </a:r>
            <a:endParaRPr sz="3200">
              <a:latin typeface="Times New Roman"/>
              <a:cs typeface="Times New Roman"/>
            </a:endParaRPr>
          </a:p>
          <a:p>
            <a:pPr marL="284480" indent="-28067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5000"/>
              <a:buFont typeface="Segoe UI Symbol"/>
              <a:buChar char="⚫"/>
              <a:tabLst>
                <a:tab pos="284480" algn="l"/>
              </a:tabLst>
            </a:pPr>
            <a:r>
              <a:rPr sz="3200" b="1" i="1" spc="180" dirty="0">
                <a:latin typeface="Times New Roman"/>
                <a:cs typeface="Times New Roman"/>
              </a:rPr>
              <a:t>C//</a:t>
            </a:r>
            <a:r>
              <a:rPr sz="3200" b="1" i="1" spc="-6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–</a:t>
            </a:r>
            <a:r>
              <a:rPr sz="3200" i="1" spc="-55" dirty="0">
                <a:latin typeface="Times New Roman"/>
                <a:cs typeface="Times New Roman"/>
              </a:rPr>
              <a:t> </a:t>
            </a:r>
            <a:r>
              <a:rPr sz="3200" i="1" spc="-370" dirty="0">
                <a:latin typeface="Times New Roman"/>
                <a:cs typeface="Times New Roman"/>
              </a:rPr>
              <a:t>Cascading</a:t>
            </a:r>
            <a:r>
              <a:rPr sz="3200" i="1" spc="-45" dirty="0">
                <a:latin typeface="Times New Roman"/>
                <a:cs typeface="Times New Roman"/>
              </a:rPr>
              <a:t> </a:t>
            </a:r>
            <a:r>
              <a:rPr sz="3200" i="1" spc="-245" dirty="0">
                <a:latin typeface="Times New Roman"/>
                <a:cs typeface="Times New Roman"/>
              </a:rPr>
              <a:t>Style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i="1" spc="-340" dirty="0">
                <a:latin typeface="Times New Roman"/>
                <a:cs typeface="Times New Roman"/>
              </a:rPr>
              <a:t>Sheets</a:t>
            </a:r>
            <a:endParaRPr sz="3200">
              <a:latin typeface="Times New Roman"/>
              <a:cs typeface="Times New Roman"/>
            </a:endParaRPr>
          </a:p>
          <a:p>
            <a:pPr marL="558800" lvl="1" indent="-30162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558800" algn="l"/>
              </a:tabLst>
            </a:pPr>
            <a:r>
              <a:rPr sz="3200" spc="-160" dirty="0">
                <a:latin typeface="Times New Roman"/>
                <a:cs typeface="Times New Roman"/>
              </a:rPr>
              <a:t>Help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customize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look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feel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95" dirty="0">
                <a:latin typeface="Times New Roman"/>
                <a:cs typeface="Times New Roman"/>
              </a:rPr>
              <a:t>of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web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pages</a:t>
            </a:r>
            <a:endParaRPr sz="3200">
              <a:latin typeface="Times New Roman"/>
              <a:cs typeface="Times New Roman"/>
            </a:endParaRPr>
          </a:p>
          <a:p>
            <a:pPr marL="558800" marR="5080" lvl="1" indent="-30162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560070" algn="l"/>
              </a:tabLst>
            </a:pPr>
            <a:r>
              <a:rPr sz="3200" spc="-160" dirty="0">
                <a:latin typeface="Times New Roman"/>
                <a:cs typeface="Times New Roman"/>
              </a:rPr>
              <a:t>Numerous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80" dirty="0">
                <a:latin typeface="Times New Roman"/>
                <a:cs typeface="Times New Roman"/>
              </a:rPr>
              <a:t>ways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address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elements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groups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of 	</a:t>
            </a:r>
            <a:r>
              <a:rPr sz="3200" spc="-10" dirty="0">
                <a:latin typeface="Times New Roman"/>
                <a:cs typeface="Times New Roman"/>
              </a:rPr>
              <a:t>elements</a:t>
            </a:r>
            <a:endParaRPr sz="3200">
              <a:latin typeface="Times New Roman"/>
              <a:cs typeface="Times New Roman"/>
            </a:endParaRPr>
          </a:p>
          <a:p>
            <a:pPr marL="558800" lvl="1" indent="-30162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558800" algn="l"/>
              </a:tabLst>
            </a:pPr>
            <a:r>
              <a:rPr sz="3200" spc="-229" dirty="0">
                <a:latin typeface="Times New Roman"/>
                <a:cs typeface="Times New Roman"/>
              </a:rPr>
              <a:t>Varied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properties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produce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rich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styling</a:t>
            </a:r>
            <a:endParaRPr sz="3200">
              <a:latin typeface="Times New Roman"/>
              <a:cs typeface="Times New Roman"/>
            </a:endParaRPr>
          </a:p>
          <a:p>
            <a:pPr marL="271780" marR="5935345" indent="-271780" algn="r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5000"/>
              <a:buFont typeface="Segoe UI Symbol"/>
              <a:buChar char="⚫"/>
              <a:tabLst>
                <a:tab pos="271780" algn="l"/>
              </a:tabLst>
            </a:pPr>
            <a:r>
              <a:rPr sz="3200" i="1" spc="-265" dirty="0">
                <a:latin typeface="Times New Roman"/>
                <a:cs typeface="Times New Roman"/>
              </a:rPr>
              <a:t>Next</a:t>
            </a:r>
            <a:r>
              <a:rPr sz="3200" i="1" spc="-75" dirty="0">
                <a:latin typeface="Times New Roman"/>
                <a:cs typeface="Times New Roman"/>
              </a:rPr>
              <a:t> </a:t>
            </a:r>
            <a:r>
              <a:rPr sz="3200" i="1" spc="-360" dirty="0">
                <a:latin typeface="Times New Roman"/>
                <a:cs typeface="Times New Roman"/>
              </a:rPr>
              <a:t>Lecture:</a:t>
            </a:r>
            <a:endParaRPr sz="3200">
              <a:latin typeface="Times New Roman"/>
              <a:cs typeface="Times New Roman"/>
            </a:endParaRPr>
          </a:p>
          <a:p>
            <a:pPr marL="227965" marR="5960110" lvl="1" indent="-227965" algn="r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62500"/>
              <a:buFont typeface="Segoe UI Symbol"/>
              <a:buChar char="⚫"/>
              <a:tabLst>
                <a:tab pos="227965" algn="l"/>
              </a:tabLst>
            </a:pPr>
            <a:r>
              <a:rPr sz="3200" spc="-110" dirty="0">
                <a:latin typeface="Times New Roman"/>
                <a:cs typeface="Times New Roman"/>
              </a:rPr>
              <a:t>JavaScript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7302" y="6305550"/>
            <a:ext cx="2343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65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CC9900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2075</TotalTime>
  <Words>5340</Words>
  <Application>Microsoft Office PowerPoint</Application>
  <PresentationFormat>On-screen Show (4:3)</PresentationFormat>
  <Paragraphs>882</Paragraphs>
  <Slides>79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0" baseType="lpstr">
      <vt:lpstr>Arial</vt:lpstr>
      <vt:lpstr>Arial MT</vt:lpstr>
      <vt:lpstr>Calibri</vt:lpstr>
      <vt:lpstr>Consolas</vt:lpstr>
      <vt:lpstr>Franklin Gothic Medium</vt:lpstr>
      <vt:lpstr>Inter</vt:lpstr>
      <vt:lpstr>Quattrocento Sans</vt:lpstr>
      <vt:lpstr>Segoe UI Symbol</vt:lpstr>
      <vt:lpstr>Times New Roman</vt:lpstr>
      <vt:lpstr>Verdana</vt:lpstr>
      <vt:lpstr>Office Theme</vt:lpstr>
      <vt:lpstr>PowerPoint Presentation</vt:lpstr>
      <vt:lpstr>Topics</vt:lpstr>
      <vt:lpstr>HTML</vt:lpstr>
      <vt:lpstr>HTML Structure</vt:lpstr>
      <vt:lpstr>HTML – Basic Tags</vt:lpstr>
      <vt:lpstr>HTML Headings</vt:lpstr>
      <vt:lpstr>PowerPoint Presentation</vt:lpstr>
      <vt:lpstr>Image tag</vt:lpstr>
      <vt:lpstr>Font Styles</vt:lpstr>
      <vt:lpstr>Font styles </vt:lpstr>
      <vt:lpstr>PowerPoint Presentation</vt:lpstr>
      <vt:lpstr>PowerPoint Presentation</vt:lpstr>
      <vt:lpstr>Formatting Tags</vt:lpstr>
      <vt:lpstr>Example: Formatting Tags</vt:lpstr>
      <vt:lpstr>Links</vt:lpstr>
      <vt:lpstr>Links</vt:lpstr>
      <vt:lpstr>  HTML Links  HTML links are defined with the &lt;a&gt; tag  </vt:lpstr>
      <vt:lpstr>Links</vt:lpstr>
      <vt:lpstr>PowerPoint Presentation</vt:lpstr>
      <vt:lpstr>PowerPoint Presentation</vt:lpstr>
      <vt:lpstr>PowerPoint Presentation</vt:lpstr>
      <vt:lpstr>PowerPoint Presentation</vt:lpstr>
      <vt:lpstr>HTML - Lists</vt:lpstr>
      <vt:lpstr>HTML – Example: Lists</vt:lpstr>
      <vt:lpstr>HTML – Adding styles to lists</vt:lpstr>
      <vt:lpstr>HTML – Example: Styled lists</vt:lpstr>
      <vt:lpstr>HTML - Comments</vt:lpstr>
      <vt:lpstr>HTML – Tables</vt:lpstr>
      <vt:lpstr>HTML – Example: Tables</vt:lpstr>
      <vt:lpstr>HTML – Forms</vt:lpstr>
      <vt:lpstr>HTML – Example: Forms</vt:lpstr>
      <vt:lpstr>HTML – Miscellaneous Tags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CSS</vt:lpstr>
      <vt:lpstr>A brief history of CSS</vt:lpstr>
      <vt:lpstr>A brief history of CSS</vt:lpstr>
      <vt:lpstr>A brief history of CSS</vt:lpstr>
      <vt:lpstr>CSS rule-sets</vt:lpstr>
      <vt:lpstr>CSS - Selectors</vt:lpstr>
      <vt:lpstr>CSS – Examples: Selectors</vt:lpstr>
      <vt:lpstr>CSS – Selector Grouping</vt:lpstr>
      <vt:lpstr>CSS – Placement of CSS Information</vt:lpstr>
      <vt:lpstr>CSS – External Style Sheets</vt:lpstr>
      <vt:lpstr>CSS – Internal Style Sheets</vt:lpstr>
      <vt:lpstr>CSS – Local Inline styles</vt:lpstr>
      <vt:lpstr>CSS – Cascading Order</vt:lpstr>
      <vt:lpstr>CSS – Style Attributes</vt:lpstr>
      <vt:lpstr>CSS - Colors</vt:lpstr>
      <vt:lpstr>CSS – Backgrounds</vt:lpstr>
      <vt:lpstr>CSS – Background Color</vt:lpstr>
      <vt:lpstr>CSS – Background Images</vt:lpstr>
      <vt:lpstr>CSS – Background Images</vt:lpstr>
      <vt:lpstr>CSS - Borders</vt:lpstr>
      <vt:lpstr>CSS - Borders</vt:lpstr>
      <vt:lpstr>CSS - Borders</vt:lpstr>
      <vt:lpstr>CSS - Margins</vt:lpstr>
      <vt:lpstr>CSS – Example: Margin</vt:lpstr>
      <vt:lpstr>CSS - Padding</vt:lpstr>
      <vt:lpstr>CSS – Example: Padding</vt:lpstr>
      <vt:lpstr>CSS – Height/Width</vt:lpstr>
      <vt:lpstr>CSS – Example: Height/Width</vt:lpstr>
      <vt:lpstr>CSS – The Box Model</vt:lpstr>
      <vt:lpstr>CSS – Box Model</vt:lpstr>
      <vt:lpstr>CSS – Example: Box Model</vt:lpstr>
      <vt:lpstr>CSS – Styles for Links</vt:lpstr>
      <vt:lpstr>CSS – Example: Link Styles</vt:lpstr>
      <vt:lpstr>CSS – Styles for Lists</vt:lpstr>
      <vt:lpstr>CSS – Styles for Lists</vt:lpstr>
      <vt:lpstr>CSS – Example: Styles for Lists</vt:lpstr>
      <vt:lpstr>CSS – Styles for Tables</vt:lpstr>
      <vt:lpstr>CSS – Example: Table Styling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and CSS</dc:title>
  <dc:creator>Divyashree R</dc:creator>
  <cp:lastModifiedBy>saumya baranwal</cp:lastModifiedBy>
  <cp:revision>16</cp:revision>
  <dcterms:created xsi:type="dcterms:W3CDTF">2025-08-10T11:33:58Z</dcterms:created>
  <dcterms:modified xsi:type="dcterms:W3CDTF">2026-10-07T11:43:45Z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2025-08-10T00:00:00Z</vt:filetime>
  </property>
  <property fmtid="{D5CDD505-2E9C-101B-9397-08002B2CF9AE}" pid="5" name="Producer">
    <vt:lpwstr>Microsoft® PowerPoint® for Microsoft 365</vt:lpwstr>
  </property>
</Properties>
</file>