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4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305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4" r:id="rId47"/>
    <p:sldId id="285" r:id="rId48"/>
    <p:sldId id="286" r:id="rId49"/>
    <p:sldId id="314" r:id="rId50"/>
    <p:sldId id="315" r:id="rId51"/>
    <p:sldId id="316" r:id="rId52"/>
    <p:sldId id="287" r:id="rId53"/>
    <p:sldId id="317" r:id="rId54"/>
    <p:sldId id="299" r:id="rId55"/>
    <p:sldId id="300" r:id="rId56"/>
    <p:sldId id="301" r:id="rId5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19CFC69-CD59-0200-713B-2139F3E4AABC}" name="Divyashree R" initials="DR" userId="f725394182b2860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203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246" y="70103"/>
            <a:ext cx="9014460" cy="6692900"/>
          </a:xfrm>
          <a:custGeom>
            <a:avLst/>
            <a:gdLst/>
            <a:ahLst/>
            <a:cxnLst/>
            <a:rect l="l" t="t" r="r" b="b"/>
            <a:pathLst>
              <a:path w="9014460" h="6692900">
                <a:moveTo>
                  <a:pt x="0" y="329819"/>
                </a:moveTo>
                <a:lnTo>
                  <a:pt x="3576" y="281088"/>
                </a:lnTo>
                <a:lnTo>
                  <a:pt x="13966" y="234576"/>
                </a:lnTo>
                <a:lnTo>
                  <a:pt x="30659" y="190791"/>
                </a:lnTo>
                <a:lnTo>
                  <a:pt x="53144" y="150245"/>
                </a:lnTo>
                <a:lnTo>
                  <a:pt x="80912" y="113448"/>
                </a:lnTo>
                <a:lnTo>
                  <a:pt x="113453" y="80911"/>
                </a:lnTo>
                <a:lnTo>
                  <a:pt x="150255" y="53144"/>
                </a:lnTo>
                <a:lnTo>
                  <a:pt x="190810" y="30660"/>
                </a:lnTo>
                <a:lnTo>
                  <a:pt x="234606" y="13967"/>
                </a:lnTo>
                <a:lnTo>
                  <a:pt x="281133" y="3576"/>
                </a:lnTo>
                <a:lnTo>
                  <a:pt x="329882" y="0"/>
                </a:lnTo>
                <a:lnTo>
                  <a:pt x="8684641" y="0"/>
                </a:lnTo>
                <a:lnTo>
                  <a:pt x="8733371" y="3576"/>
                </a:lnTo>
                <a:lnTo>
                  <a:pt x="8779883" y="13967"/>
                </a:lnTo>
                <a:lnTo>
                  <a:pt x="8823668" y="30660"/>
                </a:lnTo>
                <a:lnTo>
                  <a:pt x="8864214" y="53144"/>
                </a:lnTo>
                <a:lnTo>
                  <a:pt x="8901011" y="80911"/>
                </a:lnTo>
                <a:lnTo>
                  <a:pt x="8933548" y="113448"/>
                </a:lnTo>
                <a:lnTo>
                  <a:pt x="8961315" y="150245"/>
                </a:lnTo>
                <a:lnTo>
                  <a:pt x="8983799" y="190791"/>
                </a:lnTo>
                <a:lnTo>
                  <a:pt x="9000492" y="234576"/>
                </a:lnTo>
                <a:lnTo>
                  <a:pt x="9010883" y="281088"/>
                </a:lnTo>
                <a:lnTo>
                  <a:pt x="9014460" y="329819"/>
                </a:lnTo>
                <a:lnTo>
                  <a:pt x="9014460" y="6362763"/>
                </a:lnTo>
                <a:lnTo>
                  <a:pt x="9010883" y="6411512"/>
                </a:lnTo>
                <a:lnTo>
                  <a:pt x="9000492" y="6458039"/>
                </a:lnTo>
                <a:lnTo>
                  <a:pt x="8983799" y="6501835"/>
                </a:lnTo>
                <a:lnTo>
                  <a:pt x="8961315" y="6542389"/>
                </a:lnTo>
                <a:lnTo>
                  <a:pt x="8933548" y="6579192"/>
                </a:lnTo>
                <a:lnTo>
                  <a:pt x="8901011" y="6611732"/>
                </a:lnTo>
                <a:lnTo>
                  <a:pt x="8864214" y="6639500"/>
                </a:lnTo>
                <a:lnTo>
                  <a:pt x="8823668" y="6661985"/>
                </a:lnTo>
                <a:lnTo>
                  <a:pt x="8779883" y="6678678"/>
                </a:lnTo>
                <a:lnTo>
                  <a:pt x="8733371" y="6689068"/>
                </a:lnTo>
                <a:lnTo>
                  <a:pt x="8684641" y="6692644"/>
                </a:lnTo>
                <a:lnTo>
                  <a:pt x="329882" y="6692644"/>
                </a:lnTo>
                <a:lnTo>
                  <a:pt x="281133" y="6689068"/>
                </a:lnTo>
                <a:lnTo>
                  <a:pt x="234606" y="6678678"/>
                </a:lnTo>
                <a:lnTo>
                  <a:pt x="190810" y="6661985"/>
                </a:lnTo>
                <a:lnTo>
                  <a:pt x="150255" y="6639500"/>
                </a:lnTo>
                <a:lnTo>
                  <a:pt x="113453" y="6611732"/>
                </a:lnTo>
                <a:lnTo>
                  <a:pt x="80912" y="6579192"/>
                </a:lnTo>
                <a:lnTo>
                  <a:pt x="53144" y="6542389"/>
                </a:lnTo>
                <a:lnTo>
                  <a:pt x="30659" y="6501835"/>
                </a:lnTo>
                <a:lnTo>
                  <a:pt x="13966" y="6458039"/>
                </a:lnTo>
                <a:lnTo>
                  <a:pt x="3576" y="6411512"/>
                </a:lnTo>
                <a:lnTo>
                  <a:pt x="0" y="6362763"/>
                </a:lnTo>
                <a:lnTo>
                  <a:pt x="0" y="329819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-51053"/>
            <a:ext cx="8529319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030731"/>
            <a:ext cx="7605395" cy="4293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31902" y="6320374"/>
            <a:ext cx="297815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246" y="1396746"/>
            <a:ext cx="9020810" cy="121285"/>
          </a:xfrm>
          <a:custGeom>
            <a:avLst/>
            <a:gdLst/>
            <a:ahLst/>
            <a:cxnLst/>
            <a:rect l="l" t="t" r="r" b="b"/>
            <a:pathLst>
              <a:path w="9020810" h="121284">
                <a:moveTo>
                  <a:pt x="9020556" y="0"/>
                </a:moveTo>
                <a:lnTo>
                  <a:pt x="0" y="0"/>
                </a:lnTo>
                <a:lnTo>
                  <a:pt x="0" y="121158"/>
                </a:lnTo>
                <a:lnTo>
                  <a:pt x="9020556" y="121158"/>
                </a:lnTo>
                <a:lnTo>
                  <a:pt x="9020556" y="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246" y="2976372"/>
            <a:ext cx="9020810" cy="111760"/>
          </a:xfrm>
          <a:custGeom>
            <a:avLst/>
            <a:gdLst/>
            <a:ahLst/>
            <a:cxnLst/>
            <a:rect l="l" t="t" r="r" b="b"/>
            <a:pathLst>
              <a:path w="9020810" h="111760">
                <a:moveTo>
                  <a:pt x="9020556" y="0"/>
                </a:moveTo>
                <a:lnTo>
                  <a:pt x="0" y="0"/>
                </a:lnTo>
                <a:lnTo>
                  <a:pt x="0" y="111251"/>
                </a:lnTo>
                <a:lnTo>
                  <a:pt x="9020556" y="111251"/>
                </a:lnTo>
                <a:lnTo>
                  <a:pt x="9020556" y="0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246" y="1517903"/>
            <a:ext cx="9020810" cy="145859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510"/>
              </a:lnSpc>
            </a:pPr>
            <a:r>
              <a:rPr sz="8800" spc="-10" dirty="0">
                <a:solidFill>
                  <a:srgbClr val="FFFFFF"/>
                </a:solidFill>
              </a:rPr>
              <a:t>JavaScript</a:t>
            </a:r>
            <a:endParaRPr sz="8800"/>
          </a:p>
        </p:txBody>
      </p:sp>
      <p:sp>
        <p:nvSpPr>
          <p:cNvPr id="6" name="object 6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9879" y="6305550"/>
            <a:ext cx="12953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1976"/>
            <a:ext cx="55327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95" dirty="0"/>
              <a:t>A</a:t>
            </a:r>
            <a:r>
              <a:rPr sz="5400" dirty="0"/>
              <a:t> brief</a:t>
            </a:r>
            <a:r>
              <a:rPr sz="5400" spc="-340" dirty="0"/>
              <a:t> </a:t>
            </a:r>
            <a:r>
              <a:rPr sz="5400" spc="-10" dirty="0"/>
              <a:t>history</a:t>
            </a:r>
            <a:r>
              <a:rPr sz="5400" spc="-250" dirty="0"/>
              <a:t> </a:t>
            </a:r>
            <a:r>
              <a:rPr sz="5400" dirty="0"/>
              <a:t>of</a:t>
            </a:r>
            <a:r>
              <a:rPr sz="5400" spc="-185" dirty="0"/>
              <a:t> </a:t>
            </a:r>
            <a:r>
              <a:rPr sz="5400" spc="-25" dirty="0"/>
              <a:t>JS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841523"/>
            <a:ext cx="8312784" cy="49657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56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60" dirty="0">
                <a:latin typeface="Times New Roman"/>
                <a:cs typeface="Times New Roman"/>
              </a:rPr>
              <a:t>In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1995,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Netscape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decided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add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scripting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language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Navigator.</a:t>
            </a:r>
            <a:endParaRPr sz="2600">
              <a:latin typeface="Times New Roman"/>
              <a:cs typeface="Times New Roman"/>
            </a:endParaRPr>
          </a:p>
          <a:p>
            <a:pPr marL="560070" marR="437515" lvl="1" indent="-232410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spc="-135" dirty="0">
                <a:latin typeface="Times New Roman"/>
                <a:cs typeface="Times New Roman"/>
              </a:rPr>
              <a:t>LiveScript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was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shipped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part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Navigator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release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September </a:t>
            </a:r>
            <a:r>
              <a:rPr sz="2400" spc="-70" dirty="0">
                <a:latin typeface="Times New Roman"/>
                <a:cs typeface="Times New Roman"/>
              </a:rPr>
              <a:t>1995,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name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was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changed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JavaScript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three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months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later.</a:t>
            </a:r>
            <a:endParaRPr sz="2400">
              <a:latin typeface="Times New Roman"/>
              <a:cs typeface="Times New Roman"/>
            </a:endParaRPr>
          </a:p>
          <a:p>
            <a:pPr marL="283210" marR="102235" indent="-271145">
              <a:lnSpc>
                <a:spcPct val="100000"/>
              </a:lnSpc>
              <a:spcBef>
                <a:spcPts val="57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50" dirty="0">
                <a:latin typeface="Times New Roman"/>
                <a:cs typeface="Times New Roman"/>
              </a:rPr>
              <a:t>Microsoft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debuted</a:t>
            </a:r>
            <a:r>
              <a:rPr sz="2600" spc="-60" dirty="0">
                <a:latin typeface="Times New Roman"/>
                <a:cs typeface="Times New Roman"/>
              </a:rPr>
              <a:t> Internet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Explorer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in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1995,</a:t>
            </a:r>
            <a:r>
              <a:rPr sz="2600" spc="-150" dirty="0">
                <a:latin typeface="Times New Roman"/>
                <a:cs typeface="Times New Roman"/>
              </a:rPr>
              <a:t> leading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browser 	</a:t>
            </a:r>
            <a:r>
              <a:rPr sz="2600" spc="-130" dirty="0">
                <a:latin typeface="Times New Roman"/>
                <a:cs typeface="Times New Roman"/>
              </a:rPr>
              <a:t>war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with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Netscape.</a:t>
            </a:r>
            <a:endParaRPr sz="2600">
              <a:latin typeface="Times New Roman"/>
              <a:cs typeface="Times New Roman"/>
            </a:endParaRPr>
          </a:p>
          <a:p>
            <a:pPr marL="560070" marR="255904" lvl="1" indent="-23241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spc="-3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JavaScript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front,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Microsoft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reverse-</a:t>
            </a:r>
            <a:r>
              <a:rPr sz="2400" spc="-110" dirty="0">
                <a:latin typeface="Times New Roman"/>
                <a:cs typeface="Times New Roman"/>
              </a:rPr>
              <a:t>engineered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Navigator </a:t>
            </a:r>
            <a:r>
              <a:rPr sz="2400" spc="-45" dirty="0">
                <a:latin typeface="Times New Roman"/>
                <a:cs typeface="Times New Roman"/>
              </a:rPr>
              <a:t>interpreter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create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its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own,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called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JScript.</a:t>
            </a:r>
            <a:endParaRPr sz="2400">
              <a:latin typeface="Times New Roman"/>
              <a:cs typeface="Times New Roman"/>
            </a:endParaRPr>
          </a:p>
          <a:p>
            <a:pPr marL="283210" marR="196215" indent="-271145">
              <a:lnSpc>
                <a:spcPct val="100000"/>
              </a:lnSpc>
              <a:spcBef>
                <a:spcPts val="57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60" dirty="0">
                <a:latin typeface="Times New Roman"/>
                <a:cs typeface="Times New Roman"/>
              </a:rPr>
              <a:t>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November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1996,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Netscape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submitted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JavaScript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90" dirty="0">
                <a:latin typeface="Times New Roman"/>
                <a:cs typeface="Times New Roman"/>
              </a:rPr>
              <a:t>ECMA 	</a:t>
            </a:r>
            <a:r>
              <a:rPr sz="2600" spc="-90" dirty="0">
                <a:latin typeface="Times New Roman"/>
                <a:cs typeface="Times New Roman"/>
              </a:rPr>
              <a:t>International,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starting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point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for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standard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specification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that 	</a:t>
            </a:r>
            <a:r>
              <a:rPr sz="2600" spc="-150" dirty="0">
                <a:latin typeface="Times New Roman"/>
                <a:cs typeface="Times New Roman"/>
              </a:rPr>
              <a:t>all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browser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vendors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could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conform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to.</a:t>
            </a:r>
            <a:endParaRPr sz="2600">
              <a:latin typeface="Times New Roman"/>
              <a:cs typeface="Times New Roman"/>
            </a:endParaRPr>
          </a:p>
          <a:p>
            <a:pPr marL="560070" marR="812800" lvl="1" indent="-232410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spc="-155" dirty="0">
                <a:latin typeface="Times New Roman"/>
                <a:cs typeface="Times New Roman"/>
              </a:rPr>
              <a:t>This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led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official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release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first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ECMAScript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language </a:t>
            </a:r>
            <a:r>
              <a:rPr sz="2400" spc="-135" dirty="0">
                <a:latin typeface="Times New Roman"/>
                <a:cs typeface="Times New Roman"/>
              </a:rPr>
              <a:t>specification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June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1997.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1976"/>
            <a:ext cx="55327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95" dirty="0"/>
              <a:t>A</a:t>
            </a:r>
            <a:r>
              <a:rPr sz="5400" dirty="0"/>
              <a:t> brief</a:t>
            </a:r>
            <a:r>
              <a:rPr sz="5400" spc="-340" dirty="0"/>
              <a:t> </a:t>
            </a:r>
            <a:r>
              <a:rPr sz="5400" spc="-10" dirty="0"/>
              <a:t>history</a:t>
            </a:r>
            <a:r>
              <a:rPr sz="5400" spc="-250" dirty="0"/>
              <a:t> </a:t>
            </a:r>
            <a:r>
              <a:rPr sz="5400" dirty="0"/>
              <a:t>of</a:t>
            </a:r>
            <a:r>
              <a:rPr sz="5400" spc="-185" dirty="0"/>
              <a:t> </a:t>
            </a:r>
            <a:r>
              <a:rPr sz="5400" spc="-25" dirty="0"/>
              <a:t>JS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870965"/>
            <a:ext cx="8362315" cy="512889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83210" marR="5080" indent="-271145">
              <a:lnSpc>
                <a:spcPts val="2810"/>
              </a:lnSpc>
              <a:spcBef>
                <a:spcPts val="45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45" dirty="0">
                <a:latin typeface="Times New Roman"/>
                <a:cs typeface="Times New Roman"/>
              </a:rPr>
              <a:t>European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Computer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Manufacturers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Association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(ECMA)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a 	</a:t>
            </a:r>
            <a:r>
              <a:rPr sz="2600" spc="-125" dirty="0">
                <a:latin typeface="Times New Roman"/>
                <a:cs typeface="Times New Roman"/>
              </a:rPr>
              <a:t>standards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organization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for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information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communication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systems.</a:t>
            </a:r>
            <a:endParaRPr sz="2600">
              <a:latin typeface="Times New Roman"/>
              <a:cs typeface="Times New Roman"/>
            </a:endParaRPr>
          </a:p>
          <a:p>
            <a:pPr marL="560070" marR="330200" lvl="1" indent="-228600">
              <a:lnSpc>
                <a:spcPts val="2380"/>
              </a:lnSpc>
              <a:spcBef>
                <a:spcPts val="434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070" algn="l"/>
              </a:tabLst>
            </a:pPr>
            <a:r>
              <a:rPr sz="2200" spc="-12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organization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was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founded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1961</a:t>
            </a:r>
            <a:r>
              <a:rPr sz="2200" dirty="0">
                <a:latin typeface="Times New Roman"/>
                <a:cs typeface="Times New Roman"/>
              </a:rPr>
              <a:t> 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standardize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computer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systems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in </a:t>
            </a:r>
            <a:r>
              <a:rPr sz="2200" spc="-10" dirty="0">
                <a:latin typeface="Times New Roman"/>
                <a:cs typeface="Times New Roman"/>
              </a:rPr>
              <a:t>Europe.</a:t>
            </a:r>
            <a:endParaRPr sz="2200">
              <a:latin typeface="Times New Roman"/>
              <a:cs typeface="Times New Roman"/>
            </a:endParaRPr>
          </a:p>
          <a:p>
            <a:pPr marL="833119" marR="326390" lvl="2" indent="-227329">
              <a:lnSpc>
                <a:spcPts val="2050"/>
              </a:lnSpc>
              <a:spcBef>
                <a:spcPts val="430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4390" algn="l"/>
              </a:tabLst>
            </a:pPr>
            <a:r>
              <a:rPr sz="1900" spc="-175" dirty="0">
                <a:latin typeface="Times New Roman"/>
                <a:cs typeface="Times New Roman"/>
              </a:rPr>
              <a:t>ECMA-</a:t>
            </a:r>
            <a:r>
              <a:rPr sz="1900" spc="-90" dirty="0">
                <a:latin typeface="Times New Roman"/>
                <a:cs typeface="Times New Roman"/>
              </a:rPr>
              <a:t>6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80" dirty="0">
                <a:latin typeface="Times New Roman"/>
                <a:cs typeface="Times New Roman"/>
              </a:rPr>
              <a:t>7-</a:t>
            </a:r>
            <a:r>
              <a:rPr sz="1900" spc="-50" dirty="0">
                <a:latin typeface="Times New Roman"/>
                <a:cs typeface="Times New Roman"/>
              </a:rPr>
              <a:t>bit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80" dirty="0">
                <a:latin typeface="Times New Roman"/>
                <a:cs typeface="Times New Roman"/>
              </a:rPr>
              <a:t>Coded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80" dirty="0">
                <a:latin typeface="Times New Roman"/>
                <a:cs typeface="Times New Roman"/>
              </a:rPr>
              <a:t>Character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14" dirty="0">
                <a:latin typeface="Times New Roman"/>
                <a:cs typeface="Times New Roman"/>
              </a:rPr>
              <a:t>Set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5" dirty="0">
                <a:latin typeface="Times New Roman"/>
                <a:cs typeface="Times New Roman"/>
              </a:rPr>
              <a:t>(based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on</a:t>
            </a:r>
            <a:r>
              <a:rPr sz="1900" spc="-170" dirty="0">
                <a:latin typeface="Times New Roman"/>
                <a:cs typeface="Times New Roman"/>
              </a:rPr>
              <a:t> </a:t>
            </a:r>
            <a:r>
              <a:rPr sz="1900" spc="-130" dirty="0">
                <a:latin typeface="Times New Roman"/>
                <a:cs typeface="Times New Roman"/>
              </a:rPr>
              <a:t>ASCII),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spc="-120" dirty="0">
                <a:latin typeface="Times New Roman"/>
                <a:cs typeface="Times New Roman"/>
              </a:rPr>
              <a:t>also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114" dirty="0">
                <a:latin typeface="Times New Roman"/>
                <a:cs typeface="Times New Roman"/>
              </a:rPr>
              <a:t>approved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55" dirty="0">
                <a:latin typeface="Times New Roman"/>
                <a:cs typeface="Times New Roman"/>
              </a:rPr>
              <a:t>as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ISO/IEC 	646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40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spc="-175" dirty="0">
                <a:latin typeface="Times New Roman"/>
                <a:cs typeface="Times New Roman"/>
              </a:rPr>
              <a:t>ECMA-</a:t>
            </a:r>
            <a:r>
              <a:rPr sz="1900" spc="-90" dirty="0">
                <a:latin typeface="Times New Roman"/>
                <a:cs typeface="Times New Roman"/>
              </a:rPr>
              <a:t>107</a:t>
            </a:r>
            <a:r>
              <a:rPr sz="1900" dirty="0">
                <a:latin typeface="Times New Roman"/>
                <a:cs typeface="Times New Roman"/>
              </a:rPr>
              <a:t> –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140" dirty="0">
                <a:latin typeface="Times New Roman"/>
                <a:cs typeface="Times New Roman"/>
              </a:rPr>
              <a:t>FAT12/FAT16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100" dirty="0">
                <a:latin typeface="Times New Roman"/>
                <a:cs typeface="Times New Roman"/>
              </a:rPr>
              <a:t>file</a:t>
            </a:r>
            <a:r>
              <a:rPr sz="1900" spc="-10" dirty="0">
                <a:latin typeface="Times New Roman"/>
                <a:cs typeface="Times New Roman"/>
              </a:rPr>
              <a:t> system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70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spc="-175" dirty="0">
                <a:latin typeface="Times New Roman"/>
                <a:cs typeface="Times New Roman"/>
              </a:rPr>
              <a:t>ECMA-</a:t>
            </a:r>
            <a:r>
              <a:rPr sz="1900" spc="-90" dirty="0">
                <a:latin typeface="Times New Roman"/>
                <a:cs typeface="Times New Roman"/>
              </a:rPr>
              <a:t>119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CD-</a:t>
            </a:r>
            <a:r>
              <a:rPr sz="1900" spc="-155" dirty="0">
                <a:latin typeface="Times New Roman"/>
                <a:cs typeface="Times New Roman"/>
              </a:rPr>
              <a:t>ROM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10" dirty="0">
                <a:latin typeface="Times New Roman"/>
                <a:cs typeface="Times New Roman"/>
              </a:rPr>
              <a:t>volume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5" dirty="0">
                <a:latin typeface="Times New Roman"/>
                <a:cs typeface="Times New Roman"/>
              </a:rPr>
              <a:t>and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0" dirty="0">
                <a:latin typeface="Times New Roman"/>
                <a:cs typeface="Times New Roman"/>
              </a:rPr>
              <a:t>file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structure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75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spc="-175" dirty="0">
                <a:latin typeface="Times New Roman"/>
                <a:cs typeface="Times New Roman"/>
              </a:rPr>
              <a:t>ECMA-</a:t>
            </a:r>
            <a:r>
              <a:rPr sz="1900" spc="-90" dirty="0">
                <a:latin typeface="Times New Roman"/>
                <a:cs typeface="Times New Roman"/>
              </a:rPr>
              <a:t>262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30" dirty="0">
                <a:latin typeface="Times New Roman"/>
                <a:cs typeface="Times New Roman"/>
              </a:rPr>
              <a:t>ECMAScript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40" dirty="0">
                <a:latin typeface="Times New Roman"/>
                <a:cs typeface="Times New Roman"/>
              </a:rPr>
              <a:t>Language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35" dirty="0">
                <a:latin typeface="Times New Roman"/>
                <a:cs typeface="Times New Roman"/>
              </a:rPr>
              <a:t>Specification</a:t>
            </a:r>
            <a:endParaRPr sz="1900">
              <a:latin typeface="Times New Roman"/>
              <a:cs typeface="Times New Roman"/>
            </a:endParaRPr>
          </a:p>
          <a:p>
            <a:pPr marL="833755" lvl="2" indent="-227965">
              <a:lnSpc>
                <a:spcPct val="100000"/>
              </a:lnSpc>
              <a:spcBef>
                <a:spcPts val="170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755" algn="l"/>
              </a:tabLst>
            </a:pPr>
            <a:r>
              <a:rPr sz="1900" spc="-175" dirty="0">
                <a:latin typeface="Times New Roman"/>
                <a:cs typeface="Times New Roman"/>
              </a:rPr>
              <a:t>ECMA-</a:t>
            </a:r>
            <a:r>
              <a:rPr sz="1900" spc="-90" dirty="0">
                <a:latin typeface="Times New Roman"/>
                <a:cs typeface="Times New Roman"/>
              </a:rPr>
              <a:t>334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110" dirty="0">
                <a:latin typeface="Times New Roman"/>
                <a:cs typeface="Times New Roman"/>
              </a:rPr>
              <a:t>C#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40" dirty="0">
                <a:latin typeface="Times New Roman"/>
                <a:cs typeface="Times New Roman"/>
              </a:rPr>
              <a:t>Language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35" dirty="0">
                <a:latin typeface="Times New Roman"/>
                <a:cs typeface="Times New Roman"/>
              </a:rPr>
              <a:t>Specification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75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spc="-175" dirty="0">
                <a:latin typeface="Times New Roman"/>
                <a:cs typeface="Times New Roman"/>
              </a:rPr>
              <a:t>ECMA-</a:t>
            </a:r>
            <a:r>
              <a:rPr sz="1900" spc="-90" dirty="0">
                <a:latin typeface="Times New Roman"/>
                <a:cs typeface="Times New Roman"/>
              </a:rPr>
              <a:t>335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0" dirty="0">
                <a:latin typeface="Times New Roman"/>
                <a:cs typeface="Times New Roman"/>
              </a:rPr>
              <a:t>Common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35" dirty="0">
                <a:latin typeface="Times New Roman"/>
                <a:cs typeface="Times New Roman"/>
              </a:rPr>
              <a:t>Language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Times New Roman"/>
                <a:cs typeface="Times New Roman"/>
              </a:rPr>
              <a:t>Infrastructure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(CLI)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75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spc="-175" dirty="0">
                <a:latin typeface="Times New Roman"/>
                <a:cs typeface="Times New Roman"/>
              </a:rPr>
              <a:t>ECMA-</a:t>
            </a:r>
            <a:r>
              <a:rPr sz="1900" spc="-90" dirty="0">
                <a:latin typeface="Times New Roman"/>
                <a:cs typeface="Times New Roman"/>
              </a:rPr>
              <a:t>363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0" dirty="0">
                <a:latin typeface="Times New Roman"/>
                <a:cs typeface="Times New Roman"/>
              </a:rPr>
              <a:t>Universal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3D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14" dirty="0">
                <a:latin typeface="Times New Roman"/>
                <a:cs typeface="Times New Roman"/>
              </a:rPr>
              <a:t>File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Format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65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spc="-175" dirty="0">
                <a:latin typeface="Times New Roman"/>
                <a:cs typeface="Times New Roman"/>
              </a:rPr>
              <a:t>ECMA-</a:t>
            </a:r>
            <a:r>
              <a:rPr sz="1900" spc="-90" dirty="0">
                <a:latin typeface="Times New Roman"/>
                <a:cs typeface="Times New Roman"/>
              </a:rPr>
              <a:t>372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C++/CLI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140" dirty="0">
                <a:latin typeface="Times New Roman"/>
                <a:cs typeface="Times New Roman"/>
              </a:rPr>
              <a:t>Language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Specification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75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spc="-175" dirty="0">
                <a:latin typeface="Times New Roman"/>
                <a:cs typeface="Times New Roman"/>
              </a:rPr>
              <a:t>ECMA-</a:t>
            </a:r>
            <a:r>
              <a:rPr sz="1900" spc="-90" dirty="0">
                <a:latin typeface="Times New Roman"/>
                <a:cs typeface="Times New Roman"/>
              </a:rPr>
              <a:t>376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5" dirty="0">
                <a:latin typeface="Times New Roman"/>
                <a:cs typeface="Times New Roman"/>
              </a:rPr>
              <a:t>Office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Times New Roman"/>
                <a:cs typeface="Times New Roman"/>
              </a:rPr>
              <a:t>Open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XML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75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spc="-175" dirty="0">
                <a:latin typeface="Times New Roman"/>
                <a:cs typeface="Times New Roman"/>
              </a:rPr>
              <a:t>ECMA-</a:t>
            </a:r>
            <a:r>
              <a:rPr sz="1900" spc="-90" dirty="0">
                <a:latin typeface="Times New Roman"/>
                <a:cs typeface="Times New Roman"/>
              </a:rPr>
              <a:t>404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JSON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70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spc="-175" dirty="0">
                <a:latin typeface="Times New Roman"/>
                <a:cs typeface="Times New Roman"/>
              </a:rPr>
              <a:t>ECMA-</a:t>
            </a:r>
            <a:r>
              <a:rPr sz="1900" spc="-90" dirty="0">
                <a:latin typeface="Times New Roman"/>
                <a:cs typeface="Times New Roman"/>
              </a:rPr>
              <a:t>408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Dart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25" dirty="0">
                <a:latin typeface="Times New Roman"/>
                <a:cs typeface="Times New Roman"/>
              </a:rPr>
              <a:t>language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specification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1976"/>
            <a:ext cx="55327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95" dirty="0"/>
              <a:t>A</a:t>
            </a:r>
            <a:r>
              <a:rPr sz="5400" dirty="0"/>
              <a:t> brief</a:t>
            </a:r>
            <a:r>
              <a:rPr sz="5400" spc="-340" dirty="0"/>
              <a:t> </a:t>
            </a:r>
            <a:r>
              <a:rPr sz="5400" spc="-10" dirty="0"/>
              <a:t>history</a:t>
            </a:r>
            <a:r>
              <a:rPr sz="5400" spc="-250" dirty="0"/>
              <a:t> </a:t>
            </a:r>
            <a:r>
              <a:rPr sz="5400" dirty="0"/>
              <a:t>of</a:t>
            </a:r>
            <a:r>
              <a:rPr sz="5400" spc="-185" dirty="0"/>
              <a:t> </a:t>
            </a:r>
            <a:r>
              <a:rPr sz="5400" spc="-25" dirty="0"/>
              <a:t>JS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864870"/>
            <a:ext cx="8300720" cy="53346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3210" marR="677545" indent="-271145" algn="just">
              <a:lnSpc>
                <a:spcPts val="3030"/>
              </a:lnSpc>
              <a:spcBef>
                <a:spcPts val="48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5115" algn="l"/>
              </a:tabLst>
            </a:pPr>
            <a:r>
              <a:rPr sz="2800" spc="-155" dirty="0">
                <a:latin typeface="Times New Roman"/>
                <a:cs typeface="Times New Roman"/>
              </a:rPr>
              <a:t>Microsoft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gained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240" dirty="0">
                <a:latin typeface="Times New Roman"/>
                <a:cs typeface="Times New Roman"/>
              </a:rPr>
              <a:t>an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increasingly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dominant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position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in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spc="-135" dirty="0">
                <a:latin typeface="Times New Roman"/>
                <a:cs typeface="Times New Roman"/>
              </a:rPr>
              <a:t>browser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market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370" dirty="0">
                <a:latin typeface="Times New Roman"/>
                <a:cs typeface="Times New Roman"/>
              </a:rPr>
              <a:t>by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early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2000s,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Internet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Explorer's 	</a:t>
            </a:r>
            <a:r>
              <a:rPr sz="2800" spc="-120" dirty="0">
                <a:latin typeface="Times New Roman"/>
                <a:cs typeface="Times New Roman"/>
              </a:rPr>
              <a:t>market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share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reached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95%</a:t>
            </a:r>
            <a:endParaRPr sz="2800">
              <a:latin typeface="Times New Roman"/>
              <a:cs typeface="Times New Roman"/>
            </a:endParaRPr>
          </a:p>
          <a:p>
            <a:pPr marL="559435" lvl="1" indent="-231775" algn="just">
              <a:lnSpc>
                <a:spcPct val="100000"/>
              </a:lnSpc>
              <a:spcBef>
                <a:spcPts val="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315" dirty="0">
                <a:latin typeface="Times New Roman"/>
                <a:cs typeface="Times New Roman"/>
              </a:rPr>
              <a:t>MS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stopped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collaborating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4" dirty="0">
                <a:latin typeface="Times New Roman"/>
                <a:cs typeface="Times New Roman"/>
              </a:rPr>
              <a:t>ECMA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work</a:t>
            </a:r>
            <a:endParaRPr sz="2400">
              <a:latin typeface="Times New Roman"/>
              <a:cs typeface="Times New Roman"/>
            </a:endParaRPr>
          </a:p>
          <a:p>
            <a:pPr marL="560070" marR="62865" lvl="1" indent="-232410" algn="just">
              <a:lnSpc>
                <a:spcPts val="2590"/>
              </a:lnSpc>
              <a:spcBef>
                <a:spcPts val="44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spc="-110" dirty="0">
                <a:latin typeface="Times New Roman"/>
                <a:cs typeface="Times New Roman"/>
              </a:rPr>
              <a:t>During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period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of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Internet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Explorer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dominance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early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2000s, </a:t>
            </a:r>
            <a:r>
              <a:rPr sz="2400" spc="-90" dirty="0">
                <a:latin typeface="Times New Roman"/>
                <a:cs typeface="Times New Roman"/>
              </a:rPr>
              <a:t>client-</a:t>
            </a:r>
            <a:r>
              <a:rPr sz="2400" spc="-135" dirty="0">
                <a:latin typeface="Times New Roman"/>
                <a:cs typeface="Times New Roman"/>
              </a:rPr>
              <a:t>side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scripting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was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stagnant.</a:t>
            </a:r>
            <a:endParaRPr sz="2400">
              <a:latin typeface="Times New Roman"/>
              <a:cs typeface="Times New Roman"/>
            </a:endParaRPr>
          </a:p>
          <a:p>
            <a:pPr marL="283210" marR="5080" indent="-271145" algn="just">
              <a:lnSpc>
                <a:spcPts val="2810"/>
              </a:lnSpc>
              <a:spcBef>
                <a:spcPts val="57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55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successor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of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Netscape,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Mozilla,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released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Firefox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browser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in 	</a:t>
            </a:r>
            <a:r>
              <a:rPr sz="2600" spc="-10" dirty="0">
                <a:latin typeface="Times New Roman"/>
                <a:cs typeface="Times New Roman"/>
              </a:rPr>
              <a:t>2004.</a:t>
            </a:r>
            <a:endParaRPr sz="2600">
              <a:latin typeface="Times New Roman"/>
              <a:cs typeface="Times New Roman"/>
            </a:endParaRPr>
          </a:p>
          <a:p>
            <a:pPr marL="559435" lvl="1" indent="-231775" algn="just">
              <a:lnSpc>
                <a:spcPct val="100000"/>
              </a:lnSpc>
              <a:spcBef>
                <a:spcPts val="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4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2005,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Mozilla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joined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4" dirty="0">
                <a:latin typeface="Times New Roman"/>
                <a:cs typeface="Times New Roman"/>
              </a:rPr>
              <a:t>ECMA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International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 algn="just">
              <a:lnSpc>
                <a:spcPct val="100000"/>
              </a:lnSpc>
              <a:spcBef>
                <a:spcPts val="11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4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2005,</a:t>
            </a:r>
            <a:r>
              <a:rPr sz="2400" spc="-325" dirty="0">
                <a:latin typeface="Times New Roman"/>
                <a:cs typeface="Times New Roman"/>
              </a:rPr>
              <a:t> </a:t>
            </a:r>
            <a:r>
              <a:rPr sz="2400" spc="-270" dirty="0">
                <a:latin typeface="Times New Roman"/>
                <a:cs typeface="Times New Roman"/>
              </a:rPr>
              <a:t>AJAX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started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renaissance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for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4" dirty="0">
                <a:latin typeface="Times New Roman"/>
                <a:cs typeface="Times New Roman"/>
              </a:rPr>
              <a:t>JS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(see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next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slide)</a:t>
            </a:r>
            <a:endParaRPr sz="2400">
              <a:latin typeface="Times New Roman"/>
              <a:cs typeface="Times New Roman"/>
            </a:endParaRPr>
          </a:p>
          <a:p>
            <a:pPr marL="560070" marR="250190" lvl="1" indent="-232410">
              <a:lnSpc>
                <a:spcPts val="2590"/>
              </a:lnSpc>
              <a:spcBef>
                <a:spcPts val="44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spc="-135" dirty="0">
                <a:latin typeface="Times New Roman"/>
                <a:cs typeface="Times New Roman"/>
              </a:rPr>
              <a:t>Google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debuted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Chrome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browser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2008,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spc="-229" dirty="0">
                <a:latin typeface="Times New Roman"/>
                <a:cs typeface="Times New Roman"/>
              </a:rPr>
              <a:t>V8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JavaScript </a:t>
            </a:r>
            <a:r>
              <a:rPr sz="2400" spc="-10" dirty="0">
                <a:latin typeface="Times New Roman"/>
                <a:cs typeface="Times New Roman"/>
              </a:rPr>
              <a:t>engine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7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60" dirty="0">
                <a:latin typeface="Times New Roman"/>
                <a:cs typeface="Times New Roman"/>
              </a:rPr>
              <a:t>ECMAScript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6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was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published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2015.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114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85" dirty="0">
                <a:latin typeface="Times New Roman"/>
                <a:cs typeface="Times New Roman"/>
              </a:rPr>
              <a:t>11th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Edition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ECMAScript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2020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5400" spc="-395" dirty="0"/>
              <a:t>A</a:t>
            </a:r>
            <a:r>
              <a:rPr sz="5400" dirty="0"/>
              <a:t> brief</a:t>
            </a:r>
            <a:r>
              <a:rPr sz="5400" spc="-340" dirty="0"/>
              <a:t> </a:t>
            </a:r>
            <a:r>
              <a:rPr sz="5400" spc="-10" dirty="0"/>
              <a:t>history</a:t>
            </a:r>
            <a:r>
              <a:rPr sz="5400" spc="-250" dirty="0"/>
              <a:t> </a:t>
            </a:r>
            <a:r>
              <a:rPr sz="5400" dirty="0"/>
              <a:t>of</a:t>
            </a:r>
            <a:r>
              <a:rPr sz="5400" spc="-185" dirty="0"/>
              <a:t> </a:t>
            </a:r>
            <a:r>
              <a:rPr sz="5400" spc="-25" dirty="0"/>
              <a:t>JS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688340" y="900684"/>
            <a:ext cx="8045450" cy="2007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210" marR="5080" indent="-271145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60" dirty="0">
                <a:latin typeface="Times New Roman"/>
                <a:cs typeface="Times New Roman"/>
              </a:rPr>
              <a:t>In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2005,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Jesse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James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Garrett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released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white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paper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in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which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he 	</a:t>
            </a:r>
            <a:r>
              <a:rPr sz="2600" spc="-135" dirty="0">
                <a:latin typeface="Times New Roman"/>
                <a:cs typeface="Times New Roman"/>
              </a:rPr>
              <a:t>coined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term</a:t>
            </a:r>
            <a:r>
              <a:rPr sz="2600" spc="-23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Ajax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"Asynchronous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JavaScript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XML")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and 	</a:t>
            </a:r>
            <a:r>
              <a:rPr sz="2600" spc="-120" dirty="0">
                <a:latin typeface="Times New Roman"/>
                <a:cs typeface="Times New Roman"/>
              </a:rPr>
              <a:t>described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set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technologies,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which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JavaScript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was</a:t>
            </a:r>
            <a:r>
              <a:rPr sz="2600" spc="-25" dirty="0">
                <a:latin typeface="Times New Roman"/>
                <a:cs typeface="Times New Roman"/>
              </a:rPr>
              <a:t> the 	</a:t>
            </a:r>
            <a:r>
              <a:rPr sz="2600" spc="-125" dirty="0">
                <a:latin typeface="Times New Roman"/>
                <a:cs typeface="Times New Roman"/>
              </a:rPr>
              <a:t>backbone,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create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web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applications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where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data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loaded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in 	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background,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avoiding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need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for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full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page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reloads.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1188" y="3048000"/>
            <a:ext cx="3623904" cy="34053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71862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91815" algn="l"/>
              </a:tabLst>
            </a:pPr>
            <a:r>
              <a:rPr spc="-10" dirty="0"/>
              <a:t>Overview</a:t>
            </a:r>
            <a:r>
              <a:rPr dirty="0"/>
              <a:t>	of</a:t>
            </a:r>
            <a:r>
              <a:rPr spc="-204" dirty="0"/>
              <a:t> </a:t>
            </a:r>
            <a:r>
              <a:rPr spc="-45" dirty="0"/>
              <a:t>JavaScript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09269"/>
            <a:ext cx="8006715" cy="36823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4480" indent="-28067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245" dirty="0">
                <a:latin typeface="Times New Roman"/>
                <a:cs typeface="Times New Roman"/>
              </a:rPr>
              <a:t>Language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used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in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making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web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25" dirty="0">
                <a:latin typeface="Times New Roman"/>
                <a:cs typeface="Times New Roman"/>
              </a:rPr>
              <a:t>pages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more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dynamic</a:t>
            </a:r>
            <a:endParaRPr sz="3200">
              <a:latin typeface="Times New Roman"/>
              <a:cs typeface="Times New Roman"/>
            </a:endParaRPr>
          </a:p>
          <a:p>
            <a:pPr marL="284480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240" dirty="0">
                <a:latin typeface="Times New Roman"/>
                <a:cs typeface="Times New Roman"/>
              </a:rPr>
              <a:t>Typically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runs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in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browser</a:t>
            </a:r>
            <a:endParaRPr sz="3200">
              <a:latin typeface="Times New Roman"/>
              <a:cs typeface="Times New Roman"/>
            </a:endParaRPr>
          </a:p>
          <a:p>
            <a:pPr marL="560070" marR="102870" lvl="1" indent="-286385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5000"/>
              <a:buFont typeface="Segoe UI Symbol"/>
              <a:buChar char="⚫"/>
              <a:tabLst>
                <a:tab pos="560070" algn="l"/>
              </a:tabLst>
            </a:pPr>
            <a:r>
              <a:rPr sz="3000" spc="-240" dirty="0">
                <a:latin typeface="Times New Roman"/>
                <a:cs typeface="Times New Roman"/>
              </a:rPr>
              <a:t>See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45" dirty="0">
                <a:latin typeface="Times New Roman"/>
                <a:cs typeface="Times New Roman"/>
              </a:rPr>
              <a:t>Chrome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imes New Roman"/>
                <a:cs typeface="Times New Roman"/>
              </a:rPr>
              <a:t>-</a:t>
            </a:r>
            <a:r>
              <a:rPr sz="3000" spc="300" dirty="0">
                <a:latin typeface="Times New Roman"/>
                <a:cs typeface="Times New Roman"/>
              </a:rPr>
              <a:t>&gt;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65" dirty="0">
                <a:latin typeface="Times New Roman"/>
                <a:cs typeface="Times New Roman"/>
              </a:rPr>
              <a:t>Settings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imes New Roman"/>
                <a:cs typeface="Times New Roman"/>
              </a:rPr>
              <a:t>-</a:t>
            </a:r>
            <a:r>
              <a:rPr sz="3000" spc="300" dirty="0">
                <a:latin typeface="Times New Roman"/>
                <a:cs typeface="Times New Roman"/>
              </a:rPr>
              <a:t>&gt;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65" dirty="0">
                <a:latin typeface="Times New Roman"/>
                <a:cs typeface="Times New Roman"/>
              </a:rPr>
              <a:t>More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20" dirty="0">
                <a:latin typeface="Times New Roman"/>
                <a:cs typeface="Times New Roman"/>
              </a:rPr>
              <a:t>tools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imes New Roman"/>
                <a:cs typeface="Times New Roman"/>
              </a:rPr>
              <a:t>-</a:t>
            </a:r>
            <a:r>
              <a:rPr sz="3000" spc="300" dirty="0">
                <a:latin typeface="Times New Roman"/>
                <a:cs typeface="Times New Roman"/>
              </a:rPr>
              <a:t>&gt;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14" dirty="0">
                <a:latin typeface="Times New Roman"/>
                <a:cs typeface="Times New Roman"/>
              </a:rPr>
              <a:t>Developer </a:t>
            </a:r>
            <a:r>
              <a:rPr sz="3000" spc="-10" dirty="0">
                <a:latin typeface="Times New Roman"/>
                <a:cs typeface="Times New Roman"/>
              </a:rPr>
              <a:t>tools</a:t>
            </a:r>
            <a:endParaRPr sz="3000">
              <a:latin typeface="Times New Roman"/>
              <a:cs typeface="Times New Roman"/>
            </a:endParaRPr>
          </a:p>
          <a:p>
            <a:pPr marL="283845" marR="5080" indent="-280670">
              <a:lnSpc>
                <a:spcPct val="100000"/>
              </a:lnSpc>
              <a:spcBef>
                <a:spcPts val="57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5115" algn="l"/>
              </a:tabLst>
            </a:pPr>
            <a:r>
              <a:rPr sz="3200" spc="-140" dirty="0">
                <a:latin typeface="Times New Roman"/>
                <a:cs typeface="Times New Roman"/>
              </a:rPr>
              <a:t>Recent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extensions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(Node.js)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allows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JavaScript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run 	</a:t>
            </a:r>
            <a:r>
              <a:rPr sz="3200" spc="-130" dirty="0">
                <a:latin typeface="Times New Roman"/>
                <a:cs typeface="Times New Roman"/>
              </a:rPr>
              <a:t>independent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of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60" dirty="0">
                <a:latin typeface="Times New Roman"/>
                <a:cs typeface="Times New Roman"/>
              </a:rPr>
              <a:t>a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web</a:t>
            </a:r>
            <a:r>
              <a:rPr sz="3200" spc="-45" dirty="0">
                <a:latin typeface="Times New Roman"/>
                <a:cs typeface="Times New Roman"/>
              </a:rPr>
              <a:t> environment</a:t>
            </a:r>
            <a:endParaRPr sz="3200">
              <a:latin typeface="Times New Roman"/>
              <a:cs typeface="Times New Roman"/>
            </a:endParaRPr>
          </a:p>
          <a:p>
            <a:pPr marL="559435" lvl="1" indent="-285750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000"/>
              <a:buFont typeface="Segoe UI Symbol"/>
              <a:buChar char="⚫"/>
              <a:tabLst>
                <a:tab pos="559435" algn="l"/>
              </a:tabLst>
            </a:pPr>
            <a:r>
              <a:rPr sz="3000" spc="-20" dirty="0">
                <a:latin typeface="Times New Roman"/>
                <a:cs typeface="Times New Roman"/>
              </a:rPr>
              <a:t>node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977" y="4696205"/>
            <a:ext cx="5533644" cy="94335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-125730"/>
            <a:ext cx="362013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55" dirty="0"/>
              <a:t>JavaScript</a:t>
            </a:r>
            <a:endParaRPr sz="6600"/>
          </a:p>
        </p:txBody>
      </p:sp>
      <p:sp>
        <p:nvSpPr>
          <p:cNvPr id="3" name="object 3"/>
          <p:cNvSpPr txBox="1"/>
          <p:nvPr/>
        </p:nvSpPr>
        <p:spPr>
          <a:xfrm>
            <a:off x="535940" y="824534"/>
            <a:ext cx="4756150" cy="53098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5115" indent="-281305">
              <a:lnSpc>
                <a:spcPct val="100000"/>
              </a:lnSpc>
              <a:spcBef>
                <a:spcPts val="5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340" dirty="0">
                <a:latin typeface="Times New Roman"/>
                <a:cs typeface="Times New Roman"/>
              </a:rPr>
              <a:t>Basic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spc="-90" dirty="0">
                <a:latin typeface="Times New Roman"/>
                <a:cs typeface="Times New Roman"/>
              </a:rPr>
              <a:t>Features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690" dirty="0">
                <a:latin typeface="Times New Roman"/>
                <a:cs typeface="Times New Roman"/>
              </a:rPr>
              <a:t>V</a:t>
            </a:r>
            <a:r>
              <a:rPr sz="4000" spc="-250" dirty="0">
                <a:latin typeface="Times New Roman"/>
                <a:cs typeface="Times New Roman"/>
              </a:rPr>
              <a:t>a</a:t>
            </a:r>
            <a:r>
              <a:rPr sz="4000" spc="-165" dirty="0">
                <a:latin typeface="Times New Roman"/>
                <a:cs typeface="Times New Roman"/>
              </a:rPr>
              <a:t>r</a:t>
            </a:r>
            <a:r>
              <a:rPr sz="4000" spc="-240" dirty="0">
                <a:latin typeface="Times New Roman"/>
                <a:cs typeface="Times New Roman"/>
              </a:rPr>
              <a:t>ia</a:t>
            </a:r>
            <a:r>
              <a:rPr sz="4000" spc="-305" dirty="0">
                <a:latin typeface="Times New Roman"/>
                <a:cs typeface="Times New Roman"/>
              </a:rPr>
              <a:t>b</a:t>
            </a:r>
            <a:r>
              <a:rPr sz="4000" spc="-240" dirty="0">
                <a:latin typeface="Times New Roman"/>
                <a:cs typeface="Times New Roman"/>
              </a:rPr>
              <a:t>les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70" dirty="0">
                <a:latin typeface="Times New Roman"/>
                <a:cs typeface="Times New Roman"/>
              </a:rPr>
              <a:t>Constants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330" dirty="0">
                <a:latin typeface="Times New Roman"/>
                <a:cs typeface="Times New Roman"/>
              </a:rPr>
              <a:t>Types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180" dirty="0">
                <a:latin typeface="Times New Roman"/>
                <a:cs typeface="Times New Roman"/>
              </a:rPr>
              <a:t>Arithmetic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spc="-120" dirty="0">
                <a:latin typeface="Times New Roman"/>
                <a:cs typeface="Times New Roman"/>
              </a:rPr>
              <a:t>Operations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200" dirty="0">
                <a:latin typeface="Times New Roman"/>
                <a:cs typeface="Times New Roman"/>
              </a:rPr>
              <a:t>Compound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Operators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250" dirty="0">
                <a:latin typeface="Times New Roman"/>
                <a:cs typeface="Times New Roman"/>
              </a:rPr>
              <a:t>Bitwise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spc="-45" dirty="0">
                <a:latin typeface="Times New Roman"/>
                <a:cs typeface="Times New Roman"/>
              </a:rPr>
              <a:t>Operations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195" dirty="0">
                <a:latin typeface="Times New Roman"/>
                <a:cs typeface="Times New Roman"/>
              </a:rPr>
              <a:t>String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50" dirty="0">
                <a:latin typeface="Times New Roman"/>
                <a:cs typeface="Times New Roman"/>
              </a:rPr>
              <a:t>Operations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838421"/>
            <a:ext cx="7795259" cy="51244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71780" marR="6193155" indent="-271780" algn="r">
              <a:lnSpc>
                <a:spcPct val="100000"/>
              </a:lnSpc>
              <a:spcBef>
                <a:spcPts val="505"/>
              </a:spcBef>
              <a:buClr>
                <a:srgbClr val="D24717"/>
              </a:buClr>
              <a:buSzPct val="75000"/>
              <a:buFont typeface="Segoe UI Symbol"/>
              <a:buChar char="⚫"/>
              <a:tabLst>
                <a:tab pos="271780" algn="l"/>
              </a:tabLst>
            </a:pPr>
            <a:r>
              <a:rPr sz="3200" spc="-220" dirty="0">
                <a:latin typeface="Times New Roman"/>
                <a:cs typeface="Times New Roman"/>
              </a:rPr>
              <a:t>Variables</a:t>
            </a:r>
            <a:endParaRPr sz="3200">
              <a:latin typeface="Times New Roman"/>
              <a:cs typeface="Times New Roman"/>
            </a:endParaRPr>
          </a:p>
          <a:p>
            <a:pPr marL="227965" marR="6223000" lvl="1" indent="-227965" algn="r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62500"/>
              <a:buFont typeface="Segoe UI Symbol"/>
              <a:buChar char="⚫"/>
              <a:tabLst>
                <a:tab pos="227965" algn="l"/>
              </a:tabLst>
            </a:pPr>
            <a:r>
              <a:rPr sz="3200" spc="-20" dirty="0">
                <a:latin typeface="Times New Roman"/>
                <a:cs typeface="Times New Roman"/>
              </a:rPr>
              <a:t>Names</a:t>
            </a:r>
            <a:endParaRPr sz="32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55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70" dirty="0">
                <a:latin typeface="Times New Roman"/>
                <a:cs typeface="Times New Roman"/>
              </a:rPr>
              <a:t>Alphanumeric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125" dirty="0">
                <a:latin typeface="Times New Roman"/>
                <a:cs typeface="Times New Roman"/>
              </a:rPr>
              <a:t>Starting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with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alpha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395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180" dirty="0">
                <a:latin typeface="Times New Roman"/>
                <a:cs typeface="Times New Roman"/>
              </a:rPr>
              <a:t>Names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are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case-</a:t>
            </a:r>
            <a:r>
              <a:rPr sz="2800" spc="-35" dirty="0">
                <a:latin typeface="Times New Roman"/>
                <a:cs typeface="Times New Roman"/>
              </a:rPr>
              <a:t>sensitive</a:t>
            </a:r>
            <a:endParaRPr sz="2800">
              <a:latin typeface="Times New Roman"/>
              <a:cs typeface="Times New Roman"/>
            </a:endParaRPr>
          </a:p>
          <a:p>
            <a:pPr marL="558800" lvl="1" indent="-227329">
              <a:lnSpc>
                <a:spcPct val="100000"/>
              </a:lnSpc>
              <a:spcBef>
                <a:spcPts val="345"/>
              </a:spcBef>
              <a:buClr>
                <a:srgbClr val="9B2C1F"/>
              </a:buClr>
              <a:buSzPct val="62500"/>
              <a:buFont typeface="Segoe UI Symbol"/>
              <a:buChar char="⚫"/>
              <a:tabLst>
                <a:tab pos="558800" algn="l"/>
              </a:tabLst>
            </a:pPr>
            <a:r>
              <a:rPr sz="3200" spc="-195" dirty="0">
                <a:latin typeface="Times New Roman"/>
                <a:cs typeface="Times New Roman"/>
              </a:rPr>
              <a:t>Can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hold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values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of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various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types</a:t>
            </a:r>
            <a:endParaRPr sz="3200">
              <a:latin typeface="Times New Roman"/>
              <a:cs typeface="Times New Roman"/>
            </a:endParaRPr>
          </a:p>
          <a:p>
            <a:pPr marL="559435" lvl="1" indent="-22796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62500"/>
              <a:buFont typeface="Segoe UI Symbol"/>
              <a:buChar char="⚫"/>
              <a:tabLst>
                <a:tab pos="559435" algn="l"/>
              </a:tabLst>
            </a:pPr>
            <a:r>
              <a:rPr sz="3200" spc="-190" dirty="0">
                <a:latin typeface="Times New Roman"/>
                <a:cs typeface="Times New Roman"/>
              </a:rPr>
              <a:t>Must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be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declared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before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use</a:t>
            </a:r>
            <a:endParaRPr sz="3200">
              <a:latin typeface="Times New Roman"/>
              <a:cs typeface="Times New Roman"/>
            </a:endParaRPr>
          </a:p>
          <a:p>
            <a:pPr marL="558800" lvl="1" indent="-227329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62500"/>
              <a:buFont typeface="Segoe UI Symbol"/>
              <a:buChar char="⚫"/>
              <a:tabLst>
                <a:tab pos="558800" algn="l"/>
              </a:tabLst>
            </a:pPr>
            <a:r>
              <a:rPr sz="3200" spc="-155" dirty="0">
                <a:latin typeface="Times New Roman"/>
                <a:cs typeface="Times New Roman"/>
              </a:rPr>
              <a:t>Declared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with</a:t>
            </a:r>
            <a:endParaRPr sz="32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55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25" dirty="0">
                <a:latin typeface="Times New Roman"/>
                <a:cs typeface="Times New Roman"/>
              </a:rPr>
              <a:t>var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8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  <a:tab pos="2597150" algn="l"/>
              </a:tabLst>
            </a:pPr>
            <a:r>
              <a:rPr sz="2800" spc="-25" dirty="0">
                <a:latin typeface="Times New Roman"/>
                <a:cs typeface="Times New Roman"/>
              </a:rPr>
              <a:t>let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Wingdings"/>
                <a:cs typeface="Wingdings"/>
              </a:rPr>
              <a:t>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95" dirty="0">
                <a:latin typeface="Times New Roman"/>
                <a:cs typeface="Times New Roman"/>
              </a:rPr>
              <a:t>Best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practice,</a:t>
            </a:r>
            <a:r>
              <a:rPr sz="2800" spc="-19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var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being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deprecated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740" y="-125730"/>
            <a:ext cx="362013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55" dirty="0"/>
              <a:t>JavaScript</a:t>
            </a:r>
            <a:endParaRPr sz="6600"/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03" y="846648"/>
            <a:ext cx="1503680" cy="43745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28295" indent="-315595">
              <a:lnSpc>
                <a:spcPct val="100000"/>
              </a:lnSpc>
              <a:spcBef>
                <a:spcPts val="500"/>
              </a:spcBef>
              <a:buChar char="&gt;"/>
              <a:tabLst>
                <a:tab pos="328295" algn="l"/>
              </a:tabLst>
            </a:pPr>
            <a:r>
              <a:rPr sz="2800" spc="-170" dirty="0">
                <a:latin typeface="Times New Roman"/>
                <a:cs typeface="Times New Roman"/>
              </a:rPr>
              <a:t>var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=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 marR="1036955" indent="315595">
              <a:lnSpc>
                <a:spcPts val="3760"/>
              </a:lnSpc>
              <a:spcBef>
                <a:spcPts val="190"/>
              </a:spcBef>
              <a:buChar char="&gt;"/>
              <a:tabLst>
                <a:tab pos="328295" algn="l"/>
              </a:tabLst>
            </a:pPr>
            <a:r>
              <a:rPr sz="2800" spc="-254" dirty="0">
                <a:latin typeface="Times New Roman"/>
                <a:cs typeface="Times New Roman"/>
              </a:rPr>
              <a:t>a </a:t>
            </a:r>
            <a:r>
              <a:rPr sz="2800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66675" marR="425450" lvl="1" indent="313690">
              <a:lnSpc>
                <a:spcPts val="3960"/>
              </a:lnSpc>
              <a:spcBef>
                <a:spcPts val="40"/>
              </a:spcBef>
              <a:buChar char="&gt;"/>
              <a:tabLst>
                <a:tab pos="380365" algn="l"/>
              </a:tabLst>
            </a:pP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=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2 </a:t>
            </a:r>
            <a:r>
              <a:rPr sz="2800" spc="-50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05"/>
              </a:spcBef>
              <a:buFont typeface="Times New Roman"/>
              <a:buChar char="&gt;"/>
            </a:pPr>
            <a:endParaRPr sz="28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5"/>
              </a:spcBef>
              <a:buChar char="&gt;"/>
              <a:tabLst>
                <a:tab pos="328295" algn="l"/>
              </a:tabLst>
            </a:pPr>
            <a:r>
              <a:rPr sz="2800" spc="-45" dirty="0">
                <a:latin typeface="Times New Roman"/>
                <a:cs typeface="Times New Roman"/>
              </a:rPr>
              <a:t>let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b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=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 marR="1007110" indent="315595">
              <a:lnSpc>
                <a:spcPts val="3760"/>
              </a:lnSpc>
              <a:spcBef>
                <a:spcPts val="105"/>
              </a:spcBef>
              <a:buChar char="&gt;"/>
              <a:tabLst>
                <a:tab pos="328295" algn="l"/>
              </a:tabLst>
            </a:pPr>
            <a:r>
              <a:rPr sz="2800" spc="-175" dirty="0">
                <a:latin typeface="Times New Roman"/>
                <a:cs typeface="Times New Roman"/>
              </a:rPr>
              <a:t>b </a:t>
            </a:r>
            <a:r>
              <a:rPr sz="2800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740" y="-125730"/>
            <a:ext cx="362013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55" dirty="0"/>
              <a:t>JavaScript</a:t>
            </a:r>
            <a:endParaRPr sz="6600"/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61976"/>
            <a:ext cx="63938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2020" algn="l"/>
              </a:tabLst>
            </a:pPr>
            <a:r>
              <a:rPr sz="5400" spc="-35" dirty="0"/>
              <a:t>JavaScript</a:t>
            </a:r>
            <a:r>
              <a:rPr sz="5400" spc="-260" dirty="0"/>
              <a:t> </a:t>
            </a:r>
            <a:r>
              <a:rPr sz="5400" spc="-50" dirty="0"/>
              <a:t>-</a:t>
            </a:r>
            <a:r>
              <a:rPr sz="5400" dirty="0"/>
              <a:t>	</a:t>
            </a:r>
            <a:r>
              <a:rPr sz="5400" spc="-20" dirty="0"/>
              <a:t>Constants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764540" y="959103"/>
            <a:ext cx="6674484" cy="18999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8067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240" dirty="0">
                <a:latin typeface="Times New Roman"/>
                <a:cs typeface="Times New Roman"/>
              </a:rPr>
              <a:t>Names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95" dirty="0">
                <a:latin typeface="Times New Roman"/>
                <a:cs typeface="Times New Roman"/>
              </a:rPr>
              <a:t>holding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values</a:t>
            </a:r>
            <a:endParaRPr sz="3600">
              <a:latin typeface="Times New Roman"/>
              <a:cs typeface="Times New Roman"/>
            </a:endParaRPr>
          </a:p>
          <a:p>
            <a:pPr marL="285115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310" dirty="0">
                <a:latin typeface="Times New Roman"/>
                <a:cs typeface="Times New Roman"/>
              </a:rPr>
              <a:t>Values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70" dirty="0">
                <a:latin typeface="Times New Roman"/>
                <a:cs typeface="Times New Roman"/>
              </a:rPr>
              <a:t>do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80" dirty="0">
                <a:latin typeface="Times New Roman"/>
                <a:cs typeface="Times New Roman"/>
              </a:rPr>
              <a:t>not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220" dirty="0">
                <a:latin typeface="Times New Roman"/>
                <a:cs typeface="Times New Roman"/>
              </a:rPr>
              <a:t>change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50" dirty="0">
                <a:latin typeface="Times New Roman"/>
                <a:cs typeface="Times New Roman"/>
              </a:rPr>
              <a:t>during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20" dirty="0">
                <a:latin typeface="Times New Roman"/>
                <a:cs typeface="Times New Roman"/>
              </a:rPr>
              <a:t>execution</a:t>
            </a:r>
            <a:endParaRPr sz="3600">
              <a:latin typeface="Times New Roman"/>
              <a:cs typeface="Times New Roman"/>
            </a:endParaRPr>
          </a:p>
          <a:p>
            <a:pPr marL="285115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175" dirty="0">
                <a:latin typeface="Times New Roman"/>
                <a:cs typeface="Times New Roman"/>
              </a:rPr>
              <a:t>Declared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45" dirty="0">
                <a:latin typeface="Times New Roman"/>
                <a:cs typeface="Times New Roman"/>
              </a:rPr>
              <a:t>with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20" dirty="0">
                <a:latin typeface="Times New Roman"/>
                <a:cs typeface="Times New Roman"/>
              </a:rPr>
              <a:t>'const'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45" dirty="0">
                <a:latin typeface="Times New Roman"/>
                <a:cs typeface="Times New Roman"/>
              </a:rPr>
              <a:t>keyword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61976"/>
            <a:ext cx="63938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2020" algn="l"/>
              </a:tabLst>
            </a:pPr>
            <a:r>
              <a:rPr sz="5400" spc="-35" dirty="0"/>
              <a:t>JavaScript</a:t>
            </a:r>
            <a:r>
              <a:rPr sz="5400" spc="-260" dirty="0"/>
              <a:t> </a:t>
            </a:r>
            <a:r>
              <a:rPr sz="5400" spc="-50" dirty="0"/>
              <a:t>-</a:t>
            </a:r>
            <a:r>
              <a:rPr sz="5400" dirty="0"/>
              <a:t>	</a:t>
            </a:r>
            <a:r>
              <a:rPr sz="5400" spc="-20" dirty="0"/>
              <a:t>Constants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764540" y="966419"/>
            <a:ext cx="6477000" cy="39731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700"/>
              </a:spcBef>
              <a:buChar char="&gt;"/>
              <a:tabLst>
                <a:tab pos="374015" algn="l"/>
              </a:tabLst>
            </a:pPr>
            <a:r>
              <a:rPr sz="3200" spc="-145" dirty="0">
                <a:latin typeface="Times New Roman"/>
                <a:cs typeface="Times New Roman"/>
              </a:rPr>
              <a:t>const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c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320" dirty="0">
                <a:latin typeface="Times New Roman"/>
                <a:cs typeface="Times New Roman"/>
              </a:rPr>
              <a:t>=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12700" marR="5937885" indent="361315">
              <a:lnSpc>
                <a:spcPct val="115599"/>
              </a:lnSpc>
              <a:buChar char="&gt;"/>
              <a:tabLst>
                <a:tab pos="374015" algn="l"/>
              </a:tabLst>
            </a:pPr>
            <a:r>
              <a:rPr sz="3200" spc="-235" dirty="0">
                <a:latin typeface="Times New Roman"/>
                <a:cs typeface="Times New Roman"/>
              </a:rPr>
              <a:t>c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374015" indent="-361315">
              <a:lnSpc>
                <a:spcPct val="100000"/>
              </a:lnSpc>
              <a:spcBef>
                <a:spcPts val="600"/>
              </a:spcBef>
              <a:buChar char="&gt;"/>
              <a:tabLst>
                <a:tab pos="374015" algn="l"/>
              </a:tabLst>
            </a:pPr>
            <a:r>
              <a:rPr sz="3200" spc="-204" dirty="0">
                <a:latin typeface="Times New Roman"/>
                <a:cs typeface="Times New Roman"/>
              </a:rPr>
              <a:t>c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320" dirty="0">
                <a:latin typeface="Times New Roman"/>
                <a:cs typeface="Times New Roman"/>
              </a:rPr>
              <a:t>=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spc="-10" dirty="0">
                <a:latin typeface="Times New Roman"/>
                <a:cs typeface="Times New Roman"/>
              </a:rPr>
              <a:t>Thrown: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spc="-150" dirty="0">
                <a:latin typeface="Times New Roman"/>
                <a:cs typeface="Times New Roman"/>
              </a:rPr>
              <a:t>TypeError:</a:t>
            </a:r>
            <a:r>
              <a:rPr sz="3200" spc="-420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Assignment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constant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variable.</a:t>
            </a:r>
            <a:endParaRPr sz="3200">
              <a:latin typeface="Times New Roman"/>
              <a:cs typeface="Times New Roman"/>
            </a:endParaRPr>
          </a:p>
          <a:p>
            <a:pPr marL="374015" indent="-361315">
              <a:lnSpc>
                <a:spcPct val="100000"/>
              </a:lnSpc>
              <a:spcBef>
                <a:spcPts val="600"/>
              </a:spcBef>
              <a:buChar char="&gt;"/>
              <a:tabLst>
                <a:tab pos="374015" algn="l"/>
              </a:tabLst>
            </a:pPr>
            <a:r>
              <a:rPr sz="3200" spc="-145" dirty="0">
                <a:latin typeface="Times New Roman"/>
                <a:cs typeface="Times New Roman"/>
              </a:rPr>
              <a:t>const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pi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320" dirty="0">
                <a:latin typeface="Times New Roman"/>
                <a:cs typeface="Times New Roman"/>
              </a:rPr>
              <a:t>=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3.1415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1" y="61976"/>
            <a:ext cx="822452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2020" algn="l"/>
              </a:tabLst>
            </a:pPr>
            <a:r>
              <a:rPr sz="5400" spc="-35" dirty="0"/>
              <a:t>JavaScript</a:t>
            </a:r>
            <a:r>
              <a:rPr sz="5400" spc="-260" dirty="0"/>
              <a:t> </a:t>
            </a:r>
            <a:r>
              <a:rPr sz="5400" spc="-50" dirty="0"/>
              <a:t>-</a:t>
            </a:r>
            <a:r>
              <a:rPr sz="5400" dirty="0"/>
              <a:t>	</a:t>
            </a:r>
            <a:r>
              <a:rPr lang="en-US" sz="5400" dirty="0"/>
              <a:t>Primitive </a:t>
            </a:r>
            <a:r>
              <a:rPr sz="5400" spc="-85" dirty="0"/>
              <a:t>Types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459739" y="1066800"/>
            <a:ext cx="8303260" cy="514692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558800" marR="508000" lvl="1" indent="-263525">
              <a:lnSpc>
                <a:spcPct val="100000"/>
              </a:lnSpc>
              <a:spcBef>
                <a:spcPts val="509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60070" algn="l"/>
              </a:tabLst>
            </a:pPr>
            <a:r>
              <a:rPr sz="2800" b="1" spc="-50" dirty="0">
                <a:latin typeface="Times New Roman"/>
                <a:cs typeface="Times New Roman"/>
              </a:rPr>
              <a:t>Number </a:t>
            </a:r>
            <a:r>
              <a:rPr sz="2800" spc="-75" dirty="0">
                <a:latin typeface="Times New Roman"/>
                <a:cs typeface="Times New Roman"/>
              </a:rPr>
              <a:t>(Note: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there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no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'integer'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'float'.</a:t>
            </a:r>
            <a:r>
              <a:rPr sz="2800" spc="-390" dirty="0">
                <a:latin typeface="Times New Roman"/>
                <a:cs typeface="Times New Roman"/>
              </a:rPr>
              <a:t> </a:t>
            </a:r>
            <a:r>
              <a:rPr sz="2800" spc="-200" dirty="0">
                <a:latin typeface="Times New Roman"/>
                <a:cs typeface="Times New Roman"/>
              </a:rPr>
              <a:t>All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are 	</a:t>
            </a:r>
            <a:r>
              <a:rPr sz="2800" spc="-10" dirty="0">
                <a:latin typeface="Times New Roman"/>
                <a:cs typeface="Times New Roman"/>
              </a:rPr>
              <a:t>numbers)</a:t>
            </a:r>
            <a:endParaRPr sz="2800" dirty="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b="1" spc="-35" dirty="0">
                <a:latin typeface="Times New Roman"/>
                <a:cs typeface="Times New Roman"/>
              </a:rPr>
              <a:t>String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285" dirty="0">
                <a:latin typeface="Times New Roman"/>
                <a:cs typeface="Times New Roman"/>
              </a:rPr>
              <a:t> </a:t>
            </a:r>
            <a:r>
              <a:rPr sz="2800" spc="-365" dirty="0">
                <a:latin typeface="Times New Roman"/>
                <a:cs typeface="Times New Roman"/>
              </a:rPr>
              <a:t>A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series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of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characters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(inside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of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quotes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""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'')</a:t>
            </a:r>
            <a:endParaRPr sz="2800" dirty="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b="1" dirty="0">
                <a:latin typeface="Times New Roman"/>
                <a:cs typeface="Times New Roman"/>
              </a:rPr>
              <a:t>Boolean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Holds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 </a:t>
            </a:r>
            <a:r>
              <a:rPr sz="2800" spc="-180" dirty="0">
                <a:latin typeface="Times New Roman"/>
                <a:cs typeface="Times New Roman"/>
              </a:rPr>
              <a:t>values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true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false</a:t>
            </a:r>
            <a:endParaRPr sz="2800" dirty="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150" dirty="0">
                <a:latin typeface="Times New Roman"/>
                <a:cs typeface="Times New Roman"/>
              </a:rPr>
              <a:t>Undefined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No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value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has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been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assigned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variable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yet</a:t>
            </a:r>
            <a:endParaRPr lang="en-US" sz="2800" spc="-25" dirty="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lang="en-IN" sz="2800" b="1" spc="-25" dirty="0">
                <a:latin typeface="Times New Roman"/>
                <a:cs typeface="Times New Roman"/>
              </a:rPr>
              <a:t>NULL -</a:t>
            </a:r>
          </a:p>
          <a:p>
            <a:pPr marL="558800" lvl="1" indent="-2635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lang="en-IN" sz="2800" b="1" spc="-25" dirty="0">
                <a:latin typeface="Times New Roman"/>
                <a:cs typeface="Times New Roman"/>
              </a:rPr>
              <a:t>Symbol – </a:t>
            </a:r>
            <a:r>
              <a:rPr lang="en-US" sz="2800" spc="-140" dirty="0">
                <a:latin typeface="Times New Roman"/>
                <a:cs typeface="Times New Roman"/>
              </a:rPr>
              <a:t>It represents a unique and immutable identifier.</a:t>
            </a:r>
          </a:p>
          <a:p>
            <a:pPr marL="295275" lvl="1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3928"/>
              <a:tabLst>
                <a:tab pos="558800" algn="l"/>
              </a:tabLst>
            </a:pPr>
            <a:r>
              <a:rPr lang="en-US" sz="2800" spc="-140" dirty="0">
                <a:latin typeface="Times New Roman"/>
                <a:cs typeface="Times New Roman"/>
              </a:rPr>
              <a:t>This makes Symbol especially useful when we want to create hidden object properties that don’t accidentally clash with other property names</a:t>
            </a:r>
            <a:r>
              <a:rPr lang="en-US" sz="2800" dirty="0"/>
              <a:t>.</a:t>
            </a:r>
            <a:endParaRPr sz="2800" spc="-140" dirty="0">
              <a:latin typeface="Times New Roman"/>
              <a:cs typeface="Times New Roman"/>
            </a:endParaRPr>
          </a:p>
          <a:p>
            <a:pPr marL="601980" lvl="2">
              <a:lnSpc>
                <a:spcPct val="100000"/>
              </a:lnSpc>
              <a:spcBef>
                <a:spcPts val="464"/>
              </a:spcBef>
              <a:buClr>
                <a:srgbClr val="E6B0AB"/>
              </a:buClr>
              <a:buSzPct val="85416"/>
              <a:tabLst>
                <a:tab pos="833755" algn="l"/>
              </a:tabLst>
            </a:pPr>
            <a:endParaRPr lang="en-US" sz="2400" spc="-2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8F2A5-443B-3D5F-DEDD-82F6A4271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52400"/>
            <a:ext cx="7605395" cy="6894195"/>
          </a:xfrm>
        </p:spPr>
        <p:txBody>
          <a:bodyPr/>
          <a:lstStyle/>
          <a:p>
            <a:r>
              <a:rPr lang="en-IN" dirty="0"/>
              <a:t>let id1 = Symbol("id");</a:t>
            </a:r>
          </a:p>
          <a:p>
            <a:r>
              <a:rPr lang="en-IN" dirty="0"/>
              <a:t>let id2 = Symbol("id");</a:t>
            </a:r>
          </a:p>
          <a:p>
            <a:endParaRPr lang="en-IN" dirty="0"/>
          </a:p>
          <a:p>
            <a:r>
              <a:rPr lang="en-IN" dirty="0"/>
              <a:t>let student = {</a:t>
            </a:r>
          </a:p>
          <a:p>
            <a:r>
              <a:rPr lang="en-IN" dirty="0"/>
              <a:t>  name: "John",</a:t>
            </a:r>
          </a:p>
          <a:p>
            <a:r>
              <a:rPr lang="en-IN" dirty="0"/>
              <a:t>  [id1]: 123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r>
              <a:rPr lang="en-IN" dirty="0"/>
              <a:t>student[id2] = 456; // doesn't overwrite id1 property</a:t>
            </a:r>
          </a:p>
          <a:p>
            <a:endParaRPr lang="en-IN" dirty="0"/>
          </a:p>
          <a:p>
            <a:r>
              <a:rPr lang="en-IN" dirty="0"/>
              <a:t>console.log(student);          // { name: 'John', [Symbol(id)]: 123, [Symbol(id)]: 456 }</a:t>
            </a:r>
          </a:p>
          <a:p>
            <a:r>
              <a:rPr lang="en-IN" dirty="0"/>
              <a:t>console.log(student[id1]);     // 123</a:t>
            </a:r>
          </a:p>
          <a:p>
            <a:r>
              <a:rPr lang="en-IN" dirty="0"/>
              <a:t>console.log(student[id2]);     // 456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07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61976"/>
            <a:ext cx="50907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2020" algn="l"/>
              </a:tabLst>
            </a:pPr>
            <a:r>
              <a:rPr sz="5400" spc="-35" dirty="0"/>
              <a:t>JavaScript</a:t>
            </a:r>
            <a:r>
              <a:rPr sz="5400" spc="-260" dirty="0"/>
              <a:t> </a:t>
            </a:r>
            <a:r>
              <a:rPr sz="5400" spc="-50" dirty="0"/>
              <a:t>-</a:t>
            </a:r>
            <a:r>
              <a:rPr sz="5400" dirty="0"/>
              <a:t>	</a:t>
            </a:r>
            <a:r>
              <a:rPr sz="5400" spc="-85" dirty="0"/>
              <a:t>Types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526539" y="876046"/>
            <a:ext cx="387159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Examples:</a:t>
            </a:r>
            <a:endParaRPr sz="2400">
              <a:latin typeface="Times New Roman"/>
              <a:cs typeface="Times New Roman"/>
            </a:endParaRPr>
          </a:p>
          <a:p>
            <a:pPr marL="260350" indent="-247650">
              <a:lnSpc>
                <a:spcPct val="100000"/>
              </a:lnSpc>
              <a:spcBef>
                <a:spcPts val="5"/>
              </a:spcBef>
              <a:buChar char="&gt;"/>
              <a:tabLst>
                <a:tab pos="260350" algn="l"/>
                <a:tab pos="1401445" algn="l"/>
              </a:tabLst>
            </a:pPr>
            <a:r>
              <a:rPr sz="2400" dirty="0">
                <a:latin typeface="Times New Roman"/>
                <a:cs typeface="Times New Roman"/>
              </a:rPr>
              <a:t>var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a;</a:t>
            </a:r>
            <a:r>
              <a:rPr sz="2400" dirty="0">
                <a:latin typeface="Times New Roman"/>
                <a:cs typeface="Times New Roman"/>
              </a:rPr>
              <a:t>	//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Declare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 marR="3376929" indent="247650">
              <a:lnSpc>
                <a:spcPct val="100000"/>
              </a:lnSpc>
              <a:buChar char="&gt;"/>
              <a:tabLst>
                <a:tab pos="260350" algn="l"/>
              </a:tabLst>
            </a:pP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spc="-20" dirty="0">
                <a:latin typeface="Times New Roman"/>
                <a:cs typeface="Times New Roman"/>
              </a:rPr>
              <a:t>null</a:t>
            </a:r>
            <a:endParaRPr sz="2400">
              <a:latin typeface="Times New Roman"/>
              <a:cs typeface="Times New Roman"/>
            </a:endParaRPr>
          </a:p>
          <a:p>
            <a:pPr marL="260350" indent="-247650">
              <a:lnSpc>
                <a:spcPct val="100000"/>
              </a:lnSpc>
              <a:buChar char="&gt;"/>
              <a:tabLst>
                <a:tab pos="26035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25" dirty="0">
                <a:latin typeface="Times New Roman"/>
                <a:cs typeface="Times New Roman"/>
              </a:rPr>
              <a:t>1.1</a:t>
            </a:r>
            <a:endParaRPr sz="2400">
              <a:latin typeface="Times New Roman"/>
              <a:cs typeface="Times New Roman"/>
            </a:endParaRPr>
          </a:p>
          <a:p>
            <a:pPr marL="12700" marR="3467735" indent="247650">
              <a:lnSpc>
                <a:spcPct val="100000"/>
              </a:lnSpc>
              <a:buChar char="&gt;"/>
              <a:tabLst>
                <a:tab pos="260350" algn="l"/>
              </a:tabLst>
            </a:pP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spc="-25" dirty="0">
                <a:latin typeface="Times New Roman"/>
                <a:cs typeface="Times New Roman"/>
              </a:rPr>
              <a:t>1.1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70721" y="4900167"/>
            <a:ext cx="2020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//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Boolean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6539" y="3436873"/>
            <a:ext cx="152336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50" indent="-247650">
              <a:lnSpc>
                <a:spcPct val="100000"/>
              </a:lnSpc>
              <a:spcBef>
                <a:spcPts val="100"/>
              </a:spcBef>
              <a:buChar char="&gt;"/>
              <a:tabLst>
                <a:tab pos="26035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10" dirty="0">
                <a:latin typeface="Times New Roman"/>
                <a:cs typeface="Times New Roman"/>
              </a:rPr>
              <a:t>"Paul"</a:t>
            </a:r>
            <a:endParaRPr sz="2400">
              <a:latin typeface="Times New Roman"/>
              <a:cs typeface="Times New Roman"/>
            </a:endParaRPr>
          </a:p>
          <a:p>
            <a:pPr marL="12700" marR="711835" indent="247650">
              <a:lnSpc>
                <a:spcPct val="100000"/>
              </a:lnSpc>
              <a:buChar char="&gt;"/>
              <a:tabLst>
                <a:tab pos="260350" algn="l"/>
              </a:tabLst>
            </a:pP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"Paul"</a:t>
            </a:r>
            <a:endParaRPr sz="2400">
              <a:latin typeface="Times New Roman"/>
              <a:cs typeface="Times New Roman"/>
            </a:endParaRPr>
          </a:p>
          <a:p>
            <a:pPr marL="260350" indent="-247650">
              <a:lnSpc>
                <a:spcPct val="100000"/>
              </a:lnSpc>
              <a:buChar char="&gt;"/>
              <a:tabLst>
                <a:tab pos="260350" algn="l"/>
              </a:tabLst>
            </a:pP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60350" indent="-247650">
              <a:lnSpc>
                <a:spcPct val="100000"/>
              </a:lnSpc>
              <a:buChar char="&gt;"/>
              <a:tabLst>
                <a:tab pos="26035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10" dirty="0">
                <a:latin typeface="Times New Roman"/>
                <a:cs typeface="Times New Roman"/>
              </a:rPr>
              <a:t>true;</a:t>
            </a:r>
            <a:endParaRPr sz="2400">
              <a:latin typeface="Times New Roman"/>
              <a:cs typeface="Times New Roman"/>
            </a:endParaRPr>
          </a:p>
          <a:p>
            <a:pPr marL="12700" marR="1029335" indent="247650">
              <a:lnSpc>
                <a:spcPct val="100000"/>
              </a:lnSpc>
              <a:buChar char="&gt;"/>
              <a:tabLst>
                <a:tab pos="260350" algn="l"/>
              </a:tabLst>
            </a:pP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spc="-20" dirty="0">
                <a:latin typeface="Times New Roman"/>
                <a:cs typeface="Times New Roman"/>
              </a:rPr>
              <a:t>true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1686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4400" spc="-30" dirty="0"/>
              <a:t>JavaScript</a:t>
            </a:r>
            <a:r>
              <a:rPr sz="4400" spc="-125" dirty="0"/>
              <a:t> </a:t>
            </a:r>
            <a:r>
              <a:rPr sz="4400" dirty="0"/>
              <a:t>–</a:t>
            </a:r>
            <a:r>
              <a:rPr sz="4400" spc="-110" dirty="0"/>
              <a:t> </a:t>
            </a:r>
            <a:r>
              <a:rPr sz="4400" spc="-80" dirty="0"/>
              <a:t>Arithmetic</a:t>
            </a:r>
            <a:r>
              <a:rPr sz="4400" spc="-95" dirty="0"/>
              <a:t> </a:t>
            </a:r>
            <a:r>
              <a:rPr sz="4400" spc="-10" dirty="0"/>
              <a:t>Operations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45539" y="1029207"/>
            <a:ext cx="4102100" cy="490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latin typeface="Times New Roman"/>
                <a:cs typeface="Times New Roman"/>
              </a:rPr>
              <a:t>//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Operators: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-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%,</a:t>
            </a:r>
            <a:endParaRPr sz="3200">
              <a:latin typeface="Times New Roman"/>
              <a:cs typeface="Times New Roman"/>
            </a:endParaRPr>
          </a:p>
          <a:p>
            <a:pPr marL="342265" indent="-329565">
              <a:lnSpc>
                <a:spcPct val="100000"/>
              </a:lnSpc>
              <a:buChar char="&gt;"/>
              <a:tabLst>
                <a:tab pos="342265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5;</a:t>
            </a:r>
            <a:endParaRPr sz="3200">
              <a:latin typeface="Times New Roman"/>
              <a:cs typeface="Times New Roman"/>
            </a:endParaRPr>
          </a:p>
          <a:p>
            <a:pPr marL="342265" indent="-329565">
              <a:lnSpc>
                <a:spcPct val="100000"/>
              </a:lnSpc>
              <a:buChar char="&gt;"/>
              <a:tabLst>
                <a:tab pos="342265" algn="l"/>
              </a:tabLst>
            </a:pPr>
            <a:r>
              <a:rPr sz="3200" dirty="0">
                <a:latin typeface="Times New Roman"/>
                <a:cs typeface="Times New Roman"/>
              </a:rPr>
              <a:t>b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11;</a:t>
            </a:r>
            <a:endParaRPr sz="3200">
              <a:latin typeface="Times New Roman"/>
              <a:cs typeface="Times New Roman"/>
            </a:endParaRPr>
          </a:p>
          <a:p>
            <a:pPr marL="342265" indent="-329565">
              <a:lnSpc>
                <a:spcPct val="100000"/>
              </a:lnSpc>
              <a:buChar char="&gt;"/>
              <a:tabLst>
                <a:tab pos="342265" algn="l"/>
              </a:tabLst>
            </a:pPr>
            <a:r>
              <a:rPr sz="3200" dirty="0">
                <a:latin typeface="Times New Roman"/>
                <a:cs typeface="Times New Roman"/>
              </a:rPr>
              <a:t>c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33;</a:t>
            </a:r>
            <a:endParaRPr sz="3200">
              <a:latin typeface="Times New Roman"/>
              <a:cs typeface="Times New Roman"/>
            </a:endParaRPr>
          </a:p>
          <a:p>
            <a:pPr marL="12700" marR="2186940" indent="329565">
              <a:lnSpc>
                <a:spcPct val="100000"/>
              </a:lnSpc>
              <a:buChar char="&gt;"/>
              <a:tabLst>
                <a:tab pos="342265" algn="l"/>
              </a:tabLst>
            </a:pPr>
            <a:r>
              <a:rPr sz="3200" dirty="0">
                <a:latin typeface="Times New Roman"/>
                <a:cs typeface="Times New Roman"/>
              </a:rPr>
              <a:t>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b; 16</a:t>
            </a:r>
            <a:endParaRPr sz="3200">
              <a:latin typeface="Times New Roman"/>
              <a:cs typeface="Times New Roman"/>
            </a:endParaRPr>
          </a:p>
          <a:p>
            <a:pPr marL="12700" marR="2100580" indent="329565">
              <a:lnSpc>
                <a:spcPct val="100000"/>
              </a:lnSpc>
              <a:spcBef>
                <a:spcPts val="5"/>
              </a:spcBef>
              <a:buChar char="&gt;"/>
              <a:tabLst>
                <a:tab pos="342265" algn="l"/>
              </a:tabLst>
            </a:pP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%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b; </a:t>
            </a:r>
            <a:r>
              <a:rPr sz="3200" spc="-50" dirty="0"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  <a:p>
            <a:pPr marL="12700" marR="727075" indent="329565">
              <a:lnSpc>
                <a:spcPct val="100000"/>
              </a:lnSpc>
              <a:buChar char="&gt;"/>
              <a:tabLst>
                <a:tab pos="342265" algn="l"/>
              </a:tabLst>
            </a:pPr>
            <a:r>
              <a:rPr sz="3200" dirty="0">
                <a:latin typeface="Times New Roman"/>
                <a:cs typeface="Times New Roman"/>
              </a:rPr>
              <a:t>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pi; </a:t>
            </a:r>
            <a:r>
              <a:rPr sz="3200" spc="-10" dirty="0">
                <a:latin typeface="Times New Roman"/>
                <a:cs typeface="Times New Roman"/>
              </a:rPr>
              <a:t>78.53750000000001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456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800" spc="-30" dirty="0"/>
              <a:t>JavaScript</a:t>
            </a:r>
            <a:r>
              <a:rPr sz="4800" spc="-160" dirty="0"/>
              <a:t> </a:t>
            </a:r>
            <a:r>
              <a:rPr sz="4800" dirty="0"/>
              <a:t>–</a:t>
            </a:r>
            <a:r>
              <a:rPr sz="4800" spc="-150" dirty="0"/>
              <a:t> </a:t>
            </a:r>
            <a:r>
              <a:rPr sz="4800" spc="-30" dirty="0"/>
              <a:t>Bitwise</a:t>
            </a:r>
            <a:r>
              <a:rPr sz="4800" spc="-150" dirty="0"/>
              <a:t> </a:t>
            </a:r>
            <a:r>
              <a:rPr sz="4800" spc="-10" dirty="0"/>
              <a:t>Operators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450339" y="1030731"/>
            <a:ext cx="428752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060" algn="l"/>
              </a:tabLst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10" dirty="0">
                <a:latin typeface="Times New Roman"/>
                <a:cs typeface="Times New Roman"/>
              </a:rPr>
              <a:t> Operators</a:t>
            </a:r>
            <a:r>
              <a:rPr sz="2800" dirty="0">
                <a:latin typeface="Times New Roman"/>
                <a:cs typeface="Times New Roman"/>
              </a:rPr>
              <a:t>	&amp;,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~,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^,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&lt;&lt;,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&gt;&gt;</a:t>
            </a:r>
            <a:endParaRPr sz="2800">
              <a:latin typeface="Times New Roman"/>
              <a:cs typeface="Times New Roman"/>
            </a:endParaRPr>
          </a:p>
          <a:p>
            <a:pPr marL="302260" indent="-289560">
              <a:lnSpc>
                <a:spcPct val="100000"/>
              </a:lnSpc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aa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5;</a:t>
            </a:r>
            <a:endParaRPr sz="2800">
              <a:latin typeface="Times New Roman"/>
              <a:cs typeface="Times New Roman"/>
            </a:endParaRPr>
          </a:p>
          <a:p>
            <a:pPr marL="302260" indent="-289560">
              <a:lnSpc>
                <a:spcPct val="100000"/>
              </a:lnSpc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bb 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11;</a:t>
            </a:r>
            <a:endParaRPr sz="2800">
              <a:latin typeface="Times New Roman"/>
              <a:cs typeface="Times New Roman"/>
            </a:endParaRPr>
          </a:p>
          <a:p>
            <a:pPr marL="302260" indent="-289560">
              <a:lnSpc>
                <a:spcPct val="100000"/>
              </a:lnSpc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cc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12;</a:t>
            </a:r>
            <a:endParaRPr sz="2800">
              <a:latin typeface="Times New Roman"/>
              <a:cs typeface="Times New Roman"/>
            </a:endParaRPr>
          </a:p>
          <a:p>
            <a:pPr marL="302260" indent="-289560">
              <a:lnSpc>
                <a:spcPct val="100000"/>
              </a:lnSpc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dd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201;</a:t>
            </a:r>
            <a:endParaRPr sz="2800">
              <a:latin typeface="Times New Roman"/>
              <a:cs typeface="Times New Roman"/>
            </a:endParaRPr>
          </a:p>
          <a:p>
            <a:pPr marL="301625" indent="-288925">
              <a:lnSpc>
                <a:spcPct val="100000"/>
              </a:lnSpc>
              <a:buChar char="&gt;"/>
              <a:tabLst>
                <a:tab pos="301625" algn="l"/>
              </a:tabLst>
            </a:pPr>
            <a:r>
              <a:rPr sz="2800" dirty="0">
                <a:latin typeface="Times New Roman"/>
                <a:cs typeface="Times New Roman"/>
              </a:rPr>
              <a:t>ee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25" dirty="0">
                <a:latin typeface="Times New Roman"/>
                <a:cs typeface="Times New Roman"/>
              </a:rPr>
              <a:t>2;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0819" y="3590797"/>
            <a:ext cx="373824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11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shift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left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=&gt;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44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1024" y="4444746"/>
            <a:ext cx="24555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12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11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=&gt;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94415" y="5298185"/>
            <a:ext cx="22536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12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=&gt;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339" y="3590797"/>
            <a:ext cx="2272030" cy="2586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88290">
              <a:lnSpc>
                <a:spcPct val="100000"/>
              </a:lnSpc>
              <a:spcBef>
                <a:spcPts val="105"/>
              </a:spcBef>
              <a:buChar char="&gt;"/>
              <a:tabLst>
                <a:tab pos="300990" algn="l"/>
              </a:tabLst>
            </a:pPr>
            <a:r>
              <a:rPr sz="2800" dirty="0">
                <a:latin typeface="Times New Roman"/>
                <a:cs typeface="Times New Roman"/>
              </a:rPr>
              <a:t>ff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bb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&lt;&lt;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ee; 44</a:t>
            </a:r>
            <a:endParaRPr sz="2800">
              <a:latin typeface="Times New Roman"/>
              <a:cs typeface="Times New Roman"/>
            </a:endParaRPr>
          </a:p>
          <a:p>
            <a:pPr marL="12700" marR="5080" indent="289560">
              <a:lnSpc>
                <a:spcPct val="100000"/>
              </a:lnSpc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gg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bb &amp;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cc; </a:t>
            </a:r>
            <a:r>
              <a:rPr sz="2800" spc="-50" dirty="0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  <a:p>
            <a:pPr marL="12700" marR="250190" indent="288925">
              <a:lnSpc>
                <a:spcPct val="100000"/>
              </a:lnSpc>
              <a:buChar char="&gt;"/>
              <a:tabLst>
                <a:tab pos="301625" algn="l"/>
              </a:tabLst>
            </a:pPr>
            <a:r>
              <a:rPr sz="2800" dirty="0">
                <a:latin typeface="Times New Roman"/>
                <a:cs typeface="Times New Roman"/>
              </a:rPr>
              <a:t>hh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aa; 13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5331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95"/>
              </a:spcBef>
            </a:pPr>
            <a:r>
              <a:rPr sz="4400" spc="-30" dirty="0"/>
              <a:t>JavaScript</a:t>
            </a:r>
            <a:r>
              <a:rPr sz="4400" spc="-170" dirty="0"/>
              <a:t> </a:t>
            </a:r>
            <a:r>
              <a:rPr sz="4400" dirty="0"/>
              <a:t>–</a:t>
            </a:r>
            <a:r>
              <a:rPr sz="4400" spc="-155" dirty="0"/>
              <a:t> </a:t>
            </a:r>
            <a:r>
              <a:rPr sz="4400" spc="-30" dirty="0"/>
              <a:t>Compound</a:t>
            </a:r>
            <a:r>
              <a:rPr sz="4400" spc="-114" dirty="0"/>
              <a:t> </a:t>
            </a:r>
            <a:r>
              <a:rPr sz="4400" spc="-10" dirty="0"/>
              <a:t>Operators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93139" y="934974"/>
            <a:ext cx="7901305" cy="3867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77060" algn="l"/>
              </a:tabLst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Operators</a:t>
            </a:r>
            <a:r>
              <a:rPr sz="2800" dirty="0">
                <a:latin typeface="Times New Roman"/>
                <a:cs typeface="Times New Roman"/>
              </a:rPr>
              <a:t>	+=,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=,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*=,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/=,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%=,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&amp;=,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|=,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^=,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&lt;&lt;=,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&gt;&gt;=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Combine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assignment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operation.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Operation </a:t>
            </a:r>
            <a:r>
              <a:rPr sz="2800" dirty="0">
                <a:latin typeface="Times New Roman"/>
                <a:cs typeface="Times New Roman"/>
              </a:rPr>
              <a:t>stores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(to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left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operator!)</a:t>
            </a:r>
            <a:endParaRPr sz="2800">
              <a:latin typeface="Times New Roman"/>
              <a:cs typeface="Times New Roman"/>
            </a:endParaRPr>
          </a:p>
          <a:p>
            <a:pPr marL="12700" marR="6578600" indent="289560">
              <a:lnSpc>
                <a:spcPct val="100000"/>
              </a:lnSpc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b; 16</a:t>
            </a:r>
            <a:endParaRPr sz="2800">
              <a:latin typeface="Times New Roman"/>
              <a:cs typeface="Times New Roman"/>
            </a:endParaRPr>
          </a:p>
          <a:p>
            <a:pPr marL="12700" marR="6482080" indent="289560">
              <a:lnSpc>
                <a:spcPct val="100000"/>
              </a:lnSpc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%= </a:t>
            </a:r>
            <a:r>
              <a:rPr sz="2800" spc="-25" dirty="0">
                <a:latin typeface="Times New Roman"/>
                <a:cs typeface="Times New Roman"/>
              </a:rPr>
              <a:t>b; </a:t>
            </a:r>
            <a:r>
              <a:rPr sz="2800" spc="-50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 marR="5989320" indent="289560">
              <a:lnSpc>
                <a:spcPct val="100000"/>
              </a:lnSpc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*= 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 </a:t>
            </a:r>
            <a:r>
              <a:rPr sz="2800" spc="-25" dirty="0">
                <a:latin typeface="Times New Roman"/>
                <a:cs typeface="Times New Roman"/>
              </a:rPr>
              <a:t>pi; </a:t>
            </a:r>
            <a:r>
              <a:rPr sz="2800" spc="-10" dirty="0">
                <a:latin typeface="Times New Roman"/>
                <a:cs typeface="Times New Roman"/>
              </a:rPr>
              <a:t>804.224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4776216"/>
            <a:ext cx="1951989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indent="-289560">
              <a:lnSpc>
                <a:spcPct val="100000"/>
              </a:lnSpc>
              <a:spcBef>
                <a:spcPts val="100"/>
              </a:spcBef>
              <a:buChar char="&gt;"/>
              <a:tabLst>
                <a:tab pos="302260" algn="l"/>
                <a:tab pos="1524635" algn="l"/>
              </a:tabLst>
            </a:pPr>
            <a:r>
              <a:rPr sz="2800" dirty="0">
                <a:latin typeface="Times New Roman"/>
                <a:cs typeface="Times New Roman"/>
              </a:rPr>
              <a:t>bb </a:t>
            </a:r>
            <a:r>
              <a:rPr sz="2800" spc="-25" dirty="0">
                <a:latin typeface="Times New Roman"/>
                <a:cs typeface="Times New Roman"/>
              </a:rPr>
              <a:t>&lt;&lt;=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ee;</a:t>
            </a:r>
            <a:endParaRPr sz="2800">
              <a:latin typeface="Times New Roman"/>
              <a:cs typeface="Times New Roman"/>
            </a:endParaRPr>
          </a:p>
          <a:p>
            <a:pPr marL="302260" indent="-289560">
              <a:lnSpc>
                <a:spcPct val="100000"/>
              </a:lnSpc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bb &amp;=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cc;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256" y="4776216"/>
            <a:ext cx="373761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11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shift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left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=&gt;</a:t>
            </a:r>
            <a:r>
              <a:rPr sz="2800" spc="-25" dirty="0">
                <a:latin typeface="Times New Roman"/>
                <a:cs typeface="Times New Roman"/>
              </a:rPr>
              <a:t> 44</a:t>
            </a:r>
            <a:endParaRPr sz="2800">
              <a:latin typeface="Times New Roman"/>
              <a:cs typeface="Times New Roman"/>
            </a:endParaRPr>
          </a:p>
          <a:p>
            <a:pPr marL="15557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12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11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=&gt;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9" y="5629655"/>
            <a:ext cx="149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indent="-289560">
              <a:lnSpc>
                <a:spcPct val="100000"/>
              </a:lnSpc>
              <a:spcBef>
                <a:spcPts val="100"/>
              </a:spcBef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cc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|=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aa;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3488" y="5629655"/>
            <a:ext cx="22536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12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=&gt;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456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800" spc="-30" dirty="0"/>
              <a:t>JavaScript</a:t>
            </a:r>
            <a:r>
              <a:rPr sz="4800" spc="-160" dirty="0"/>
              <a:t> </a:t>
            </a:r>
            <a:r>
              <a:rPr sz="4800" dirty="0"/>
              <a:t>–</a:t>
            </a:r>
            <a:r>
              <a:rPr sz="4800" spc="-155" dirty="0"/>
              <a:t> </a:t>
            </a:r>
            <a:r>
              <a:rPr sz="4800" spc="-25" dirty="0"/>
              <a:t>String</a:t>
            </a:r>
            <a:r>
              <a:rPr sz="4800" spc="-155" dirty="0"/>
              <a:t> </a:t>
            </a:r>
            <a:r>
              <a:rPr sz="4800" spc="-10" dirty="0"/>
              <a:t>Operations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916939" y="935736"/>
            <a:ext cx="8168640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indent="-289560">
              <a:lnSpc>
                <a:spcPct val="100000"/>
              </a:lnSpc>
              <a:spcBef>
                <a:spcPts val="100"/>
              </a:spcBef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str1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'Hello';</a:t>
            </a:r>
            <a:endParaRPr sz="2800">
              <a:latin typeface="Times New Roman"/>
              <a:cs typeface="Times New Roman"/>
            </a:endParaRPr>
          </a:p>
          <a:p>
            <a:pPr marL="302260" indent="-289560">
              <a:lnSpc>
                <a:spcPct val="100000"/>
              </a:lnSpc>
              <a:buChar char="&gt;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str2 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'World';</a:t>
            </a:r>
            <a:endParaRPr sz="2800">
              <a:latin typeface="Times New Roman"/>
              <a:cs typeface="Times New Roman"/>
            </a:endParaRPr>
          </a:p>
          <a:p>
            <a:pPr marL="302260" indent="-289560">
              <a:lnSpc>
                <a:spcPct val="100000"/>
              </a:lnSpc>
              <a:buChar char="&gt;"/>
              <a:tabLst>
                <a:tab pos="302260" algn="l"/>
                <a:tab pos="4869815" algn="l"/>
              </a:tabLst>
            </a:pPr>
            <a:r>
              <a:rPr sz="2800" dirty="0">
                <a:latin typeface="Times New Roman"/>
                <a:cs typeface="Times New Roman"/>
              </a:rPr>
              <a:t>greeting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 str1 +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', '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 str2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20" dirty="0">
                <a:latin typeface="Times New Roman"/>
                <a:cs typeface="Times New Roman"/>
              </a:rPr>
              <a:t>'!';</a:t>
            </a:r>
            <a:r>
              <a:rPr sz="2800" dirty="0">
                <a:latin typeface="Times New Roman"/>
                <a:cs typeface="Times New Roman"/>
              </a:rPr>
              <a:t>	//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concatenation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Wingdings"/>
                <a:cs typeface="Wingdings"/>
              </a:rPr>
              <a:t>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Hello,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World!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Length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string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(.length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 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'property'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10" dirty="0">
                <a:latin typeface="Times New Roman"/>
                <a:cs typeface="Times New Roman"/>
              </a:rPr>
              <a:t>'method')</a:t>
            </a:r>
            <a:endParaRPr sz="2800">
              <a:latin typeface="Times New Roman"/>
              <a:cs typeface="Times New Roman"/>
            </a:endParaRPr>
          </a:p>
          <a:p>
            <a:pPr marL="300990" indent="-288290">
              <a:lnSpc>
                <a:spcPct val="100000"/>
              </a:lnSpc>
              <a:buChar char="&gt;"/>
              <a:tabLst>
                <a:tab pos="300990" algn="l"/>
                <a:tab pos="5229225" algn="l"/>
              </a:tabLst>
            </a:pPr>
            <a:r>
              <a:rPr sz="2800" dirty="0">
                <a:latin typeface="Times New Roman"/>
                <a:cs typeface="Times New Roman"/>
              </a:rPr>
              <a:t>lengthOfString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greeting.length;</a:t>
            </a:r>
            <a:r>
              <a:rPr sz="2800" dirty="0">
                <a:latin typeface="Times New Roman"/>
                <a:cs typeface="Times New Roman"/>
              </a:rPr>
              <a:t>	//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Assigns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13</a:t>
            </a:r>
            <a:endParaRPr sz="2800">
              <a:latin typeface="Times New Roman"/>
              <a:cs typeface="Times New Roman"/>
            </a:endParaRPr>
          </a:p>
          <a:p>
            <a:pPr marL="12700" marR="4699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Strings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indexed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squarebrackets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specific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character</a:t>
            </a:r>
            <a:endParaRPr sz="2800">
              <a:latin typeface="Times New Roman"/>
              <a:cs typeface="Times New Roman"/>
            </a:endParaRPr>
          </a:p>
          <a:p>
            <a:pPr marL="300990" indent="-288290">
              <a:lnSpc>
                <a:spcPct val="100000"/>
              </a:lnSpc>
              <a:buChar char="&gt;"/>
              <a:tabLst>
                <a:tab pos="300990" algn="l"/>
                <a:tab pos="4271010" algn="l"/>
              </a:tabLst>
            </a:pPr>
            <a:r>
              <a:rPr sz="2800" dirty="0">
                <a:latin typeface="Times New Roman"/>
                <a:cs typeface="Times New Roman"/>
              </a:rPr>
              <a:t>theComma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10" dirty="0">
                <a:latin typeface="Times New Roman"/>
                <a:cs typeface="Times New Roman"/>
              </a:rPr>
              <a:t>greeting[5];</a:t>
            </a:r>
            <a:r>
              <a:rPr sz="2800" dirty="0">
                <a:latin typeface="Times New Roman"/>
                <a:cs typeface="Times New Roman"/>
              </a:rPr>
              <a:t>	//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, 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theComma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Strings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immutable</a:t>
            </a:r>
            <a:r>
              <a:rPr sz="2800" dirty="0">
                <a:latin typeface="Times New Roman"/>
                <a:cs typeface="Times New Roman"/>
              </a:rPr>
              <a:t>!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Cannot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(but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be </a:t>
            </a:r>
            <a:r>
              <a:rPr sz="2800" spc="-10" dirty="0">
                <a:latin typeface="Times New Roman"/>
                <a:cs typeface="Times New Roman"/>
              </a:rPr>
              <a:t>replaced!)</a:t>
            </a:r>
            <a:endParaRPr sz="2800">
              <a:latin typeface="Times New Roman"/>
              <a:cs typeface="Times New Roman"/>
            </a:endParaRPr>
          </a:p>
          <a:p>
            <a:pPr marL="302260" indent="-289560">
              <a:lnSpc>
                <a:spcPct val="100000"/>
              </a:lnSpc>
              <a:buChar char="&gt;"/>
              <a:tabLst>
                <a:tab pos="302260" algn="l"/>
                <a:tab pos="2750185" algn="l"/>
              </a:tabLst>
            </a:pPr>
            <a:r>
              <a:rPr sz="2800" dirty="0">
                <a:latin typeface="Times New Roman"/>
                <a:cs typeface="Times New Roman"/>
              </a:rPr>
              <a:t>greeting[5]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';'</a:t>
            </a:r>
            <a:r>
              <a:rPr sz="2800" dirty="0">
                <a:latin typeface="Times New Roman"/>
                <a:cs typeface="Times New Roman"/>
              </a:rPr>
              <a:t>	//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 produces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0" dirty="0">
                <a:latin typeface="Times New Roman"/>
                <a:cs typeface="Times New Roman"/>
              </a:rPr>
              <a:t> error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6056884"/>
            <a:ext cx="65639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indent="-289560">
              <a:lnSpc>
                <a:spcPct val="100000"/>
              </a:lnSpc>
              <a:spcBef>
                <a:spcPts val="100"/>
              </a:spcBef>
              <a:buChar char="&gt;"/>
              <a:tabLst>
                <a:tab pos="302260" algn="l"/>
                <a:tab pos="4554220" algn="l"/>
              </a:tabLst>
            </a:pPr>
            <a:r>
              <a:rPr sz="2800" dirty="0">
                <a:latin typeface="Times New Roman"/>
                <a:cs typeface="Times New Roman"/>
              </a:rPr>
              <a:t>greeting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 "Hello;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World!";</a:t>
            </a:r>
            <a:r>
              <a:rPr sz="2800" dirty="0">
                <a:latin typeface="Times New Roman"/>
                <a:cs typeface="Times New Roman"/>
              </a:rPr>
              <a:t>	//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 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fine!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3397" y="6305550"/>
            <a:ext cx="2101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8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17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55702"/>
            <a:ext cx="77660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" dirty="0"/>
              <a:t>JavaScript</a:t>
            </a:r>
            <a:r>
              <a:rPr sz="4800" spc="-160" dirty="0"/>
              <a:t> </a:t>
            </a:r>
            <a:r>
              <a:rPr sz="4800" dirty="0"/>
              <a:t>–</a:t>
            </a:r>
            <a:r>
              <a:rPr sz="4800" spc="-155" dirty="0"/>
              <a:t> </a:t>
            </a:r>
            <a:r>
              <a:rPr sz="4800" spc="-25" dirty="0"/>
              <a:t>String</a:t>
            </a:r>
            <a:r>
              <a:rPr sz="4800" spc="-155" dirty="0"/>
              <a:t> </a:t>
            </a:r>
            <a:r>
              <a:rPr sz="4800" spc="-10" dirty="0"/>
              <a:t>Operations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063" y="862330"/>
            <a:ext cx="8717915" cy="5681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1959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/>
                <a:cs typeface="Times New Roman"/>
              </a:rPr>
              <a:t>//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Strings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'objects'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associated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  <a:p>
            <a:pPr marL="654050" marR="277495" indent="-212725">
              <a:lnSpc>
                <a:spcPct val="100000"/>
              </a:lnSpc>
              <a:buFont typeface="Arial MT"/>
              <a:buChar char="•"/>
              <a:tabLst>
                <a:tab pos="656590" algn="l"/>
              </a:tabLst>
            </a:pPr>
            <a:r>
              <a:rPr sz="2000" b="1" dirty="0">
                <a:latin typeface="Times New Roman"/>
                <a:cs typeface="Times New Roman"/>
              </a:rPr>
              <a:t>.indexOf(substring,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&lt;start_position&gt;)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index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first 	</a:t>
            </a:r>
            <a:r>
              <a:rPr sz="2000" dirty="0">
                <a:latin typeface="Times New Roman"/>
                <a:cs typeface="Times New Roman"/>
              </a:rPr>
              <a:t>matching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substring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starts</a:t>
            </a:r>
            <a:endParaRPr sz="2000">
              <a:latin typeface="Times New Roman"/>
              <a:cs typeface="Times New Roman"/>
            </a:endParaRPr>
          </a:p>
          <a:p>
            <a:pPr marL="654050" marR="671195" indent="-212725">
              <a:lnSpc>
                <a:spcPct val="100000"/>
              </a:lnSpc>
              <a:buFont typeface="Arial MT"/>
              <a:buChar char="•"/>
              <a:tabLst>
                <a:tab pos="656590" algn="l"/>
              </a:tabLst>
            </a:pPr>
            <a:r>
              <a:rPr sz="2000" b="1" dirty="0">
                <a:latin typeface="Times New Roman"/>
                <a:cs typeface="Times New Roman"/>
              </a:rPr>
              <a:t>.lastIndexOf(substring,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&lt;start_position&gt;)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index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-20" dirty="0">
                <a:latin typeface="Times New Roman"/>
                <a:cs typeface="Times New Roman"/>
              </a:rPr>
              <a:t> last 	</a:t>
            </a:r>
            <a:r>
              <a:rPr sz="2000" dirty="0">
                <a:latin typeface="Times New Roman"/>
                <a:cs typeface="Times New Roman"/>
              </a:rPr>
              <a:t>matching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substring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starts.</a:t>
            </a:r>
            <a:endParaRPr sz="2000">
              <a:latin typeface="Times New Roman"/>
              <a:cs typeface="Times New Roman"/>
            </a:endParaRPr>
          </a:p>
          <a:p>
            <a:pPr marL="654050" marR="398780" indent="-212725">
              <a:lnSpc>
                <a:spcPct val="100000"/>
              </a:lnSpc>
              <a:buFont typeface="Arial MT"/>
              <a:buChar char="•"/>
              <a:tabLst>
                <a:tab pos="656590" algn="l"/>
              </a:tabLst>
            </a:pPr>
            <a:r>
              <a:rPr sz="2000" b="1" dirty="0">
                <a:latin typeface="Times New Roman"/>
                <a:cs typeface="Times New Roman"/>
              </a:rPr>
              <a:t>.slice(startpos,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enpos)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substring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positions 	</a:t>
            </a:r>
            <a:r>
              <a:rPr sz="2000" dirty="0">
                <a:latin typeface="Times New Roman"/>
                <a:cs typeface="Times New Roman"/>
              </a:rPr>
              <a:t>startpos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(endpos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Position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negative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counted 	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string.</a:t>
            </a:r>
            <a:endParaRPr sz="2000">
              <a:latin typeface="Times New Roman"/>
              <a:cs typeface="Times New Roman"/>
            </a:endParaRPr>
          </a:p>
          <a:p>
            <a:pPr marL="655320" indent="-213360">
              <a:lnSpc>
                <a:spcPct val="100000"/>
              </a:lnSpc>
              <a:buFont typeface="Arial MT"/>
              <a:buChar char="•"/>
              <a:tabLst>
                <a:tab pos="655320" algn="l"/>
              </a:tabLst>
            </a:pPr>
            <a:r>
              <a:rPr sz="2000" b="1" dirty="0">
                <a:latin typeface="Times New Roman"/>
                <a:cs typeface="Times New Roman"/>
              </a:rPr>
              <a:t>.substring(startpos,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endpos)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Same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 slice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negative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positions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  <a:p>
            <a:pPr marL="65659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disallowed.</a:t>
            </a:r>
            <a:endParaRPr sz="2000">
              <a:latin typeface="Times New Roman"/>
              <a:cs typeface="Times New Roman"/>
            </a:endParaRPr>
          </a:p>
          <a:p>
            <a:pPr marL="654685" indent="-212725">
              <a:lnSpc>
                <a:spcPct val="100000"/>
              </a:lnSpc>
              <a:buFont typeface="Arial MT"/>
              <a:buChar char="•"/>
              <a:tabLst>
                <a:tab pos="654685" algn="l"/>
              </a:tabLst>
            </a:pPr>
            <a:r>
              <a:rPr sz="2000" b="1" dirty="0">
                <a:latin typeface="Times New Roman"/>
                <a:cs typeface="Times New Roman"/>
              </a:rPr>
              <a:t>.substr(startpos,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length)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substring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startpos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length.</a:t>
            </a:r>
            <a:endParaRPr sz="2000">
              <a:latin typeface="Times New Roman"/>
              <a:cs typeface="Times New Roman"/>
            </a:endParaRPr>
          </a:p>
          <a:p>
            <a:pPr marL="654050" marR="487045" indent="-212725">
              <a:lnSpc>
                <a:spcPct val="100000"/>
              </a:lnSpc>
              <a:buFont typeface="Arial MT"/>
              <a:buChar char="•"/>
              <a:tabLst>
                <a:tab pos="656590" algn="l"/>
              </a:tabLst>
            </a:pPr>
            <a:r>
              <a:rPr sz="2000" b="1" dirty="0">
                <a:latin typeface="Times New Roman"/>
                <a:cs typeface="Times New Roman"/>
              </a:rPr>
              <a:t>.replace(substring,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newstring)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Searches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replaces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first 	</a:t>
            </a:r>
            <a:r>
              <a:rPr sz="2000" dirty="0">
                <a:latin typeface="Times New Roman"/>
                <a:cs typeface="Times New Roman"/>
              </a:rPr>
              <a:t>argument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found,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newstring.</a:t>
            </a:r>
            <a:endParaRPr sz="2000">
              <a:latin typeface="Times New Roman"/>
              <a:cs typeface="Times New Roman"/>
            </a:endParaRPr>
          </a:p>
          <a:p>
            <a:pPr marL="654685" indent="-212725">
              <a:lnSpc>
                <a:spcPct val="100000"/>
              </a:lnSpc>
              <a:buFont typeface="Arial MT"/>
              <a:buChar char="•"/>
              <a:tabLst>
                <a:tab pos="654685" algn="l"/>
              </a:tabLst>
            </a:pPr>
            <a:r>
              <a:rPr sz="2000" b="1" dirty="0">
                <a:latin typeface="Times New Roman"/>
                <a:cs typeface="Times New Roman"/>
              </a:rPr>
              <a:t>.toUpperCase()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entire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uppercase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characters</a:t>
            </a:r>
            <a:endParaRPr sz="2000">
              <a:latin typeface="Times New Roman"/>
              <a:cs typeface="Times New Roman"/>
            </a:endParaRPr>
          </a:p>
          <a:p>
            <a:pPr marL="654685" indent="-212725">
              <a:lnSpc>
                <a:spcPct val="100000"/>
              </a:lnSpc>
              <a:buFont typeface="Arial MT"/>
              <a:buChar char="•"/>
              <a:tabLst>
                <a:tab pos="654685" algn="l"/>
              </a:tabLst>
            </a:pPr>
            <a:r>
              <a:rPr sz="2000" b="1" dirty="0">
                <a:latin typeface="Times New Roman"/>
                <a:cs typeface="Times New Roman"/>
              </a:rPr>
              <a:t>.toLowerCase()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entire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lowercase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characters</a:t>
            </a:r>
            <a:endParaRPr sz="2000">
              <a:latin typeface="Times New Roman"/>
              <a:cs typeface="Times New Roman"/>
            </a:endParaRPr>
          </a:p>
          <a:p>
            <a:pPr marL="654685" indent="-212725">
              <a:lnSpc>
                <a:spcPct val="100000"/>
              </a:lnSpc>
              <a:buFont typeface="Arial MT"/>
              <a:buChar char="•"/>
              <a:tabLst>
                <a:tab pos="654685" algn="l"/>
              </a:tabLst>
            </a:pPr>
            <a:r>
              <a:rPr sz="2000" b="1" dirty="0">
                <a:latin typeface="Times New Roman"/>
                <a:cs typeface="Times New Roman"/>
              </a:rPr>
              <a:t>.charAt(position)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character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position</a:t>
            </a:r>
            <a:endParaRPr sz="2000">
              <a:latin typeface="Times New Roman"/>
              <a:cs typeface="Times New Roman"/>
            </a:endParaRPr>
          </a:p>
          <a:p>
            <a:pPr marL="654050" marR="5080" indent="-212725">
              <a:lnSpc>
                <a:spcPct val="100000"/>
              </a:lnSpc>
              <a:buFont typeface="Arial MT"/>
              <a:buChar char="•"/>
              <a:tabLst>
                <a:tab pos="656590" algn="l"/>
              </a:tabLst>
            </a:pPr>
            <a:r>
              <a:rPr sz="2000" b="1" dirty="0">
                <a:latin typeface="Times New Roman"/>
                <a:cs typeface="Times New Roman"/>
              </a:rPr>
              <a:t>.charCodeAt(position)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UTF-</a:t>
            </a:r>
            <a:r>
              <a:rPr sz="2000" dirty="0">
                <a:latin typeface="Times New Roman"/>
                <a:cs typeface="Times New Roman"/>
              </a:rPr>
              <a:t>16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(0-65535)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character 	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position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1340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18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3046" y="6468617"/>
            <a:ext cx="184785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00" dirty="0">
                <a:latin typeface="Arial MT"/>
                <a:cs typeface="Arial MT"/>
              </a:rPr>
              <a:t> 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55702"/>
            <a:ext cx="77660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" dirty="0"/>
              <a:t>JavaScript</a:t>
            </a:r>
            <a:r>
              <a:rPr sz="4800" spc="-160" dirty="0"/>
              <a:t> </a:t>
            </a:r>
            <a:r>
              <a:rPr sz="4800" dirty="0"/>
              <a:t>–</a:t>
            </a:r>
            <a:r>
              <a:rPr sz="4800" spc="-155" dirty="0"/>
              <a:t> </a:t>
            </a:r>
            <a:r>
              <a:rPr sz="4800" spc="-25" dirty="0"/>
              <a:t>String</a:t>
            </a:r>
            <a:r>
              <a:rPr sz="4800" spc="-155" dirty="0"/>
              <a:t> </a:t>
            </a:r>
            <a:r>
              <a:rPr sz="4800" spc="-10" dirty="0"/>
              <a:t>Operations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221739" y="878840"/>
            <a:ext cx="2409825" cy="551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29969" indent="247650">
              <a:lnSpc>
                <a:spcPct val="100000"/>
              </a:lnSpc>
              <a:spcBef>
                <a:spcPts val="100"/>
              </a:spcBef>
              <a:buChar char="&gt;"/>
              <a:tabLst>
                <a:tab pos="26035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10" dirty="0">
                <a:latin typeface="Times New Roman"/>
                <a:cs typeface="Times New Roman"/>
              </a:rPr>
              <a:t>'Paul' 'Paul'</a:t>
            </a:r>
            <a:endParaRPr sz="2400">
              <a:latin typeface="Times New Roman"/>
              <a:cs typeface="Times New Roman"/>
            </a:endParaRPr>
          </a:p>
          <a:p>
            <a:pPr marL="12700" marR="253365" indent="247015">
              <a:lnSpc>
                <a:spcPct val="100000"/>
              </a:lnSpc>
              <a:buChar char="&gt;"/>
              <a:tabLst>
                <a:tab pos="259715" algn="l"/>
              </a:tabLst>
            </a:pPr>
            <a:r>
              <a:rPr sz="2400" spc="-10" dirty="0">
                <a:latin typeface="Times New Roman"/>
                <a:cs typeface="Times New Roman"/>
              </a:rPr>
              <a:t>a.indexOf('a',1) 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 marR="41275" indent="247015">
              <a:lnSpc>
                <a:spcPct val="100000"/>
              </a:lnSpc>
              <a:buChar char="&gt;"/>
              <a:tabLst>
                <a:tab pos="259715" algn="l"/>
              </a:tabLst>
            </a:pPr>
            <a:r>
              <a:rPr sz="2400" spc="-10" dirty="0">
                <a:latin typeface="Times New Roman"/>
                <a:cs typeface="Times New Roman"/>
              </a:rPr>
              <a:t>a.lastIndexOf('a') 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 marR="786130" indent="247015">
              <a:lnSpc>
                <a:spcPct val="100000"/>
              </a:lnSpc>
              <a:buChar char="&gt;"/>
              <a:tabLst>
                <a:tab pos="259715" algn="l"/>
              </a:tabLst>
            </a:pPr>
            <a:r>
              <a:rPr sz="2400" spc="-10" dirty="0">
                <a:latin typeface="Times New Roman"/>
                <a:cs typeface="Times New Roman"/>
              </a:rPr>
              <a:t>a.slice(1,3) </a:t>
            </a:r>
            <a:r>
              <a:rPr sz="2400" spc="-20" dirty="0">
                <a:latin typeface="Times New Roman"/>
                <a:cs typeface="Times New Roman"/>
              </a:rPr>
              <a:t>'au'</a:t>
            </a:r>
            <a:endParaRPr sz="2400">
              <a:latin typeface="Times New Roman"/>
              <a:cs typeface="Times New Roman"/>
            </a:endParaRPr>
          </a:p>
          <a:p>
            <a:pPr marL="12700" marR="583565" indent="247015">
              <a:lnSpc>
                <a:spcPct val="100000"/>
              </a:lnSpc>
              <a:buChar char="&gt;"/>
              <a:tabLst>
                <a:tab pos="259715" algn="l"/>
              </a:tabLst>
            </a:pPr>
            <a:r>
              <a:rPr sz="2400" spc="-10" dirty="0">
                <a:latin typeface="Times New Roman"/>
                <a:cs typeface="Times New Roman"/>
              </a:rPr>
              <a:t>a.slice(-3,-</a:t>
            </a:r>
            <a:r>
              <a:rPr sz="2400" spc="-25" dirty="0">
                <a:latin typeface="Times New Roman"/>
                <a:cs typeface="Times New Roman"/>
              </a:rPr>
              <a:t>1) </a:t>
            </a:r>
            <a:r>
              <a:rPr sz="2400" spc="-20" dirty="0">
                <a:latin typeface="Times New Roman"/>
                <a:cs typeface="Times New Roman"/>
              </a:rPr>
              <a:t>'au'</a:t>
            </a:r>
            <a:endParaRPr sz="2400">
              <a:latin typeface="Times New Roman"/>
              <a:cs typeface="Times New Roman"/>
            </a:endParaRPr>
          </a:p>
          <a:p>
            <a:pPr marL="12700" marR="616585" indent="247015">
              <a:lnSpc>
                <a:spcPct val="100000"/>
              </a:lnSpc>
              <a:buChar char="&gt;"/>
              <a:tabLst>
                <a:tab pos="259715" algn="l"/>
              </a:tabLst>
            </a:pPr>
            <a:r>
              <a:rPr sz="2400" spc="-10" dirty="0">
                <a:latin typeface="Times New Roman"/>
                <a:cs typeface="Times New Roman"/>
              </a:rPr>
              <a:t>a.substr(0,2) </a:t>
            </a:r>
            <a:r>
              <a:rPr sz="2400" spc="-20" dirty="0">
                <a:latin typeface="Times New Roman"/>
                <a:cs typeface="Times New Roman"/>
              </a:rPr>
              <a:t>'Pa'</a:t>
            </a:r>
            <a:endParaRPr sz="2400">
              <a:latin typeface="Times New Roman"/>
              <a:cs typeface="Times New Roman"/>
            </a:endParaRPr>
          </a:p>
          <a:p>
            <a:pPr marL="12700" marR="5080" indent="247015">
              <a:lnSpc>
                <a:spcPct val="100000"/>
              </a:lnSpc>
              <a:buChar char="&gt;"/>
              <a:tabLst>
                <a:tab pos="259715" algn="l"/>
              </a:tabLst>
            </a:pPr>
            <a:r>
              <a:rPr sz="2400" spc="-10" dirty="0">
                <a:latin typeface="Times New Roman"/>
                <a:cs typeface="Times New Roman"/>
              </a:rPr>
              <a:t>a.replace("a","e") "Peul"</a:t>
            </a:r>
            <a:endParaRPr sz="2400">
              <a:latin typeface="Times New Roman"/>
              <a:cs typeface="Times New Roman"/>
            </a:endParaRPr>
          </a:p>
          <a:p>
            <a:pPr marL="259715" indent="-247015">
              <a:lnSpc>
                <a:spcPct val="100000"/>
              </a:lnSpc>
              <a:buChar char="&gt;"/>
              <a:tabLst>
                <a:tab pos="259715" algn="l"/>
              </a:tabLst>
            </a:pPr>
            <a:r>
              <a:rPr sz="2400" spc="-10" dirty="0">
                <a:latin typeface="Times New Roman"/>
                <a:cs typeface="Times New Roman"/>
              </a:rPr>
              <a:t>a.charCodeAt(1)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1739" y="6365747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imes New Roman"/>
                <a:cs typeface="Times New Roman"/>
              </a:rPr>
              <a:t>97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8825" y="6305550"/>
            <a:ext cx="2298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19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DF685-F2E1-A34B-D128-2E6D4090C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219200"/>
            <a:ext cx="8763000" cy="3877985"/>
          </a:xfrm>
        </p:spPr>
        <p:txBody>
          <a:bodyPr/>
          <a:lstStyle/>
          <a:p>
            <a:r>
              <a:rPr lang="en-US" dirty="0"/>
              <a:t>When we write JavaScript programs, we need two main ways to interact with users:</a:t>
            </a:r>
          </a:p>
          <a:p>
            <a:endParaRPr lang="en-US" dirty="0"/>
          </a:p>
          <a:p>
            <a:r>
              <a:rPr lang="en-US" b="1" dirty="0"/>
              <a:t>Output</a:t>
            </a:r>
            <a:r>
              <a:rPr lang="en-US" dirty="0"/>
              <a:t> → displaying information on the screen.</a:t>
            </a:r>
          </a:p>
          <a:p>
            <a:r>
              <a:rPr lang="en-US" b="1" dirty="0"/>
              <a:t>Input</a:t>
            </a:r>
            <a:r>
              <a:rPr lang="en-US" dirty="0"/>
              <a:t> → receiving information from the user.</a:t>
            </a:r>
          </a:p>
          <a:p>
            <a:endParaRPr lang="en-US" dirty="0"/>
          </a:p>
          <a:p>
            <a:r>
              <a:rPr lang="en-US" dirty="0"/>
              <a:t>JavaScript provides several built-in methods for both tasks.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607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68CF-A6F9-2220-0CA7-A21560376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 Output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AC5A8-F139-5BB9-D4F7-C80D0E1E4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339" y="889382"/>
            <a:ext cx="8529319" cy="7755969"/>
          </a:xfrm>
        </p:spPr>
        <p:txBody>
          <a:bodyPr/>
          <a:lstStyle/>
          <a:p>
            <a:r>
              <a:rPr lang="en-US" b="1" dirty="0"/>
              <a:t>alert()</a:t>
            </a:r>
          </a:p>
          <a:p>
            <a:r>
              <a:rPr lang="en-US" dirty="0"/>
              <a:t>Displays a </a:t>
            </a:r>
            <a:r>
              <a:rPr lang="en-US" b="1" dirty="0"/>
              <a:t>popup message box</a:t>
            </a:r>
            <a:r>
              <a:rPr lang="en-US" dirty="0"/>
              <a:t> with an OK button.</a:t>
            </a:r>
          </a:p>
          <a:p>
            <a:r>
              <a:rPr lang="en-US" dirty="0"/>
              <a:t>Mainly used for simple notifications or debugging.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alert("Welcome to JavaScript!");</a:t>
            </a:r>
          </a:p>
          <a:p>
            <a:endParaRPr lang="en-US" dirty="0"/>
          </a:p>
          <a:p>
            <a:r>
              <a:rPr lang="en-US" b="1" dirty="0"/>
              <a:t>console.log()</a:t>
            </a:r>
          </a:p>
          <a:p>
            <a:r>
              <a:rPr lang="en-US" dirty="0"/>
              <a:t>Outputs messages to the </a:t>
            </a:r>
            <a:r>
              <a:rPr lang="en-US" b="1" dirty="0"/>
              <a:t>browser console</a:t>
            </a:r>
            <a:r>
              <a:rPr lang="en-US" dirty="0"/>
              <a:t> (used by developers).</a:t>
            </a:r>
          </a:p>
          <a:p>
            <a:r>
              <a:rPr lang="en-US" dirty="0"/>
              <a:t>Does not show anything on the webpage directly.</a:t>
            </a:r>
          </a:p>
          <a:p>
            <a:r>
              <a:rPr lang="en-US" dirty="0"/>
              <a:t>Best for debugging and testing.</a:t>
            </a:r>
          </a:p>
          <a:p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let x = 10, y = 20;</a:t>
            </a:r>
          </a:p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	console.log("The sum is:", x + y);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5090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DFA63-BE3D-E851-43B1-46A7E3786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28600"/>
            <a:ext cx="8534399" cy="7925246"/>
          </a:xfrm>
        </p:spPr>
        <p:txBody>
          <a:bodyPr/>
          <a:lstStyle/>
          <a:p>
            <a:r>
              <a:rPr lang="en-US" b="1" dirty="0" err="1"/>
              <a:t>document.write</a:t>
            </a:r>
            <a:r>
              <a:rPr lang="en-US" b="1" dirty="0"/>
              <a:t>()</a:t>
            </a:r>
          </a:p>
          <a:p>
            <a:endParaRPr lang="en-US" b="1" dirty="0"/>
          </a:p>
          <a:p>
            <a:r>
              <a:rPr lang="en-US" dirty="0"/>
              <a:t>Directly writes content into the </a:t>
            </a:r>
            <a:r>
              <a:rPr lang="en-US" b="1" dirty="0"/>
              <a:t>HTML document</a:t>
            </a:r>
            <a:r>
              <a:rPr lang="en-US" dirty="0"/>
              <a:t>.</a:t>
            </a:r>
          </a:p>
          <a:p>
            <a:r>
              <a:rPr lang="en-US" dirty="0"/>
              <a:t>Useful for simple demos, but not recommended for modern applications (it can overwrite the entire document if used after page load).</a:t>
            </a:r>
          </a:p>
          <a:p>
            <a:endParaRPr lang="en-US" dirty="0"/>
          </a:p>
          <a:p>
            <a:r>
              <a:rPr lang="pt-BR" dirty="0"/>
              <a:t>	</a:t>
            </a:r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document.write("&lt;h2&gt;Hello, World!&lt;/h2&gt;");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r>
              <a:rPr lang="en-US" b="1" dirty="0" err="1"/>
              <a:t>innerHTML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Allows us to </a:t>
            </a:r>
            <a:r>
              <a:rPr lang="en-US" b="1" dirty="0"/>
              <a:t>modify HTML content</a:t>
            </a:r>
            <a:r>
              <a:rPr lang="en-US" dirty="0"/>
              <a:t> of an element.</a:t>
            </a:r>
          </a:p>
          <a:p>
            <a:r>
              <a:rPr lang="en-US" dirty="0"/>
              <a:t>More flexible and widely used compared to </a:t>
            </a:r>
            <a:r>
              <a:rPr lang="en-US" dirty="0" err="1"/>
              <a:t>document.write</a:t>
            </a:r>
            <a:r>
              <a:rPr lang="en-US" dirty="0"/>
              <a:t>().</a:t>
            </a:r>
          </a:p>
          <a:p>
            <a:endParaRPr lang="en-US" dirty="0"/>
          </a:p>
          <a:p>
            <a:endParaRPr lang="en-US" sz="1100" dirty="0"/>
          </a:p>
          <a:p>
            <a:endParaRPr lang="pt-BR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423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97C4F-0018-7E1E-1E4D-F13C20F52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1" y="457201"/>
            <a:ext cx="7988934" cy="5970865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&lt;!DOCTYPE html&gt;</a:t>
            </a:r>
          </a:p>
          <a:p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&lt;html&gt;</a:t>
            </a:r>
          </a:p>
          <a:p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&lt;body&gt;</a:t>
            </a:r>
          </a:p>
          <a:p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  &lt;p id="msg"&gt;&lt;/p&gt;</a:t>
            </a:r>
          </a:p>
          <a:p>
            <a:r>
              <a:rPr lang="en-US" sz="3600" dirty="0">
                <a:solidFill>
                  <a:srgbClr val="FF0000"/>
                </a:solidFill>
                <a:highlight>
                  <a:srgbClr val="00FFFF"/>
                </a:highlight>
              </a:rPr>
              <a:t>  &lt;script&gt;  </a:t>
            </a:r>
            <a:r>
              <a:rPr lang="en-US" sz="3600" dirty="0" err="1">
                <a:solidFill>
                  <a:srgbClr val="FF0000"/>
                </a:solidFill>
                <a:highlight>
                  <a:srgbClr val="00FFFF"/>
                </a:highlight>
              </a:rPr>
              <a:t>document.getElementById</a:t>
            </a:r>
            <a:r>
              <a:rPr lang="en-US" sz="3600" dirty="0">
                <a:solidFill>
                  <a:srgbClr val="FF0000"/>
                </a:solidFill>
                <a:highlight>
                  <a:srgbClr val="00FFFF"/>
                </a:highlight>
              </a:rPr>
              <a:t>("msg").</a:t>
            </a:r>
            <a:r>
              <a:rPr lang="en-US" sz="3600" dirty="0" err="1">
                <a:solidFill>
                  <a:srgbClr val="FF0000"/>
                </a:solidFill>
                <a:highlight>
                  <a:srgbClr val="00FFFF"/>
                </a:highlight>
              </a:rPr>
              <a:t>innerHTML</a:t>
            </a:r>
            <a:r>
              <a:rPr lang="en-US" sz="3600" dirty="0">
                <a:solidFill>
                  <a:srgbClr val="FF0000"/>
                </a:solidFill>
                <a:highlight>
                  <a:srgbClr val="00FFFF"/>
                </a:highlight>
              </a:rPr>
              <a:t> = "Hello, Students!";</a:t>
            </a:r>
          </a:p>
          <a:p>
            <a:r>
              <a:rPr lang="en-US" sz="3600" dirty="0">
                <a:solidFill>
                  <a:srgbClr val="FF0000"/>
                </a:solidFill>
                <a:highlight>
                  <a:srgbClr val="00FFFF"/>
                </a:highlight>
              </a:rPr>
              <a:t>  &lt;/script&gt;</a:t>
            </a:r>
          </a:p>
          <a:p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&lt;/body&gt;</a:t>
            </a:r>
          </a:p>
          <a:p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940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4D4A5-D71A-9936-870E-22D7D8A5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Keyboard Input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CF490-A5EB-C4F4-D5F8-1BCE170DF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340" y="990600"/>
            <a:ext cx="8684259" cy="6463308"/>
          </a:xfrm>
        </p:spPr>
        <p:txBody>
          <a:bodyPr/>
          <a:lstStyle/>
          <a:p>
            <a:r>
              <a:rPr lang="en-US" dirty="0"/>
              <a:t>Unlike traditional programming languages, JavaScript cannot directly read from the keyboard in a console. Instead, it uses </a:t>
            </a:r>
            <a:r>
              <a:rPr lang="en-US" b="1" dirty="0"/>
              <a:t>popup dialogs</a:t>
            </a:r>
            <a:r>
              <a:rPr lang="en-US" dirty="0"/>
              <a:t> or </a:t>
            </a:r>
            <a:r>
              <a:rPr lang="en-US" b="1" dirty="0"/>
              <a:t>form elements</a:t>
            </a:r>
            <a:r>
              <a:rPr lang="en-US" dirty="0"/>
              <a:t> in HTML.</a:t>
            </a:r>
          </a:p>
          <a:p>
            <a:endParaRPr lang="en-US" dirty="0"/>
          </a:p>
          <a:p>
            <a:r>
              <a:rPr lang="en-US" b="1" dirty="0"/>
              <a:t>prompt()</a:t>
            </a:r>
          </a:p>
          <a:p>
            <a:endParaRPr lang="en-US" b="1" dirty="0"/>
          </a:p>
          <a:p>
            <a:r>
              <a:rPr lang="en-US" dirty="0"/>
              <a:t>Displays a </a:t>
            </a:r>
            <a:r>
              <a:rPr lang="en-US" b="1" dirty="0"/>
              <a:t>dialog box</a:t>
            </a:r>
            <a:r>
              <a:rPr lang="en-US" dirty="0"/>
              <a:t> asking the user for input.</a:t>
            </a:r>
          </a:p>
          <a:p>
            <a:r>
              <a:rPr lang="en-US" dirty="0"/>
              <a:t>Returns the input as a </a:t>
            </a:r>
            <a:r>
              <a:rPr lang="en-US" b="1" dirty="0"/>
              <a:t>string</a:t>
            </a:r>
            <a:r>
              <a:rPr lang="en-US" dirty="0"/>
              <a:t> (always string, even if numbers are typed).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let name = prompt("Enter your name:");</a:t>
            </a:r>
          </a:p>
          <a:p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alert("Hello, " + name + "!");</a:t>
            </a: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Document.write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(“hello,”+ name +”!” );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390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52D26-AF11-6B4D-4D31-854995513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1" y="152401"/>
            <a:ext cx="8293734" cy="6524863"/>
          </a:xfrm>
        </p:spPr>
        <p:txBody>
          <a:bodyPr/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&lt;body&gt;</a:t>
            </a:r>
          </a:p>
          <a:p>
            <a:r>
              <a:rPr lang="en-IN" sz="1800" dirty="0"/>
              <a:t>	&lt;h1&gt;Demo: prompt()&lt;/h1&gt;</a:t>
            </a:r>
          </a:p>
          <a:p>
            <a:r>
              <a:rPr lang="en-IN" sz="1800" dirty="0"/>
              <a:t>	&lt;button onclick="</a:t>
            </a:r>
            <a:r>
              <a:rPr lang="en-IN" sz="1800" dirty="0" err="1"/>
              <a:t>myinput</a:t>
            </a:r>
            <a:r>
              <a:rPr lang="en-IN" sz="1800" dirty="0"/>
              <a:t>()"&gt;Click to enter your name&lt;/button&gt;</a:t>
            </a:r>
          </a:p>
          <a:p>
            <a:r>
              <a:rPr lang="en-IN" sz="1800" dirty="0"/>
              <a:t>	&lt;p id="</a:t>
            </a:r>
            <a:r>
              <a:rPr lang="en-IN" sz="1800" dirty="0" err="1"/>
              <a:t>msg</a:t>
            </a:r>
            <a:r>
              <a:rPr lang="en-IN" sz="1800" dirty="0"/>
              <a:t>"&gt;hello world&lt;/p&gt;</a:t>
            </a:r>
          </a:p>
          <a:p>
            <a:r>
              <a:rPr lang="en-IN" sz="1800" dirty="0"/>
              <a:t>	</a:t>
            </a:r>
          </a:p>
          <a:p>
            <a:r>
              <a:rPr lang="en-IN" sz="1800" dirty="0"/>
              <a:t>&lt;script&gt;</a:t>
            </a:r>
          </a:p>
          <a:p>
            <a:r>
              <a:rPr lang="en-IN" sz="1800" dirty="0"/>
              <a:t>function </a:t>
            </a:r>
            <a:r>
              <a:rPr lang="en-IN" sz="1800" dirty="0" err="1"/>
              <a:t>myinput</a:t>
            </a:r>
            <a:r>
              <a:rPr lang="en-IN" sz="1800" dirty="0"/>
              <a:t>(){</a:t>
            </a:r>
          </a:p>
          <a:p>
            <a:r>
              <a:rPr lang="en-IN" sz="1800" dirty="0"/>
              <a:t>	var name = prompt("Enter Your Name:");</a:t>
            </a:r>
          </a:p>
          <a:p>
            <a:r>
              <a:rPr lang="en-IN" sz="1800" dirty="0"/>
              <a:t>    		if (name == null || name == "") {</a:t>
            </a:r>
          </a:p>
          <a:p>
            <a:r>
              <a:rPr lang="en-IN" sz="1800" dirty="0" err="1"/>
              <a:t>document.getElementById</a:t>
            </a:r>
            <a:r>
              <a:rPr lang="en-IN" sz="1800" dirty="0"/>
              <a:t>("</a:t>
            </a:r>
            <a:r>
              <a:rPr lang="en-IN" sz="1800" dirty="0" err="1"/>
              <a:t>msg</a:t>
            </a:r>
            <a:r>
              <a:rPr lang="en-IN" sz="1800" dirty="0"/>
              <a:t>").</a:t>
            </a:r>
            <a:r>
              <a:rPr lang="en-IN" sz="1800" dirty="0" err="1"/>
              <a:t>innerHTML</a:t>
            </a:r>
            <a:r>
              <a:rPr lang="en-IN" sz="1800" dirty="0"/>
              <a:t> = "You did not </a:t>
            </a:r>
            <a:r>
              <a:rPr lang="en-IN" sz="1800" dirty="0" err="1"/>
              <a:t>entert</a:t>
            </a:r>
            <a:r>
              <a:rPr lang="en-IN" sz="1800" dirty="0"/>
              <a:t> anything. Please enter your name again";</a:t>
            </a:r>
          </a:p>
          <a:p>
            <a:r>
              <a:rPr lang="en-IN" sz="1800" dirty="0"/>
              <a:t>}</a:t>
            </a:r>
          </a:p>
          <a:p>
            <a:r>
              <a:rPr lang="en-IN" sz="1800" dirty="0"/>
              <a:t>else</a:t>
            </a:r>
          </a:p>
          <a:p>
            <a:r>
              <a:rPr lang="en-IN" sz="1800" dirty="0"/>
              <a:t>{</a:t>
            </a:r>
          </a:p>
          <a:p>
            <a:r>
              <a:rPr lang="en-IN" sz="1800" dirty="0" err="1"/>
              <a:t>document.getElementById</a:t>
            </a:r>
            <a:r>
              <a:rPr lang="en-IN" sz="1800" dirty="0"/>
              <a:t>("</a:t>
            </a:r>
            <a:r>
              <a:rPr lang="en-IN" sz="1800" dirty="0" err="1"/>
              <a:t>msg</a:t>
            </a:r>
            <a:r>
              <a:rPr lang="en-IN" sz="1800" dirty="0"/>
              <a:t>").</a:t>
            </a:r>
            <a:r>
              <a:rPr lang="en-IN" sz="1800" dirty="0" err="1"/>
              <a:t>innerHTML</a:t>
            </a:r>
            <a:r>
              <a:rPr lang="en-IN" sz="1800" dirty="0"/>
              <a:t> = "You </a:t>
            </a:r>
            <a:r>
              <a:rPr lang="en-IN" sz="1800" dirty="0" err="1"/>
              <a:t>enterted</a:t>
            </a:r>
            <a:r>
              <a:rPr lang="en-IN" sz="1800" dirty="0"/>
              <a:t>: " + name;</a:t>
            </a:r>
          </a:p>
          <a:p>
            <a:r>
              <a:rPr lang="en-IN" sz="1800" dirty="0"/>
              <a:t>}</a:t>
            </a:r>
          </a:p>
          <a:p>
            <a:r>
              <a:rPr lang="en-IN" sz="1800"/>
              <a:t>}</a:t>
            </a:r>
          </a:p>
          <a:p>
            <a:r>
              <a:rPr lang="en-IN" sz="1800"/>
              <a:t>    </a:t>
            </a:r>
            <a:r>
              <a:rPr lang="en-IN" sz="1800" dirty="0"/>
              <a:t>&lt;/script&gt;</a:t>
            </a:r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240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CC094-A742-BAB7-BDFD-8A0547C84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304800"/>
            <a:ext cx="8458200" cy="5638800"/>
          </a:xfrm>
        </p:spPr>
        <p:txBody>
          <a:bodyPr/>
          <a:lstStyle/>
          <a:p>
            <a:r>
              <a:rPr lang="en-US" dirty="0"/>
              <a:t>Write a </a:t>
            </a:r>
            <a:r>
              <a:rPr lang="en-US" dirty="0" err="1"/>
              <a:t>Javascript</a:t>
            </a:r>
            <a:r>
              <a:rPr lang="en-US" dirty="0"/>
              <a:t> program to create a login simulation program that prompts the user for a username and password using prompt. If the username and password match with the pre-defined values, display a success message with alert. If not, use confirm to ask if they want to try again. If they agree, re-prompt for credentials.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8941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6012"/>
            <a:ext cx="87115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30" dirty="0"/>
              <a:t>JavaScript</a:t>
            </a:r>
            <a:r>
              <a:rPr sz="4400" spc="-180" dirty="0"/>
              <a:t> </a:t>
            </a:r>
            <a:r>
              <a:rPr sz="4400" dirty="0"/>
              <a:t>–</a:t>
            </a:r>
            <a:r>
              <a:rPr sz="4400" spc="-165" dirty="0"/>
              <a:t> </a:t>
            </a:r>
            <a:r>
              <a:rPr sz="4400" spc="-30" dirty="0"/>
              <a:t>Control</a:t>
            </a:r>
            <a:r>
              <a:rPr sz="4400" spc="-165" dirty="0"/>
              <a:t> </a:t>
            </a:r>
            <a:r>
              <a:rPr sz="4400" spc="-20" dirty="0"/>
              <a:t>Flow</a:t>
            </a:r>
            <a:r>
              <a:rPr sz="4400" spc="-160" dirty="0"/>
              <a:t> </a:t>
            </a:r>
            <a:r>
              <a:rPr sz="4400" spc="-25" dirty="0"/>
              <a:t>statements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681990" y="824534"/>
            <a:ext cx="4744720" cy="3328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5115" indent="-281305">
              <a:lnSpc>
                <a:spcPct val="100000"/>
              </a:lnSpc>
              <a:spcBef>
                <a:spcPts val="5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125" dirty="0">
                <a:latin typeface="Times New Roman"/>
                <a:cs typeface="Times New Roman"/>
              </a:rPr>
              <a:t>Control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spc="-254" dirty="0">
                <a:latin typeface="Times New Roman"/>
                <a:cs typeface="Times New Roman"/>
              </a:rPr>
              <a:t>flow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-140" dirty="0">
                <a:latin typeface="Times New Roman"/>
                <a:cs typeface="Times New Roman"/>
              </a:rPr>
              <a:t>statements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10" dirty="0">
                <a:latin typeface="Times New Roman"/>
                <a:cs typeface="Times New Roman"/>
              </a:rPr>
              <a:t>if/else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45" dirty="0">
                <a:latin typeface="Times New Roman"/>
                <a:cs typeface="Times New Roman"/>
              </a:rPr>
              <a:t>switch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25" dirty="0">
                <a:latin typeface="Times New Roman"/>
                <a:cs typeface="Times New Roman"/>
              </a:rPr>
              <a:t>for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10" dirty="0">
                <a:latin typeface="Times New Roman"/>
                <a:cs typeface="Times New Roman"/>
              </a:rPr>
              <a:t>while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51053"/>
            <a:ext cx="8529319" cy="95795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5400" spc="-40" dirty="0"/>
              <a:t>if/else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681990" y="945083"/>
            <a:ext cx="5473700" cy="37814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5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40" dirty="0">
                <a:latin typeface="Times New Roman"/>
                <a:cs typeface="Times New Roman"/>
              </a:rPr>
              <a:t>If/else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similar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other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languages</a:t>
            </a:r>
            <a:endParaRPr sz="2600">
              <a:latin typeface="Times New Roman"/>
              <a:cs typeface="Times New Roman"/>
            </a:endParaRPr>
          </a:p>
          <a:p>
            <a:pPr marL="558800" lvl="1" indent="-247650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615"/>
              <a:buFont typeface="Segoe UI Symbol"/>
              <a:buChar char="⚫"/>
              <a:tabLst>
                <a:tab pos="55880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Format:</a:t>
            </a:r>
            <a:endParaRPr sz="2600">
              <a:latin typeface="Times New Roman"/>
              <a:cs typeface="Times New Roman"/>
            </a:endParaRPr>
          </a:p>
          <a:p>
            <a:pPr marL="287655">
              <a:lnSpc>
                <a:spcPct val="100000"/>
              </a:lnSpc>
              <a:spcBef>
                <a:spcPts val="370"/>
              </a:spcBef>
            </a:pPr>
            <a:r>
              <a:rPr sz="2800" spc="-185" dirty="0">
                <a:latin typeface="Times New Roman"/>
                <a:cs typeface="Times New Roman"/>
              </a:rPr>
              <a:t>if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(condition)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00"/>
              </a:spcBef>
            </a:pPr>
            <a:r>
              <a:rPr sz="2800" spc="620" dirty="0">
                <a:latin typeface="Times New Roman"/>
                <a:cs typeface="Times New Roman"/>
              </a:rPr>
              <a:t>//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Code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run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if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condition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true</a:t>
            </a:r>
            <a:endParaRPr sz="2800">
              <a:latin typeface="Times New Roman"/>
              <a:cs typeface="Times New Roman"/>
            </a:endParaRPr>
          </a:p>
          <a:p>
            <a:pPr marL="287655">
              <a:lnSpc>
                <a:spcPct val="100000"/>
              </a:lnSpc>
              <a:spcBef>
                <a:spcPts val="395"/>
              </a:spcBef>
            </a:pPr>
            <a:r>
              <a:rPr sz="2800" dirty="0">
                <a:latin typeface="Times New Roman"/>
                <a:cs typeface="Times New Roman"/>
              </a:rPr>
              <a:t>}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else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(condition2)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842644">
              <a:lnSpc>
                <a:spcPct val="100000"/>
              </a:lnSpc>
              <a:spcBef>
                <a:spcPts val="405"/>
              </a:spcBef>
            </a:pPr>
            <a:r>
              <a:rPr sz="2800" spc="620" dirty="0">
                <a:latin typeface="Times New Roman"/>
                <a:cs typeface="Times New Roman"/>
              </a:rPr>
              <a:t>//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Code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run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if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condition2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true</a:t>
            </a:r>
            <a:endParaRPr sz="2800">
              <a:latin typeface="Times New Roman"/>
              <a:cs typeface="Times New Roman"/>
            </a:endParaRPr>
          </a:p>
          <a:p>
            <a:pPr marL="287655">
              <a:lnSpc>
                <a:spcPct val="100000"/>
              </a:lnSpc>
              <a:spcBef>
                <a:spcPts val="400"/>
              </a:spcBef>
            </a:pPr>
            <a:r>
              <a:rPr sz="2800" dirty="0">
                <a:latin typeface="Times New Roman"/>
                <a:cs typeface="Times New Roman"/>
              </a:rPr>
              <a:t>}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else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287655">
              <a:lnSpc>
                <a:spcPct val="100000"/>
              </a:lnSpc>
              <a:spcBef>
                <a:spcPts val="400"/>
              </a:spcBef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6002"/>
            <a:ext cx="87287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5" dirty="0"/>
              <a:t>Switch</a:t>
            </a:r>
            <a:r>
              <a:rPr sz="5400" spc="-170" dirty="0"/>
              <a:t> </a:t>
            </a:r>
            <a:r>
              <a:rPr sz="5400" spc="-50" dirty="0"/>
              <a:t>statement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845514"/>
            <a:ext cx="7857490" cy="51485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55" dirty="0">
                <a:latin typeface="Times New Roman"/>
                <a:cs typeface="Times New Roman"/>
              </a:rPr>
              <a:t>Switch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statement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like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chained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'if'</a:t>
            </a:r>
            <a:endParaRPr sz="26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65" dirty="0">
                <a:latin typeface="Times New Roman"/>
                <a:cs typeface="Times New Roman"/>
              </a:rPr>
              <a:t>Similar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other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languages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like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'C'.</a:t>
            </a:r>
            <a:endParaRPr sz="26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0" dirty="0">
                <a:latin typeface="Times New Roman"/>
                <a:cs typeface="Times New Roman"/>
              </a:rPr>
              <a:t>Syntax:</a:t>
            </a:r>
            <a:endParaRPr sz="2600">
              <a:latin typeface="Times New Roman"/>
              <a:cs typeface="Times New Roman"/>
            </a:endParaRPr>
          </a:p>
          <a:p>
            <a:pPr marL="812800" marR="5136515" indent="-190500">
              <a:lnSpc>
                <a:spcPct val="100000"/>
              </a:lnSpc>
              <a:spcBef>
                <a:spcPts val="375"/>
              </a:spcBef>
            </a:pPr>
            <a:r>
              <a:rPr sz="2000" dirty="0">
                <a:latin typeface="Cambria"/>
                <a:cs typeface="Cambria"/>
              </a:rPr>
              <a:t>switch</a:t>
            </a:r>
            <a:r>
              <a:rPr sz="2000" spc="2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(value)</a:t>
            </a:r>
            <a:r>
              <a:rPr sz="2000" spc="32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{ </a:t>
            </a:r>
            <a:r>
              <a:rPr sz="2000" spc="105" dirty="0">
                <a:latin typeface="Cambria"/>
                <a:cs typeface="Cambria"/>
              </a:rPr>
              <a:t>case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&lt;value_1&gt;:</a:t>
            </a:r>
            <a:endParaRPr sz="2000">
              <a:latin typeface="Cambria"/>
              <a:cs typeface="Cambria"/>
            </a:endParaRPr>
          </a:p>
          <a:p>
            <a:pPr marL="1066165">
              <a:lnSpc>
                <a:spcPct val="100000"/>
              </a:lnSpc>
            </a:pPr>
            <a:r>
              <a:rPr sz="2000" spc="-55" dirty="0">
                <a:latin typeface="Cambria"/>
                <a:cs typeface="Cambria"/>
              </a:rPr>
              <a:t>//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code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if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value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==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value_1</a:t>
            </a:r>
            <a:endParaRPr sz="2000">
              <a:latin typeface="Cambria"/>
              <a:cs typeface="Cambria"/>
            </a:endParaRPr>
          </a:p>
          <a:p>
            <a:pPr marL="875665" marR="5080" indent="190500">
              <a:lnSpc>
                <a:spcPct val="100000"/>
              </a:lnSpc>
            </a:pPr>
            <a:r>
              <a:rPr sz="2000" spc="75" dirty="0">
                <a:latin typeface="Cambria"/>
                <a:cs typeface="Cambria"/>
              </a:rPr>
              <a:t>break;</a:t>
            </a:r>
            <a:r>
              <a:rPr sz="2000" spc="490" dirty="0">
                <a:latin typeface="Cambria"/>
                <a:cs typeface="Cambria"/>
              </a:rPr>
              <a:t> </a:t>
            </a:r>
            <a:r>
              <a:rPr sz="2000" spc="-55" dirty="0">
                <a:latin typeface="Cambria"/>
                <a:cs typeface="Cambria"/>
              </a:rPr>
              <a:t>//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causes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JavaScript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skip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remaining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case </a:t>
            </a:r>
            <a:r>
              <a:rPr sz="2000" spc="65" dirty="0">
                <a:latin typeface="Cambria"/>
                <a:cs typeface="Cambria"/>
              </a:rPr>
              <a:t>clauses </a:t>
            </a:r>
            <a:r>
              <a:rPr sz="2000" spc="105" dirty="0">
                <a:latin typeface="Cambria"/>
                <a:cs typeface="Cambria"/>
              </a:rPr>
              <a:t>case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&lt;value_2&gt;:</a:t>
            </a:r>
            <a:endParaRPr sz="2000">
              <a:latin typeface="Cambria"/>
              <a:cs typeface="Cambria"/>
            </a:endParaRPr>
          </a:p>
          <a:p>
            <a:pPr marL="1066165">
              <a:lnSpc>
                <a:spcPct val="100000"/>
              </a:lnSpc>
            </a:pPr>
            <a:r>
              <a:rPr sz="2000" spc="-55" dirty="0">
                <a:latin typeface="Cambria"/>
                <a:cs typeface="Cambria"/>
              </a:rPr>
              <a:t>//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code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if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value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==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value_2</a:t>
            </a:r>
            <a:endParaRPr sz="2000">
              <a:latin typeface="Cambria"/>
              <a:cs typeface="Cambria"/>
            </a:endParaRPr>
          </a:p>
          <a:p>
            <a:pPr marL="1066165">
              <a:lnSpc>
                <a:spcPct val="100000"/>
              </a:lnSpc>
            </a:pPr>
            <a:r>
              <a:rPr sz="2000" spc="65" dirty="0">
                <a:latin typeface="Cambria"/>
                <a:cs typeface="Cambria"/>
              </a:rPr>
              <a:t>break;</a:t>
            </a:r>
            <a:endParaRPr sz="2000">
              <a:latin typeface="Cambria"/>
              <a:cs typeface="Cambria"/>
            </a:endParaRPr>
          </a:p>
          <a:p>
            <a:pPr marL="1003300">
              <a:lnSpc>
                <a:spcPct val="100000"/>
              </a:lnSpc>
            </a:pPr>
            <a:r>
              <a:rPr sz="2000" spc="300" dirty="0">
                <a:latin typeface="Cambria"/>
                <a:cs typeface="Cambria"/>
              </a:rPr>
              <a:t>….</a:t>
            </a:r>
            <a:endParaRPr sz="2000">
              <a:latin typeface="Cambria"/>
              <a:cs typeface="Cambria"/>
            </a:endParaRPr>
          </a:p>
          <a:p>
            <a:pPr marL="875665">
              <a:lnSpc>
                <a:spcPct val="100000"/>
              </a:lnSpc>
            </a:pPr>
            <a:r>
              <a:rPr sz="2000" spc="40" dirty="0">
                <a:latin typeface="Cambria"/>
                <a:cs typeface="Cambria"/>
              </a:rPr>
              <a:t>default:</a:t>
            </a:r>
            <a:endParaRPr sz="2000">
              <a:latin typeface="Cambria"/>
              <a:cs typeface="Cambria"/>
            </a:endParaRPr>
          </a:p>
          <a:p>
            <a:pPr marL="1193165">
              <a:lnSpc>
                <a:spcPct val="100000"/>
              </a:lnSpc>
            </a:pPr>
            <a:r>
              <a:rPr sz="2000" spc="-55" dirty="0">
                <a:latin typeface="Cambria"/>
                <a:cs typeface="Cambria"/>
              </a:rPr>
              <a:t>//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code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if</a:t>
            </a:r>
            <a:r>
              <a:rPr sz="2000" spc="50" dirty="0">
                <a:latin typeface="Cambria"/>
                <a:cs typeface="Cambria"/>
              </a:rPr>
              <a:t> no </a:t>
            </a:r>
            <a:r>
              <a:rPr sz="2000" spc="100" dirty="0">
                <a:latin typeface="Cambria"/>
                <a:cs typeface="Cambria"/>
              </a:rPr>
              <a:t>cases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match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ambria"/>
              <a:cs typeface="Cambria"/>
            </a:endParaRPr>
          </a:p>
          <a:p>
            <a:pPr marL="622300">
              <a:lnSpc>
                <a:spcPct val="100000"/>
              </a:lnSpc>
            </a:pPr>
            <a:r>
              <a:rPr sz="2000" spc="-50" dirty="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4178"/>
            <a:ext cx="87649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" dirty="0"/>
              <a:t>switch</a:t>
            </a:r>
            <a:r>
              <a:rPr sz="4200" spc="-150" dirty="0"/>
              <a:t> </a:t>
            </a:r>
            <a:r>
              <a:rPr sz="4200" spc="-45" dirty="0"/>
              <a:t>statement</a:t>
            </a:r>
            <a:r>
              <a:rPr sz="4200" spc="-160" dirty="0"/>
              <a:t> </a:t>
            </a:r>
            <a:r>
              <a:rPr sz="4200" spc="-40" dirty="0"/>
              <a:t>example</a:t>
            </a:r>
            <a:endParaRPr sz="4200" dirty="0"/>
          </a:p>
        </p:txBody>
      </p:sp>
      <p:sp>
        <p:nvSpPr>
          <p:cNvPr id="3" name="object 3"/>
          <p:cNvSpPr txBox="1"/>
          <p:nvPr/>
        </p:nvSpPr>
        <p:spPr>
          <a:xfrm>
            <a:off x="681990" y="938784"/>
            <a:ext cx="5367655" cy="490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"/>
                <a:cs typeface="Cambria"/>
              </a:rPr>
              <a:t>function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analyzeResponse(resp)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{</a:t>
            </a:r>
            <a:endParaRPr sz="2000">
              <a:latin typeface="Cambria"/>
              <a:cs typeface="Cambria"/>
            </a:endParaRPr>
          </a:p>
          <a:p>
            <a:pPr marL="584200" marR="3373754" indent="-25400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switch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(resp)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{ </a:t>
            </a:r>
            <a:r>
              <a:rPr sz="2000" spc="105" dirty="0">
                <a:latin typeface="Cambria"/>
                <a:cs typeface="Cambria"/>
              </a:rPr>
              <a:t>case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1:</a:t>
            </a:r>
            <a:endParaRPr sz="2000">
              <a:latin typeface="Cambria"/>
              <a:cs typeface="Cambria"/>
            </a:endParaRPr>
          </a:p>
          <a:p>
            <a:pPr marL="837565" marR="1896745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retValue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=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"New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York"; </a:t>
            </a:r>
            <a:r>
              <a:rPr sz="2000" spc="65" dirty="0">
                <a:latin typeface="Cambria"/>
                <a:cs typeface="Cambria"/>
              </a:rPr>
              <a:t>break;</a:t>
            </a:r>
            <a:endParaRPr sz="2000">
              <a:latin typeface="Cambria"/>
              <a:cs typeface="Cambria"/>
            </a:endParaRPr>
          </a:p>
          <a:p>
            <a:pPr marL="520700">
              <a:lnSpc>
                <a:spcPct val="100000"/>
              </a:lnSpc>
            </a:pPr>
            <a:r>
              <a:rPr sz="2000" spc="105" dirty="0">
                <a:latin typeface="Cambria"/>
                <a:cs typeface="Cambria"/>
              </a:rPr>
              <a:t>case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2:</a:t>
            </a:r>
            <a:endParaRPr sz="2000">
              <a:latin typeface="Cambria"/>
              <a:cs typeface="Cambria"/>
            </a:endParaRPr>
          </a:p>
          <a:p>
            <a:pPr marL="837565" marR="156464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retValue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=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"Los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Angeles"; </a:t>
            </a:r>
            <a:r>
              <a:rPr sz="2000" spc="65" dirty="0">
                <a:latin typeface="Cambria"/>
                <a:cs typeface="Cambria"/>
              </a:rPr>
              <a:t>break;</a:t>
            </a:r>
            <a:endParaRPr sz="2000">
              <a:latin typeface="Cambria"/>
              <a:cs typeface="Cambria"/>
            </a:endParaRPr>
          </a:p>
          <a:p>
            <a:pPr marL="520700">
              <a:lnSpc>
                <a:spcPct val="100000"/>
              </a:lnSpc>
            </a:pPr>
            <a:r>
              <a:rPr sz="2000" spc="105" dirty="0">
                <a:latin typeface="Cambria"/>
                <a:cs typeface="Cambria"/>
              </a:rPr>
              <a:t>case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3:</a:t>
            </a:r>
            <a:endParaRPr sz="2000">
              <a:latin typeface="Cambria"/>
              <a:cs typeface="Cambria"/>
            </a:endParaRPr>
          </a:p>
          <a:p>
            <a:pPr marL="90170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retValue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=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"Chicago";</a:t>
            </a:r>
            <a:endParaRPr sz="2000">
              <a:latin typeface="Cambria"/>
              <a:cs typeface="Cambria"/>
            </a:endParaRPr>
          </a:p>
          <a:p>
            <a:pPr marL="520700" marR="3700779" indent="381000">
              <a:lnSpc>
                <a:spcPct val="100000"/>
              </a:lnSpc>
            </a:pPr>
            <a:r>
              <a:rPr sz="2000" spc="65" dirty="0">
                <a:latin typeface="Cambria"/>
                <a:cs typeface="Cambria"/>
              </a:rPr>
              <a:t>break; </a:t>
            </a:r>
            <a:r>
              <a:rPr sz="2000" spc="40" dirty="0">
                <a:latin typeface="Cambria"/>
                <a:cs typeface="Cambria"/>
              </a:rPr>
              <a:t>default:</a:t>
            </a:r>
            <a:endParaRPr sz="2000">
              <a:latin typeface="Cambria"/>
              <a:cs typeface="Cambria"/>
            </a:endParaRPr>
          </a:p>
          <a:p>
            <a:pPr marL="90170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retValue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=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"No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joy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I'm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not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seeing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it!";</a:t>
            </a:r>
            <a:endParaRPr sz="2000">
              <a:latin typeface="Cambria"/>
              <a:cs typeface="Cambria"/>
            </a:endParaRPr>
          </a:p>
          <a:p>
            <a:pPr marL="330200">
              <a:lnSpc>
                <a:spcPct val="100000"/>
              </a:lnSpc>
            </a:pPr>
            <a:r>
              <a:rPr sz="2000" spc="-50" dirty="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  <a:p>
            <a:pPr marL="33020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return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retValue;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68910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</a:t>
            </a:r>
            <a:r>
              <a:rPr spc="-200" dirty="0"/>
              <a:t> </a:t>
            </a:r>
            <a:r>
              <a:rPr spc="-10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990" y="670416"/>
            <a:ext cx="8063865" cy="3034030"/>
          </a:xfrm>
          <a:prstGeom prst="rect">
            <a:avLst/>
          </a:prstGeom>
        </p:spPr>
        <p:txBody>
          <a:bodyPr vert="horz" wrap="square" lIns="0" tIns="24257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91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65" dirty="0">
                <a:latin typeface="Times New Roman"/>
                <a:cs typeface="Times New Roman"/>
              </a:rPr>
              <a:t>Similar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C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Java's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for-</a:t>
            </a:r>
            <a:r>
              <a:rPr sz="2600" spc="-20" dirty="0">
                <a:latin typeface="Times New Roman"/>
                <a:cs typeface="Times New Roman"/>
              </a:rPr>
              <a:t>loop</a:t>
            </a:r>
            <a:endParaRPr sz="2600">
              <a:latin typeface="Times New Roman"/>
              <a:cs typeface="Times New Roman"/>
            </a:endParaRPr>
          </a:p>
          <a:p>
            <a:pPr marL="628650">
              <a:lnSpc>
                <a:spcPct val="100000"/>
              </a:lnSpc>
              <a:spcBef>
                <a:spcPts val="1960"/>
              </a:spcBef>
            </a:pPr>
            <a:r>
              <a:rPr sz="2800" b="1" spc="-10" dirty="0">
                <a:latin typeface="Times New Roman"/>
                <a:cs typeface="Times New Roman"/>
              </a:rPr>
              <a:t>Format: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800">
              <a:latin typeface="Times New Roman"/>
              <a:cs typeface="Times New Roman"/>
            </a:endParaRPr>
          </a:p>
          <a:p>
            <a:pPr marL="984250" marR="5080" indent="-356235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(initialization;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loop-</a:t>
            </a:r>
            <a:r>
              <a:rPr sz="2800" spc="-10" dirty="0">
                <a:latin typeface="Times New Roman"/>
                <a:cs typeface="Times New Roman"/>
              </a:rPr>
              <a:t>end-</a:t>
            </a:r>
            <a:r>
              <a:rPr sz="2800" dirty="0">
                <a:latin typeface="Times New Roman"/>
                <a:cs typeface="Times New Roman"/>
              </a:rPr>
              <a:t>test;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code)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{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body</a:t>
            </a:r>
            <a:endParaRPr sz="2800">
              <a:latin typeface="Times New Roman"/>
              <a:cs typeface="Times New Roman"/>
            </a:endParaRPr>
          </a:p>
          <a:p>
            <a:pPr marL="628650">
              <a:lnSpc>
                <a:spcPct val="100000"/>
              </a:lnSpc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1976"/>
            <a:ext cx="86912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97320" algn="l"/>
              </a:tabLst>
            </a:pPr>
            <a:r>
              <a:rPr sz="5400" spc="-10" dirty="0"/>
              <a:t>Example:</a:t>
            </a:r>
            <a:r>
              <a:rPr lang="en-US" sz="5400" spc="-10" dirty="0"/>
              <a:t> </a:t>
            </a:r>
            <a:r>
              <a:rPr sz="5400" dirty="0"/>
              <a:t>for</a:t>
            </a:r>
            <a:r>
              <a:rPr sz="5400" spc="-285" dirty="0"/>
              <a:t> </a:t>
            </a:r>
            <a:r>
              <a:rPr sz="5400" spc="-35" dirty="0"/>
              <a:t>loop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858774"/>
            <a:ext cx="4507865" cy="5574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355" marR="5080" indent="-288290">
              <a:lnSpc>
                <a:spcPct val="100000"/>
              </a:lnSpc>
              <a:spcBef>
                <a:spcPts val="105"/>
              </a:spcBef>
              <a:buFont typeface="Times New Roman"/>
              <a:buChar char="&gt;"/>
              <a:tabLst>
                <a:tab pos="368300" algn="l"/>
              </a:tabLst>
            </a:pPr>
            <a:r>
              <a:rPr sz="2800" dirty="0">
                <a:latin typeface="Cambria"/>
                <a:cs typeface="Cambria"/>
              </a:rPr>
              <a:t>for</a:t>
            </a:r>
            <a:r>
              <a:rPr sz="2800" spc="10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(i</a:t>
            </a:r>
            <a:r>
              <a:rPr sz="2800" spc="110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=</a:t>
            </a:r>
            <a:r>
              <a:rPr sz="2800" spc="10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0;</a:t>
            </a:r>
            <a:r>
              <a:rPr sz="2800" spc="-13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</a:t>
            </a:r>
            <a:r>
              <a:rPr sz="2800" spc="110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&lt;</a:t>
            </a:r>
            <a:r>
              <a:rPr sz="2800" spc="10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10;</a:t>
            </a:r>
            <a:r>
              <a:rPr sz="2800" spc="-140" dirty="0">
                <a:latin typeface="Cambria"/>
                <a:cs typeface="Cambria"/>
              </a:rPr>
              <a:t> </a:t>
            </a:r>
            <a:r>
              <a:rPr sz="2800" spc="150" dirty="0">
                <a:latin typeface="Cambria"/>
                <a:cs typeface="Cambria"/>
              </a:rPr>
              <a:t>i++)</a:t>
            </a:r>
            <a:r>
              <a:rPr sz="2800" spc="105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{ 	</a:t>
            </a:r>
            <a:r>
              <a:rPr sz="2800" spc="110" dirty="0">
                <a:latin typeface="Cambria"/>
                <a:cs typeface="Cambria"/>
              </a:rPr>
              <a:t>console.log(i</a:t>
            </a:r>
            <a:r>
              <a:rPr sz="2800" spc="70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+</a:t>
            </a:r>
            <a:r>
              <a:rPr sz="2800" spc="10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"</a:t>
            </a:r>
            <a:r>
              <a:rPr sz="2800" spc="90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:</a:t>
            </a:r>
            <a:r>
              <a:rPr sz="2800" spc="-13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"</a:t>
            </a:r>
            <a:r>
              <a:rPr sz="2800" spc="105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+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i*i);</a:t>
            </a:r>
            <a:endParaRPr sz="2800">
              <a:latin typeface="Cambria"/>
              <a:cs typeface="Cambria"/>
            </a:endParaRPr>
          </a:p>
          <a:p>
            <a:pPr marL="101600">
              <a:lnSpc>
                <a:spcPct val="100000"/>
              </a:lnSpc>
            </a:pPr>
            <a:r>
              <a:rPr sz="2800" spc="-50" dirty="0">
                <a:latin typeface="Cambria"/>
                <a:cs typeface="Cambria"/>
              </a:rPr>
              <a:t>}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0 : </a:t>
            </a:r>
            <a:r>
              <a:rPr sz="2800" spc="-50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1 : </a:t>
            </a:r>
            <a:r>
              <a:rPr sz="2800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2 : </a:t>
            </a:r>
            <a:r>
              <a:rPr sz="2800" spc="-50" dirty="0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3 : </a:t>
            </a:r>
            <a:r>
              <a:rPr sz="2800" spc="-50" dirty="0"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4 : </a:t>
            </a:r>
            <a:r>
              <a:rPr sz="2800" spc="-25" dirty="0">
                <a:latin typeface="Times New Roman"/>
                <a:cs typeface="Times New Roman"/>
              </a:rPr>
              <a:t>16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5 : </a:t>
            </a:r>
            <a:r>
              <a:rPr sz="2800" spc="-25" dirty="0">
                <a:latin typeface="Times New Roman"/>
                <a:cs typeface="Times New Roman"/>
              </a:rPr>
              <a:t>25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6 : </a:t>
            </a:r>
            <a:r>
              <a:rPr sz="2800" spc="-25" dirty="0">
                <a:latin typeface="Times New Roman"/>
                <a:cs typeface="Times New Roman"/>
              </a:rPr>
              <a:t>36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7 : </a:t>
            </a:r>
            <a:r>
              <a:rPr sz="2800" spc="-25" dirty="0">
                <a:latin typeface="Times New Roman"/>
                <a:cs typeface="Times New Roman"/>
              </a:rPr>
              <a:t>49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8 : </a:t>
            </a:r>
            <a:r>
              <a:rPr sz="2800" spc="-25" dirty="0">
                <a:latin typeface="Times New Roman"/>
                <a:cs typeface="Times New Roman"/>
              </a:rPr>
              <a:t>64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9 : </a:t>
            </a:r>
            <a:r>
              <a:rPr sz="2800" spc="-25" dirty="0">
                <a:latin typeface="Times New Roman"/>
                <a:cs typeface="Times New Roman"/>
              </a:rPr>
              <a:t>81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32003"/>
            <a:ext cx="77012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while</a:t>
            </a:r>
            <a:r>
              <a:rPr spc="-204" dirty="0"/>
              <a:t> </a:t>
            </a:r>
            <a:r>
              <a:rPr spc="-10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990" y="723188"/>
            <a:ext cx="7701915" cy="32131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81305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160" dirty="0">
                <a:latin typeface="Times New Roman"/>
                <a:cs typeface="Times New Roman"/>
              </a:rPr>
              <a:t>Iterates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204" dirty="0">
                <a:latin typeface="Times New Roman"/>
                <a:cs typeface="Times New Roman"/>
              </a:rPr>
              <a:t>while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spc="-320" dirty="0">
                <a:latin typeface="Times New Roman"/>
                <a:cs typeface="Times New Roman"/>
              </a:rPr>
              <a:t>a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-175" dirty="0">
                <a:latin typeface="Times New Roman"/>
                <a:cs typeface="Times New Roman"/>
              </a:rPr>
              <a:t>condition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spc="-254" dirty="0">
                <a:latin typeface="Times New Roman"/>
                <a:cs typeface="Times New Roman"/>
              </a:rPr>
              <a:t>is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true</a:t>
            </a:r>
            <a:endParaRPr sz="4000">
              <a:latin typeface="Times New Roman"/>
              <a:cs typeface="Times New Roman"/>
            </a:endParaRPr>
          </a:p>
          <a:p>
            <a:pPr marL="285115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75" dirty="0">
                <a:latin typeface="Times New Roman"/>
                <a:cs typeface="Times New Roman"/>
              </a:rPr>
              <a:t>Syntax:</a:t>
            </a:r>
            <a:endParaRPr sz="4000">
              <a:latin typeface="Times New Roman"/>
              <a:cs typeface="Times New Roman"/>
            </a:endParaRPr>
          </a:p>
          <a:p>
            <a:pPr marL="443865">
              <a:lnSpc>
                <a:spcPct val="100000"/>
              </a:lnSpc>
              <a:spcBef>
                <a:spcPts val="2300"/>
              </a:spcBef>
            </a:pPr>
            <a:r>
              <a:rPr sz="2000" dirty="0">
                <a:latin typeface="Cambria"/>
                <a:cs typeface="Cambria"/>
              </a:rPr>
              <a:t>while</a:t>
            </a:r>
            <a:r>
              <a:rPr sz="2000" spc="3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(condition)</a:t>
            </a:r>
            <a:r>
              <a:rPr sz="2000" spc="40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{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Cambria"/>
              <a:cs typeface="Cambria"/>
            </a:endParaRPr>
          </a:p>
          <a:p>
            <a:pPr marL="697865">
              <a:lnSpc>
                <a:spcPct val="100000"/>
              </a:lnSpc>
              <a:spcBef>
                <a:spcPts val="5"/>
              </a:spcBef>
            </a:pPr>
            <a:r>
              <a:rPr sz="2000" spc="-55" dirty="0">
                <a:latin typeface="Cambria"/>
                <a:cs typeface="Cambria"/>
              </a:rPr>
              <a:t>//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85" dirty="0">
                <a:latin typeface="Cambria"/>
                <a:cs typeface="Cambria"/>
              </a:rPr>
              <a:t>Code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execute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long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condition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evaluates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true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ambria"/>
              <a:cs typeface="Cambria"/>
            </a:endParaRPr>
          </a:p>
          <a:p>
            <a:pPr marL="443865">
              <a:lnSpc>
                <a:spcPct val="100000"/>
              </a:lnSpc>
            </a:pPr>
            <a:r>
              <a:rPr sz="2000" spc="-50" dirty="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24459"/>
            <a:ext cx="854202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spc="-35" dirty="0"/>
              <a:t>while</a:t>
            </a:r>
            <a:r>
              <a:rPr sz="5000" spc="-204" dirty="0"/>
              <a:t> </a:t>
            </a:r>
            <a:r>
              <a:rPr sz="5000" dirty="0"/>
              <a:t>loop</a:t>
            </a:r>
            <a:r>
              <a:rPr sz="5000" spc="-200" dirty="0"/>
              <a:t> </a:t>
            </a:r>
            <a:r>
              <a:rPr sz="5000" spc="-55" dirty="0"/>
              <a:t>example</a:t>
            </a:r>
            <a:endParaRPr sz="50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1861185" indent="-356235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</a:t>
            </a:r>
            <a:r>
              <a:rPr spc="235" dirty="0"/>
              <a:t> </a:t>
            </a:r>
            <a:r>
              <a:rPr spc="85" dirty="0"/>
              <a:t>generateTable(tableSize)</a:t>
            </a:r>
            <a:r>
              <a:rPr spc="240" dirty="0"/>
              <a:t> </a:t>
            </a:r>
            <a:r>
              <a:rPr spc="-50" dirty="0"/>
              <a:t>{ </a:t>
            </a:r>
            <a:r>
              <a:rPr spc="60" dirty="0"/>
              <a:t>let</a:t>
            </a:r>
            <a:r>
              <a:rPr spc="80" dirty="0"/>
              <a:t> </a:t>
            </a:r>
            <a:r>
              <a:rPr dirty="0"/>
              <a:t>i</a:t>
            </a:r>
            <a:r>
              <a:rPr spc="90" dirty="0"/>
              <a:t> </a:t>
            </a:r>
            <a:r>
              <a:rPr spc="310" dirty="0"/>
              <a:t>=</a:t>
            </a:r>
            <a:r>
              <a:rPr spc="95" dirty="0"/>
              <a:t> </a:t>
            </a:r>
            <a:r>
              <a:rPr spc="-25" dirty="0"/>
              <a:t>0;</a:t>
            </a:r>
          </a:p>
          <a:p>
            <a:pPr marL="812800" marR="5080" indent="-444500">
              <a:lnSpc>
                <a:spcPct val="100000"/>
              </a:lnSpc>
              <a:tabLst>
                <a:tab pos="3895725" algn="l"/>
              </a:tabLst>
            </a:pPr>
            <a:r>
              <a:rPr dirty="0"/>
              <a:t>if</a:t>
            </a:r>
            <a:r>
              <a:rPr spc="55" dirty="0"/>
              <a:t> </a:t>
            </a:r>
            <a:r>
              <a:rPr spc="60" dirty="0"/>
              <a:t>((tableSize</a:t>
            </a:r>
            <a:r>
              <a:rPr spc="55" dirty="0"/>
              <a:t> </a:t>
            </a:r>
            <a:r>
              <a:rPr spc="310" dirty="0"/>
              <a:t>&gt;</a:t>
            </a:r>
            <a:r>
              <a:rPr spc="70" dirty="0"/>
              <a:t> </a:t>
            </a:r>
            <a:r>
              <a:rPr dirty="0"/>
              <a:t>0)</a:t>
            </a:r>
            <a:r>
              <a:rPr spc="70" dirty="0"/>
              <a:t> </a:t>
            </a:r>
            <a:r>
              <a:rPr spc="-25" dirty="0"/>
              <a:t>&amp;&amp;</a:t>
            </a:r>
            <a:r>
              <a:rPr dirty="0"/>
              <a:t>	</a:t>
            </a:r>
            <a:r>
              <a:rPr spc="75" dirty="0"/>
              <a:t>(tableSize</a:t>
            </a:r>
            <a:r>
              <a:rPr dirty="0"/>
              <a:t> </a:t>
            </a:r>
            <a:r>
              <a:rPr spc="310" dirty="0"/>
              <a:t>&lt;=</a:t>
            </a:r>
            <a:r>
              <a:rPr spc="15" dirty="0"/>
              <a:t> </a:t>
            </a:r>
            <a:r>
              <a:rPr spc="-20" dirty="0"/>
              <a:t>10000))</a:t>
            </a:r>
            <a:r>
              <a:rPr spc="15" dirty="0"/>
              <a:t> </a:t>
            </a:r>
            <a:r>
              <a:rPr spc="-50" dirty="0"/>
              <a:t>{ </a:t>
            </a:r>
            <a:r>
              <a:rPr spc="95" dirty="0"/>
              <a:t>console.log("num</a:t>
            </a:r>
            <a:r>
              <a:rPr spc="85" dirty="0"/>
              <a:t> </a:t>
            </a:r>
            <a:r>
              <a:rPr spc="70" dirty="0"/>
              <a:t>:</a:t>
            </a:r>
            <a:r>
              <a:rPr spc="-125" dirty="0"/>
              <a:t> </a:t>
            </a:r>
            <a:r>
              <a:rPr spc="-10" dirty="0"/>
              <a:t>num^2");</a:t>
            </a:r>
          </a:p>
          <a:p>
            <a:pPr marL="1256665" marR="2124075" indent="-444500">
              <a:lnSpc>
                <a:spcPct val="100000"/>
              </a:lnSpc>
              <a:tabLst>
                <a:tab pos="3561715" algn="l"/>
              </a:tabLst>
            </a:pPr>
            <a:r>
              <a:rPr spc="50" dirty="0"/>
              <a:t>while</a:t>
            </a:r>
            <a:r>
              <a:rPr spc="65" dirty="0"/>
              <a:t> </a:t>
            </a:r>
            <a:r>
              <a:rPr dirty="0"/>
              <a:t>(i</a:t>
            </a:r>
            <a:r>
              <a:rPr spc="85" dirty="0"/>
              <a:t> </a:t>
            </a:r>
            <a:r>
              <a:rPr spc="310" dirty="0"/>
              <a:t>&lt;</a:t>
            </a:r>
            <a:r>
              <a:rPr spc="90" dirty="0"/>
              <a:t> </a:t>
            </a:r>
            <a:r>
              <a:rPr spc="75" dirty="0"/>
              <a:t>tableSize)</a:t>
            </a:r>
            <a:r>
              <a:rPr spc="65" dirty="0"/>
              <a:t> </a:t>
            </a:r>
            <a:r>
              <a:rPr spc="-50" dirty="0"/>
              <a:t>{ </a:t>
            </a:r>
            <a:r>
              <a:rPr spc="100" dirty="0"/>
              <a:t>console.log(i</a:t>
            </a:r>
            <a:r>
              <a:rPr dirty="0"/>
              <a:t>	</a:t>
            </a:r>
            <a:r>
              <a:rPr spc="310" dirty="0"/>
              <a:t>+</a:t>
            </a:r>
            <a:r>
              <a:rPr spc="80" dirty="0"/>
              <a:t> </a:t>
            </a:r>
            <a:r>
              <a:rPr dirty="0"/>
              <a:t>"</a:t>
            </a:r>
            <a:r>
              <a:rPr spc="95" dirty="0"/>
              <a:t> </a:t>
            </a:r>
            <a:r>
              <a:rPr spc="70" dirty="0"/>
              <a:t>:</a:t>
            </a:r>
            <a:r>
              <a:rPr spc="-140" dirty="0"/>
              <a:t> </a:t>
            </a:r>
            <a:r>
              <a:rPr dirty="0"/>
              <a:t>"</a:t>
            </a:r>
            <a:r>
              <a:rPr spc="95" dirty="0"/>
              <a:t> </a:t>
            </a:r>
            <a:r>
              <a:rPr spc="310" dirty="0"/>
              <a:t>+</a:t>
            </a:r>
            <a:r>
              <a:rPr spc="95" dirty="0"/>
              <a:t> </a:t>
            </a:r>
            <a:r>
              <a:rPr spc="50" dirty="0"/>
              <a:t>i*i); </a:t>
            </a:r>
            <a:r>
              <a:rPr spc="160" dirty="0"/>
              <a:t>i++;</a:t>
            </a:r>
          </a:p>
          <a:p>
            <a:pPr marL="723265">
              <a:lnSpc>
                <a:spcPct val="100000"/>
              </a:lnSpc>
              <a:spcBef>
                <a:spcPts val="5"/>
              </a:spcBef>
            </a:pPr>
            <a:r>
              <a:rPr spc="-50" dirty="0"/>
              <a:t>}</a:t>
            </a:r>
          </a:p>
          <a:p>
            <a:pPr marL="368300">
              <a:lnSpc>
                <a:spcPct val="100000"/>
              </a:lnSpc>
            </a:pPr>
            <a:r>
              <a:rPr spc="-50" dirty="0"/>
              <a:t>}</a:t>
            </a:r>
          </a:p>
          <a:p>
            <a:pPr marL="12700">
              <a:lnSpc>
                <a:spcPct val="100000"/>
              </a:lnSpc>
            </a:pPr>
            <a:r>
              <a:rPr spc="-50" dirty="0"/>
              <a:t>}</a:t>
            </a: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51053"/>
            <a:ext cx="8529319" cy="95795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do</a:t>
            </a:r>
            <a:r>
              <a:rPr sz="5400" spc="-140" dirty="0"/>
              <a:t> </a:t>
            </a:r>
            <a:r>
              <a:rPr sz="5400" spc="-45" dirty="0"/>
              <a:t>while</a:t>
            </a:r>
            <a:r>
              <a:rPr sz="5400" spc="-135" dirty="0"/>
              <a:t> </a:t>
            </a:r>
            <a:r>
              <a:rPr sz="5400" spc="-20" dirty="0"/>
              <a:t>loops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681990" y="909269"/>
            <a:ext cx="8054975" cy="340867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4480" indent="-28067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125" dirty="0">
                <a:latin typeface="Times New Roman"/>
                <a:cs typeface="Times New Roman"/>
              </a:rPr>
              <a:t>Iterates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while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condition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true</a:t>
            </a:r>
            <a:endParaRPr sz="3200">
              <a:latin typeface="Times New Roman"/>
              <a:cs typeface="Times New Roman"/>
            </a:endParaRPr>
          </a:p>
          <a:p>
            <a:pPr marL="284480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290" dirty="0">
                <a:latin typeface="Times New Roman"/>
                <a:cs typeface="Times New Roman"/>
              </a:rPr>
              <a:t>Always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iterates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at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least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1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time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since</a:t>
            </a:r>
            <a:r>
              <a:rPr sz="3200" spc="-65" dirty="0">
                <a:latin typeface="Times New Roman"/>
                <a:cs typeface="Times New Roman"/>
              </a:rPr>
              <a:t> test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at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end!</a:t>
            </a:r>
            <a:endParaRPr sz="3200">
              <a:latin typeface="Times New Roman"/>
              <a:cs typeface="Times New Roman"/>
            </a:endParaRPr>
          </a:p>
          <a:p>
            <a:pPr marL="284480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35" dirty="0">
                <a:latin typeface="Times New Roman"/>
                <a:cs typeface="Times New Roman"/>
              </a:rPr>
              <a:t>Syntax:</a:t>
            </a:r>
            <a:endParaRPr sz="3200"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1315"/>
              </a:spcBef>
            </a:pPr>
            <a:r>
              <a:rPr sz="2000" spc="105" dirty="0">
                <a:latin typeface="Cambria"/>
                <a:cs typeface="Cambria"/>
              </a:rPr>
              <a:t>do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{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Cambria"/>
              <a:cs typeface="Cambria"/>
            </a:endParaRPr>
          </a:p>
          <a:p>
            <a:pPr marL="488950">
              <a:lnSpc>
                <a:spcPct val="100000"/>
              </a:lnSpc>
              <a:spcBef>
                <a:spcPts val="5"/>
              </a:spcBef>
            </a:pPr>
            <a:r>
              <a:rPr sz="2000" spc="-55" dirty="0">
                <a:latin typeface="Cambria"/>
                <a:cs typeface="Cambria"/>
              </a:rPr>
              <a:t>//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85" dirty="0">
                <a:latin typeface="Cambria"/>
                <a:cs typeface="Cambria"/>
              </a:rPr>
              <a:t>Code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execute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long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condition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evaluates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true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ambria"/>
              <a:cs typeface="Cambria"/>
            </a:endParaRPr>
          </a:p>
          <a:p>
            <a:pPr marL="17145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}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while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(condition)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86943"/>
            <a:ext cx="862393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/>
              <a:t>do</a:t>
            </a:r>
            <a:r>
              <a:rPr sz="4600" spc="-145" dirty="0"/>
              <a:t> </a:t>
            </a:r>
            <a:r>
              <a:rPr sz="4600" spc="-25" dirty="0"/>
              <a:t>while</a:t>
            </a:r>
            <a:r>
              <a:rPr sz="4600" spc="-150" dirty="0"/>
              <a:t> </a:t>
            </a:r>
            <a:r>
              <a:rPr sz="4600" dirty="0"/>
              <a:t>loop</a:t>
            </a:r>
            <a:r>
              <a:rPr sz="4600" spc="-150" dirty="0"/>
              <a:t> </a:t>
            </a:r>
            <a:r>
              <a:rPr sz="4600" spc="-50" dirty="0"/>
              <a:t>example</a:t>
            </a:r>
            <a:endParaRPr sz="4600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007617"/>
            <a:ext cx="7605395" cy="429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1861185" indent="-35623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"/>
                <a:cs typeface="Cambria"/>
              </a:rPr>
              <a:t>function</a:t>
            </a:r>
            <a:r>
              <a:rPr sz="2800" spc="23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generateTable(tableSize)</a:t>
            </a:r>
            <a:r>
              <a:rPr sz="2800" spc="240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{ </a:t>
            </a:r>
            <a:r>
              <a:rPr sz="2800" spc="60" dirty="0">
                <a:latin typeface="Cambria"/>
                <a:cs typeface="Cambria"/>
              </a:rPr>
              <a:t>let</a:t>
            </a:r>
            <a:r>
              <a:rPr sz="2800" spc="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</a:t>
            </a:r>
            <a:r>
              <a:rPr sz="2800" spc="90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=</a:t>
            </a:r>
            <a:r>
              <a:rPr sz="2800" spc="9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0;</a:t>
            </a:r>
            <a:endParaRPr sz="2800">
              <a:latin typeface="Cambria"/>
              <a:cs typeface="Cambria"/>
            </a:endParaRPr>
          </a:p>
          <a:p>
            <a:pPr marL="812800" marR="5080" indent="-444500">
              <a:lnSpc>
                <a:spcPct val="100000"/>
              </a:lnSpc>
              <a:spcBef>
                <a:spcPts val="5"/>
              </a:spcBef>
              <a:tabLst>
                <a:tab pos="3895725" algn="l"/>
              </a:tabLst>
            </a:pPr>
            <a:r>
              <a:rPr sz="2800" dirty="0">
                <a:latin typeface="Cambria"/>
                <a:cs typeface="Cambria"/>
              </a:rPr>
              <a:t>if(</a:t>
            </a:r>
            <a:r>
              <a:rPr sz="2800" spc="40" dirty="0">
                <a:latin typeface="Cambria"/>
                <a:cs typeface="Cambria"/>
              </a:rPr>
              <a:t> </a:t>
            </a:r>
            <a:r>
              <a:rPr sz="2800" spc="75" dirty="0">
                <a:latin typeface="Cambria"/>
                <a:cs typeface="Cambria"/>
              </a:rPr>
              <a:t>(tableSize</a:t>
            </a:r>
            <a:r>
              <a:rPr sz="2800" spc="30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&gt;</a:t>
            </a:r>
            <a:r>
              <a:rPr sz="2800" spc="5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0)</a:t>
            </a:r>
            <a:r>
              <a:rPr sz="2800" spc="5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&amp;&amp;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75" dirty="0">
                <a:latin typeface="Cambria"/>
                <a:cs typeface="Cambria"/>
              </a:rPr>
              <a:t>(tableSize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&lt;=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10000))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{ </a:t>
            </a:r>
            <a:r>
              <a:rPr sz="2800" spc="95" dirty="0">
                <a:latin typeface="Cambria"/>
                <a:cs typeface="Cambria"/>
              </a:rPr>
              <a:t>console.log("num</a:t>
            </a:r>
            <a:r>
              <a:rPr sz="2800" spc="85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:</a:t>
            </a:r>
            <a:r>
              <a:rPr sz="2800" spc="-12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num^2");</a:t>
            </a:r>
            <a:endParaRPr sz="280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</a:pPr>
            <a:r>
              <a:rPr sz="2800" spc="145" dirty="0">
                <a:latin typeface="Cambria"/>
                <a:cs typeface="Cambria"/>
              </a:rPr>
              <a:t>do</a:t>
            </a:r>
            <a:r>
              <a:rPr sz="2800" spc="85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{</a:t>
            </a:r>
            <a:endParaRPr sz="2800">
              <a:latin typeface="Cambria"/>
              <a:cs typeface="Cambria"/>
            </a:endParaRPr>
          </a:p>
          <a:p>
            <a:pPr marL="1256665">
              <a:lnSpc>
                <a:spcPct val="100000"/>
              </a:lnSpc>
            </a:pPr>
            <a:r>
              <a:rPr sz="2800" spc="-50" dirty="0">
                <a:latin typeface="Cambria"/>
                <a:cs typeface="Cambria"/>
              </a:rPr>
              <a:t>I</a:t>
            </a:r>
            <a:endParaRPr sz="2800">
              <a:latin typeface="Cambria"/>
              <a:cs typeface="Cambria"/>
            </a:endParaRPr>
          </a:p>
          <a:p>
            <a:pPr marL="1256665">
              <a:lnSpc>
                <a:spcPct val="100000"/>
              </a:lnSpc>
              <a:tabLst>
                <a:tab pos="3561715" algn="l"/>
              </a:tabLst>
            </a:pPr>
            <a:r>
              <a:rPr sz="2800" spc="100" dirty="0">
                <a:latin typeface="Cambria"/>
                <a:cs typeface="Cambria"/>
              </a:rPr>
              <a:t>console.log(i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310" dirty="0">
                <a:latin typeface="Cambria"/>
                <a:cs typeface="Cambria"/>
              </a:rPr>
              <a:t>+</a:t>
            </a:r>
            <a:r>
              <a:rPr sz="2800" spc="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"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:</a:t>
            </a:r>
            <a:r>
              <a:rPr sz="2800" spc="-14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"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+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i*i);</a:t>
            </a:r>
            <a:endParaRPr sz="2800">
              <a:latin typeface="Cambria"/>
              <a:cs typeface="Cambria"/>
            </a:endParaRPr>
          </a:p>
          <a:p>
            <a:pPr marL="723265">
              <a:lnSpc>
                <a:spcPct val="100000"/>
              </a:lnSpc>
            </a:pPr>
            <a:r>
              <a:rPr sz="2800" dirty="0">
                <a:latin typeface="Cambria"/>
                <a:cs typeface="Cambria"/>
              </a:rPr>
              <a:t>}</a:t>
            </a:r>
            <a:r>
              <a:rPr sz="2800" spc="40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while</a:t>
            </a:r>
            <a:r>
              <a:rPr sz="2800" spc="2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(i</a:t>
            </a:r>
            <a:r>
              <a:rPr sz="2800" spc="40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&lt;</a:t>
            </a:r>
            <a:r>
              <a:rPr sz="2800" spc="4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tableSize)</a:t>
            </a:r>
            <a:endParaRPr sz="2800">
              <a:latin typeface="Cambria"/>
              <a:cs typeface="Cambria"/>
            </a:endParaRPr>
          </a:p>
          <a:p>
            <a:pPr marL="368300">
              <a:lnSpc>
                <a:spcPct val="100000"/>
              </a:lnSpc>
            </a:pPr>
            <a:r>
              <a:rPr sz="2800" spc="-50" dirty="0">
                <a:latin typeface="Cambria"/>
                <a:cs typeface="Cambria"/>
              </a:rPr>
              <a:t>}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latin typeface="Cambria"/>
                <a:cs typeface="Cambria"/>
              </a:rPr>
              <a:t>}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1746-BCAA-7935-CC96-66FEC728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F814F-B92B-B4B9-D3E6-51E96299C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2326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62661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990" y="904239"/>
            <a:ext cx="7594600" cy="12757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8067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145" dirty="0">
                <a:latin typeface="Times New Roman"/>
                <a:cs typeface="Times New Roman"/>
              </a:rPr>
              <a:t>Objects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contain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55" dirty="0">
                <a:latin typeface="Times New Roman"/>
                <a:cs typeface="Times New Roman"/>
              </a:rPr>
              <a:t>multiple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spc="-135" dirty="0">
                <a:latin typeface="Times New Roman"/>
                <a:cs typeface="Times New Roman"/>
              </a:rPr>
              <a:t>related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values</a:t>
            </a:r>
            <a:endParaRPr sz="3600">
              <a:latin typeface="Times New Roman"/>
              <a:cs typeface="Times New Roman"/>
            </a:endParaRPr>
          </a:p>
          <a:p>
            <a:pPr marL="285115" indent="-28067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310" dirty="0">
                <a:latin typeface="Times New Roman"/>
                <a:cs typeface="Times New Roman"/>
              </a:rPr>
              <a:t>Values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indexed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285" dirty="0">
                <a:latin typeface="Times New Roman"/>
                <a:cs typeface="Times New Roman"/>
              </a:rPr>
              <a:t>by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290" dirty="0">
                <a:latin typeface="Times New Roman"/>
                <a:cs typeface="Times New Roman"/>
              </a:rPr>
              <a:t>a</a:t>
            </a:r>
            <a:r>
              <a:rPr sz="3600" spc="-95" dirty="0">
                <a:latin typeface="Times New Roman"/>
                <a:cs typeface="Times New Roman"/>
              </a:rPr>
              <a:t> property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spc="-220" dirty="0">
                <a:latin typeface="Times New Roman"/>
                <a:cs typeface="Times New Roman"/>
              </a:rPr>
              <a:t>name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or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70" dirty="0">
                <a:latin typeface="Times New Roman"/>
                <a:cs typeface="Times New Roman"/>
              </a:rPr>
              <a:t>string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6394" y="2627630"/>
            <a:ext cx="351790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marR="192405" indent="-266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var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student1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50" dirty="0">
                <a:latin typeface="Times New Roman"/>
                <a:cs typeface="Times New Roman"/>
              </a:rPr>
              <a:t>{ </a:t>
            </a:r>
            <a:r>
              <a:rPr sz="2800" dirty="0">
                <a:latin typeface="Times New Roman"/>
                <a:cs typeface="Times New Roman"/>
              </a:rPr>
              <a:t>"firstName"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"John",</a:t>
            </a:r>
            <a:endParaRPr sz="2800">
              <a:latin typeface="Times New Roman"/>
              <a:cs typeface="Times New Roman"/>
            </a:endParaRPr>
          </a:p>
          <a:p>
            <a:pPr marL="3683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"lastName"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"Smith",</a:t>
            </a:r>
            <a:endParaRPr sz="2800">
              <a:latin typeface="Times New Roman"/>
              <a:cs typeface="Times New Roman"/>
            </a:endParaRPr>
          </a:p>
          <a:p>
            <a:pPr marL="3683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"year"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10" dirty="0">
                <a:latin typeface="Times New Roman"/>
                <a:cs typeface="Times New Roman"/>
              </a:rPr>
              <a:t> "sophomore",</a:t>
            </a:r>
            <a:endParaRPr sz="2800">
              <a:latin typeface="Times New Roman"/>
              <a:cs typeface="Times New Roman"/>
            </a:endParaRPr>
          </a:p>
          <a:p>
            <a:pPr marL="3683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"major"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 </a:t>
            </a:r>
            <a:r>
              <a:rPr sz="2800" spc="-10" dirty="0">
                <a:latin typeface="Times New Roman"/>
                <a:cs typeface="Times New Roman"/>
              </a:rPr>
              <a:t>"CSE"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25" dirty="0">
                <a:latin typeface="Times New Roman"/>
                <a:cs typeface="Times New Roman"/>
              </a:rPr>
              <a:t>};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241" y="3529838"/>
            <a:ext cx="952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Properties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22070" y="3257930"/>
            <a:ext cx="858519" cy="454025"/>
          </a:xfrm>
          <a:custGeom>
            <a:avLst/>
            <a:gdLst/>
            <a:ahLst/>
            <a:cxnLst/>
            <a:rect l="l" t="t" r="r" b="b"/>
            <a:pathLst>
              <a:path w="858519" h="454025">
                <a:moveTo>
                  <a:pt x="858012" y="0"/>
                </a:moveTo>
                <a:lnTo>
                  <a:pt x="772795" y="381"/>
                </a:lnTo>
                <a:lnTo>
                  <a:pt x="784275" y="23101"/>
                </a:lnTo>
                <a:lnTo>
                  <a:pt x="0" y="420116"/>
                </a:lnTo>
                <a:lnTo>
                  <a:pt x="5283" y="430644"/>
                </a:lnTo>
                <a:lnTo>
                  <a:pt x="6223" y="454025"/>
                </a:lnTo>
                <a:lnTo>
                  <a:pt x="782320" y="422046"/>
                </a:lnTo>
                <a:lnTo>
                  <a:pt x="783336" y="447294"/>
                </a:lnTo>
                <a:lnTo>
                  <a:pt x="858012" y="406146"/>
                </a:lnTo>
                <a:lnTo>
                  <a:pt x="835672" y="396113"/>
                </a:lnTo>
                <a:lnTo>
                  <a:pt x="780288" y="371221"/>
                </a:lnTo>
                <a:lnTo>
                  <a:pt x="781278" y="396113"/>
                </a:lnTo>
                <a:lnTo>
                  <a:pt x="781304" y="396646"/>
                </a:lnTo>
                <a:lnTo>
                  <a:pt x="42557" y="427088"/>
                </a:lnTo>
                <a:lnTo>
                  <a:pt x="795731" y="45758"/>
                </a:lnTo>
                <a:lnTo>
                  <a:pt x="807212" y="68453"/>
                </a:lnTo>
                <a:lnTo>
                  <a:pt x="845096" y="17399"/>
                </a:lnTo>
                <a:lnTo>
                  <a:pt x="858012" y="0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12000" y="3582161"/>
            <a:ext cx="635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imes New Roman"/>
                <a:cs typeface="Times New Roman"/>
              </a:rPr>
              <a:t>Values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86781" y="3334765"/>
            <a:ext cx="1549400" cy="444500"/>
          </a:xfrm>
          <a:custGeom>
            <a:avLst/>
            <a:gdLst/>
            <a:ahLst/>
            <a:cxnLst/>
            <a:rect l="l" t="t" r="r" b="b"/>
            <a:pathLst>
              <a:path w="1549400" h="444500">
                <a:moveTo>
                  <a:pt x="1549400" y="394335"/>
                </a:moveTo>
                <a:lnTo>
                  <a:pt x="1546352" y="393573"/>
                </a:lnTo>
                <a:lnTo>
                  <a:pt x="76987" y="24701"/>
                </a:lnTo>
                <a:lnTo>
                  <a:pt x="77762" y="21590"/>
                </a:lnTo>
                <a:lnTo>
                  <a:pt x="83185" y="0"/>
                </a:lnTo>
                <a:lnTo>
                  <a:pt x="0" y="18415"/>
                </a:lnTo>
                <a:lnTo>
                  <a:pt x="64643" y="73914"/>
                </a:lnTo>
                <a:lnTo>
                  <a:pt x="70815" y="49314"/>
                </a:lnTo>
                <a:lnTo>
                  <a:pt x="1442123" y="393573"/>
                </a:lnTo>
                <a:lnTo>
                  <a:pt x="228600" y="393573"/>
                </a:lnTo>
                <a:lnTo>
                  <a:pt x="228600" y="368173"/>
                </a:lnTo>
                <a:lnTo>
                  <a:pt x="152400" y="406273"/>
                </a:lnTo>
                <a:lnTo>
                  <a:pt x="228600" y="444373"/>
                </a:lnTo>
                <a:lnTo>
                  <a:pt x="228600" y="418973"/>
                </a:lnTo>
                <a:lnTo>
                  <a:pt x="1543304" y="418973"/>
                </a:lnTo>
                <a:lnTo>
                  <a:pt x="1546352" y="418973"/>
                </a:lnTo>
                <a:lnTo>
                  <a:pt x="1546352" y="406654"/>
                </a:lnTo>
                <a:lnTo>
                  <a:pt x="1549400" y="394335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66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838421"/>
            <a:ext cx="7377430" cy="55943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84480" indent="-280670">
              <a:lnSpc>
                <a:spcPct val="100000"/>
              </a:lnSpc>
              <a:spcBef>
                <a:spcPts val="50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90" dirty="0">
                <a:latin typeface="Times New Roman"/>
                <a:cs typeface="Times New Roman"/>
              </a:rPr>
              <a:t>Property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values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can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be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set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accessed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using:</a:t>
            </a:r>
            <a:endParaRPr sz="3200">
              <a:latin typeface="Times New Roman"/>
              <a:cs typeface="Times New Roman"/>
            </a:endParaRPr>
          </a:p>
          <a:p>
            <a:pPr marL="559435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59435" algn="l"/>
              </a:tabLst>
            </a:pPr>
            <a:r>
              <a:rPr sz="3200" spc="-90" dirty="0">
                <a:latin typeface="Times New Roman"/>
                <a:cs typeface="Times New Roman"/>
              </a:rPr>
              <a:t>Dot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notation</a:t>
            </a:r>
            <a:endParaRPr sz="3200">
              <a:latin typeface="Times New Roman"/>
              <a:cs typeface="Times New Roman"/>
            </a:endParaRPr>
          </a:p>
          <a:p>
            <a:pPr marL="560070" marR="5080" lvl="1" indent="-30226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60070" algn="l"/>
              </a:tabLst>
            </a:pPr>
            <a:r>
              <a:rPr sz="3200" spc="-190" dirty="0">
                <a:latin typeface="Times New Roman"/>
                <a:cs typeface="Times New Roman"/>
              </a:rPr>
              <a:t>Bracket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notation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Must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imes New Roman"/>
                <a:cs typeface="Times New Roman"/>
              </a:rPr>
              <a:t>use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this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method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Times New Roman"/>
                <a:cs typeface="Times New Roman"/>
              </a:rPr>
              <a:t>if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the </a:t>
            </a:r>
            <a:r>
              <a:rPr sz="3200" spc="-75" dirty="0">
                <a:latin typeface="Times New Roman"/>
                <a:cs typeface="Times New Roman"/>
              </a:rPr>
              <a:t>'property'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contains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space</a:t>
            </a:r>
            <a:endParaRPr sz="3200">
              <a:latin typeface="Times New Roman"/>
              <a:cs typeface="Times New Roman"/>
            </a:endParaRPr>
          </a:p>
          <a:p>
            <a:pPr marL="1155700">
              <a:lnSpc>
                <a:spcPct val="100000"/>
              </a:lnSpc>
              <a:spcBef>
                <a:spcPts val="400"/>
              </a:spcBef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Dot </a:t>
            </a:r>
            <a:r>
              <a:rPr sz="2800" spc="-10" dirty="0">
                <a:latin typeface="Times New Roman"/>
                <a:cs typeface="Times New Roman"/>
              </a:rPr>
              <a:t>notation</a:t>
            </a:r>
            <a:endParaRPr sz="2800">
              <a:latin typeface="Times New Roman"/>
              <a:cs typeface="Times New Roman"/>
            </a:endParaRPr>
          </a:p>
          <a:p>
            <a:pPr marL="1155700" marR="205422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fName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10" dirty="0">
                <a:latin typeface="Times New Roman"/>
                <a:cs typeface="Times New Roman"/>
              </a:rPr>
              <a:t>student1.firstName; </a:t>
            </a:r>
            <a:r>
              <a:rPr sz="2800" dirty="0">
                <a:latin typeface="Times New Roman"/>
                <a:cs typeface="Times New Roman"/>
              </a:rPr>
              <a:t>student1.year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"Junior";</a:t>
            </a:r>
            <a:endParaRPr sz="2800">
              <a:latin typeface="Times New Roman"/>
              <a:cs typeface="Times New Roman"/>
            </a:endParaRPr>
          </a:p>
          <a:p>
            <a:pPr marL="1155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Bracket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notation</a:t>
            </a:r>
            <a:endParaRPr sz="2800">
              <a:latin typeface="Times New Roman"/>
              <a:cs typeface="Times New Roman"/>
            </a:endParaRPr>
          </a:p>
          <a:p>
            <a:pPr marL="1155700" marR="171831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lName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10" dirty="0">
                <a:latin typeface="Times New Roman"/>
                <a:cs typeface="Times New Roman"/>
              </a:rPr>
              <a:t>student1["lastName"]; </a:t>
            </a:r>
            <a:r>
              <a:rPr sz="2800" dirty="0">
                <a:latin typeface="Times New Roman"/>
                <a:cs typeface="Times New Roman"/>
              </a:rPr>
              <a:t>student1["major"]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"ISE"; </a:t>
            </a:r>
            <a:r>
              <a:rPr sz="2800" dirty="0">
                <a:latin typeface="Times New Roman"/>
                <a:cs typeface="Times New Roman"/>
              </a:rPr>
              <a:t>property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"gradYear"; </a:t>
            </a:r>
            <a:r>
              <a:rPr sz="2800" dirty="0">
                <a:latin typeface="Times New Roman"/>
                <a:cs typeface="Times New Roman"/>
              </a:rPr>
              <a:t>student1[property]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2020;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62661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Objects</a:t>
            </a: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66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58286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JavaScript</a:t>
            </a:r>
            <a:r>
              <a:rPr spc="-130" dirty="0"/>
              <a:t> </a:t>
            </a:r>
            <a:r>
              <a:rPr dirty="0"/>
              <a:t>-</a:t>
            </a:r>
            <a:r>
              <a:rPr spc="-114" dirty="0"/>
              <a:t> </a:t>
            </a:r>
            <a:r>
              <a:rPr spc="-95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990" y="806703"/>
            <a:ext cx="8221980" cy="48209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8067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235" dirty="0">
                <a:latin typeface="Times New Roman"/>
                <a:cs typeface="Times New Roman"/>
              </a:rPr>
              <a:t>Arrays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85" dirty="0">
                <a:latin typeface="Times New Roman"/>
                <a:cs typeface="Times New Roman"/>
              </a:rPr>
              <a:t>hold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55" dirty="0">
                <a:latin typeface="Times New Roman"/>
                <a:cs typeface="Times New Roman"/>
              </a:rPr>
              <a:t>multiple</a:t>
            </a:r>
            <a:r>
              <a:rPr sz="3600" spc="-40" dirty="0">
                <a:latin typeface="Times New Roman"/>
                <a:cs typeface="Times New Roman"/>
              </a:rPr>
              <a:t> values</a:t>
            </a:r>
            <a:endParaRPr sz="3600" dirty="0">
              <a:latin typeface="Times New Roman"/>
              <a:cs typeface="Times New Roman"/>
            </a:endParaRPr>
          </a:p>
          <a:p>
            <a:pPr marL="285115" marR="5080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170" dirty="0">
                <a:latin typeface="Times New Roman"/>
                <a:cs typeface="Times New Roman"/>
              </a:rPr>
              <a:t>Collections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150" dirty="0">
                <a:latin typeface="Times New Roman"/>
                <a:cs typeface="Times New Roman"/>
              </a:rPr>
              <a:t>are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200" dirty="0">
                <a:latin typeface="Times New Roman"/>
                <a:cs typeface="Times New Roman"/>
              </a:rPr>
              <a:t>specified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in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spc="-195" dirty="0">
                <a:latin typeface="Times New Roman"/>
                <a:cs typeface="Times New Roman"/>
              </a:rPr>
              <a:t>square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170" dirty="0">
                <a:latin typeface="Times New Roman"/>
                <a:cs typeface="Times New Roman"/>
              </a:rPr>
              <a:t>brackets</a:t>
            </a:r>
            <a:r>
              <a:rPr sz="3600" spc="-50" dirty="0">
                <a:latin typeface="Times New Roman"/>
                <a:cs typeface="Times New Roman"/>
              </a:rPr>
              <a:t> with </a:t>
            </a:r>
            <a:r>
              <a:rPr sz="3600" spc="-245" dirty="0">
                <a:latin typeface="Times New Roman"/>
                <a:cs typeface="Times New Roman"/>
              </a:rPr>
              <a:t>comma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165" dirty="0">
                <a:latin typeface="Times New Roman"/>
                <a:cs typeface="Times New Roman"/>
              </a:rPr>
              <a:t>separated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values</a:t>
            </a:r>
            <a:endParaRPr sz="3600" dirty="0">
              <a:latin typeface="Times New Roman"/>
              <a:cs typeface="Times New Roman"/>
            </a:endParaRPr>
          </a:p>
          <a:p>
            <a:pPr marL="410209">
              <a:lnSpc>
                <a:spcPct val="100000"/>
              </a:lnSpc>
              <a:spcBef>
                <a:spcPts val="400"/>
              </a:spcBef>
            </a:pPr>
            <a:r>
              <a:rPr sz="3600" spc="-180" dirty="0">
                <a:latin typeface="Times New Roman"/>
                <a:cs typeface="Times New Roman"/>
              </a:rPr>
              <a:t>array1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360" dirty="0">
                <a:latin typeface="Times New Roman"/>
                <a:cs typeface="Times New Roman"/>
              </a:rPr>
              <a:t>=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00" dirty="0">
                <a:latin typeface="Times New Roman"/>
                <a:cs typeface="Times New Roman"/>
              </a:rPr>
              <a:t>[0,</a:t>
            </a:r>
            <a:r>
              <a:rPr sz="3600" spc="-2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1,</a:t>
            </a:r>
            <a:r>
              <a:rPr sz="3600" spc="-2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4,</a:t>
            </a:r>
            <a:r>
              <a:rPr sz="3600" spc="-220" dirty="0">
                <a:latin typeface="Times New Roman"/>
                <a:cs typeface="Times New Roman"/>
              </a:rPr>
              <a:t> </a:t>
            </a:r>
            <a:r>
              <a:rPr sz="3600" spc="-170" dirty="0">
                <a:latin typeface="Times New Roman"/>
                <a:cs typeface="Times New Roman"/>
              </a:rPr>
              <a:t>9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,16,</a:t>
            </a:r>
            <a:r>
              <a:rPr sz="3600" spc="-22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25]</a:t>
            </a:r>
            <a:endParaRPr sz="3600" dirty="0">
              <a:latin typeface="Times New Roman"/>
              <a:cs typeface="Times New Roman"/>
            </a:endParaRPr>
          </a:p>
          <a:p>
            <a:pPr marL="410209">
              <a:lnSpc>
                <a:spcPct val="100000"/>
              </a:lnSpc>
              <a:spcBef>
                <a:spcPts val="395"/>
              </a:spcBef>
            </a:pPr>
            <a:r>
              <a:rPr sz="3600" spc="-180" dirty="0">
                <a:latin typeface="Times New Roman"/>
                <a:cs typeface="Times New Roman"/>
              </a:rPr>
              <a:t>array2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360" dirty="0">
                <a:latin typeface="Times New Roman"/>
                <a:cs typeface="Times New Roman"/>
              </a:rPr>
              <a:t>=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130" dirty="0">
                <a:latin typeface="Times New Roman"/>
                <a:cs typeface="Times New Roman"/>
              </a:rPr>
              <a:t>["John",</a:t>
            </a:r>
            <a:r>
              <a:rPr sz="3600" spc="-2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1,</a:t>
            </a:r>
            <a:r>
              <a:rPr sz="3600" spc="-200" dirty="0">
                <a:latin typeface="Times New Roman"/>
                <a:cs typeface="Times New Roman"/>
              </a:rPr>
              <a:t> </a:t>
            </a:r>
            <a:r>
              <a:rPr sz="3600" spc="-135" dirty="0">
                <a:latin typeface="Times New Roman"/>
                <a:cs typeface="Times New Roman"/>
              </a:rPr>
              <a:t>"Mary",</a:t>
            </a:r>
            <a:r>
              <a:rPr sz="3600" spc="-21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2]</a:t>
            </a:r>
            <a:endParaRPr sz="3600" dirty="0">
              <a:latin typeface="Times New Roman"/>
              <a:cs typeface="Times New Roman"/>
            </a:endParaRPr>
          </a:p>
          <a:p>
            <a:pPr marL="410209" marR="197485" indent="206375">
              <a:lnSpc>
                <a:spcPct val="109300"/>
              </a:lnSpc>
              <a:spcBef>
                <a:spcPts val="5"/>
              </a:spcBef>
            </a:pPr>
            <a:r>
              <a:rPr sz="3600" spc="800" dirty="0">
                <a:latin typeface="Times New Roman"/>
                <a:cs typeface="Times New Roman"/>
              </a:rPr>
              <a:t>//</a:t>
            </a:r>
            <a:r>
              <a:rPr sz="3600" spc="-345" dirty="0">
                <a:latin typeface="Times New Roman"/>
                <a:cs typeface="Times New Roman"/>
              </a:rPr>
              <a:t> </a:t>
            </a:r>
            <a:r>
              <a:rPr sz="3600" spc="-235" dirty="0">
                <a:latin typeface="Times New Roman"/>
                <a:cs typeface="Times New Roman"/>
              </a:rPr>
              <a:t>Arrays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in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235" dirty="0">
                <a:latin typeface="Times New Roman"/>
                <a:cs typeface="Times New Roman"/>
              </a:rPr>
              <a:t>JavaScript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240" dirty="0">
                <a:latin typeface="Times New Roman"/>
                <a:cs typeface="Times New Roman"/>
              </a:rPr>
              <a:t>can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70" dirty="0">
                <a:latin typeface="Times New Roman"/>
                <a:cs typeface="Times New Roman"/>
              </a:rPr>
              <a:t>be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40" dirty="0">
                <a:latin typeface="Times New Roman"/>
                <a:cs typeface="Times New Roman"/>
              </a:rPr>
              <a:t>heterogeneous </a:t>
            </a:r>
            <a:r>
              <a:rPr sz="3600" spc="-180" dirty="0">
                <a:latin typeface="Times New Roman"/>
                <a:cs typeface="Times New Roman"/>
              </a:rPr>
              <a:t>array3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360" dirty="0">
                <a:latin typeface="Times New Roman"/>
                <a:cs typeface="Times New Roman"/>
              </a:rPr>
              <a:t>=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50" dirty="0">
                <a:latin typeface="Times New Roman"/>
                <a:cs typeface="Times New Roman"/>
              </a:rPr>
              <a:t>[[2,</a:t>
            </a:r>
            <a:r>
              <a:rPr sz="3600" spc="-2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3,</a:t>
            </a:r>
            <a:r>
              <a:rPr sz="3600" spc="-210" dirty="0">
                <a:latin typeface="Times New Roman"/>
                <a:cs typeface="Times New Roman"/>
              </a:rPr>
              <a:t> </a:t>
            </a:r>
            <a:r>
              <a:rPr sz="3600" spc="-100" dirty="0">
                <a:latin typeface="Times New Roman"/>
                <a:cs typeface="Times New Roman"/>
              </a:rPr>
              <a:t>4],</a:t>
            </a:r>
            <a:r>
              <a:rPr sz="3600" spc="-215" dirty="0">
                <a:latin typeface="Times New Roman"/>
                <a:cs typeface="Times New Roman"/>
              </a:rPr>
              <a:t> </a:t>
            </a:r>
            <a:r>
              <a:rPr sz="3600" spc="-100" dirty="0">
                <a:latin typeface="Times New Roman"/>
                <a:cs typeface="Times New Roman"/>
              </a:rPr>
              <a:t>[1,</a:t>
            </a:r>
            <a:r>
              <a:rPr sz="3600" spc="-20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5,</a:t>
            </a:r>
            <a:r>
              <a:rPr sz="3600" spc="-215" dirty="0">
                <a:latin typeface="Times New Roman"/>
                <a:cs typeface="Times New Roman"/>
              </a:rPr>
              <a:t> </a:t>
            </a:r>
            <a:r>
              <a:rPr sz="3600" spc="-120" dirty="0">
                <a:latin typeface="Times New Roman"/>
                <a:cs typeface="Times New Roman"/>
              </a:rPr>
              <a:t>10],</a:t>
            </a:r>
            <a:r>
              <a:rPr sz="3600" spc="-210" dirty="0">
                <a:latin typeface="Times New Roman"/>
                <a:cs typeface="Times New Roman"/>
              </a:rPr>
              <a:t> </a:t>
            </a:r>
            <a:r>
              <a:rPr sz="3600" spc="-100" dirty="0">
                <a:latin typeface="Times New Roman"/>
                <a:cs typeface="Times New Roman"/>
              </a:rPr>
              <a:t>[2,</a:t>
            </a:r>
            <a:r>
              <a:rPr sz="3600" spc="-21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20]]</a:t>
            </a:r>
            <a:endParaRPr sz="3600" dirty="0">
              <a:latin typeface="Times New Roman"/>
              <a:cs typeface="Times New Roman"/>
            </a:endParaRPr>
          </a:p>
          <a:p>
            <a:pPr marL="513080">
              <a:lnSpc>
                <a:spcPct val="100000"/>
              </a:lnSpc>
              <a:spcBef>
                <a:spcPts val="395"/>
              </a:spcBef>
            </a:pPr>
            <a:r>
              <a:rPr sz="3600" spc="800" dirty="0">
                <a:latin typeface="Times New Roman"/>
                <a:cs typeface="Times New Roman"/>
              </a:rPr>
              <a:t>//</a:t>
            </a:r>
            <a:r>
              <a:rPr sz="3600" spc="-340" dirty="0">
                <a:latin typeface="Times New Roman"/>
                <a:cs typeface="Times New Roman"/>
              </a:rPr>
              <a:t> </a:t>
            </a:r>
            <a:r>
              <a:rPr sz="3600" spc="-235" dirty="0">
                <a:latin typeface="Times New Roman"/>
                <a:cs typeface="Times New Roman"/>
              </a:rPr>
              <a:t>Arrays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240" dirty="0">
                <a:latin typeface="Times New Roman"/>
                <a:cs typeface="Times New Roman"/>
              </a:rPr>
              <a:t>can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85" dirty="0">
                <a:latin typeface="Times New Roman"/>
                <a:cs typeface="Times New Roman"/>
              </a:rPr>
              <a:t>hold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35" dirty="0">
                <a:latin typeface="Times New Roman"/>
                <a:cs typeface="Times New Roman"/>
              </a:rPr>
              <a:t>arrays!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66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704" y="985774"/>
            <a:ext cx="8525510" cy="5375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845" marR="315595" indent="-28067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5115" algn="l"/>
              </a:tabLst>
            </a:pPr>
            <a:r>
              <a:rPr sz="3200" spc="-160" dirty="0">
                <a:latin typeface="Times New Roman"/>
                <a:cs typeface="Times New Roman"/>
              </a:rPr>
              <a:t>Element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values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can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be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indexed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with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single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integer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in 	</a:t>
            </a:r>
            <a:r>
              <a:rPr sz="3200" spc="-175" dirty="0">
                <a:latin typeface="Times New Roman"/>
                <a:cs typeface="Times New Roman"/>
              </a:rPr>
              <a:t>square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brackets</a:t>
            </a:r>
            <a:endParaRPr sz="3200" dirty="0">
              <a:latin typeface="Times New Roman"/>
              <a:cs typeface="Times New Roman"/>
            </a:endParaRPr>
          </a:p>
          <a:p>
            <a:pPr marL="716915" lvl="1" indent="-289560">
              <a:lnSpc>
                <a:spcPct val="100000"/>
              </a:lnSpc>
              <a:spcBef>
                <a:spcPts val="844"/>
              </a:spcBef>
              <a:buChar char="&gt;"/>
              <a:tabLst>
                <a:tab pos="716915" algn="l"/>
              </a:tabLst>
            </a:pPr>
            <a:r>
              <a:rPr sz="2800" dirty="0">
                <a:latin typeface="Times New Roman"/>
                <a:cs typeface="Times New Roman"/>
              </a:rPr>
              <a:t>array1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[0,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9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,16,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25]</a:t>
            </a:r>
            <a:endParaRPr sz="2800" dirty="0">
              <a:latin typeface="Times New Roman"/>
              <a:cs typeface="Times New Roman"/>
            </a:endParaRPr>
          </a:p>
          <a:p>
            <a:pPr marL="42735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[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9, 16, 25 </a:t>
            </a:r>
            <a:r>
              <a:rPr sz="2800" spc="-50" dirty="0">
                <a:latin typeface="Times New Roman"/>
                <a:cs typeface="Times New Roman"/>
              </a:rPr>
              <a:t>]</a:t>
            </a:r>
            <a:endParaRPr sz="2800" dirty="0">
              <a:latin typeface="Times New Roman"/>
              <a:cs typeface="Times New Roman"/>
            </a:endParaRPr>
          </a:p>
          <a:p>
            <a:pPr marL="427355" marR="5921375" lvl="1" indent="289560">
              <a:lnSpc>
                <a:spcPct val="100000"/>
              </a:lnSpc>
              <a:buChar char="&gt;"/>
              <a:tabLst>
                <a:tab pos="716915" algn="l"/>
              </a:tabLst>
            </a:pPr>
            <a:r>
              <a:rPr sz="2800" dirty="0">
                <a:latin typeface="Times New Roman"/>
                <a:cs typeface="Times New Roman"/>
              </a:rPr>
              <a:t>array1[0]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50" dirty="0">
                <a:latin typeface="Times New Roman"/>
                <a:cs typeface="Times New Roman"/>
              </a:rPr>
              <a:t> 1 1</a:t>
            </a:r>
            <a:endParaRPr sz="2800" dirty="0">
              <a:latin typeface="Times New Roman"/>
              <a:cs typeface="Times New Roman"/>
            </a:endParaRPr>
          </a:p>
          <a:p>
            <a:pPr marL="716915" lvl="1" indent="-289560">
              <a:lnSpc>
                <a:spcPct val="100000"/>
              </a:lnSpc>
              <a:buChar char="&gt;"/>
              <a:tabLst>
                <a:tab pos="716915" algn="l"/>
              </a:tabLst>
            </a:pPr>
            <a:r>
              <a:rPr sz="2800" spc="-10" dirty="0">
                <a:latin typeface="Times New Roman"/>
                <a:cs typeface="Times New Roman"/>
              </a:rPr>
              <a:t>array1</a:t>
            </a:r>
            <a:endParaRPr sz="2800" dirty="0">
              <a:latin typeface="Times New Roman"/>
              <a:cs typeface="Times New Roman"/>
            </a:endParaRPr>
          </a:p>
          <a:p>
            <a:pPr marL="42735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[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9, 16, 25 </a:t>
            </a:r>
            <a:r>
              <a:rPr sz="2800" spc="-50" dirty="0">
                <a:latin typeface="Times New Roman"/>
                <a:cs typeface="Times New Roman"/>
              </a:rPr>
              <a:t>]</a:t>
            </a:r>
            <a:endParaRPr sz="2800" dirty="0">
              <a:latin typeface="Times New Roman"/>
              <a:cs typeface="Times New Roman"/>
            </a:endParaRPr>
          </a:p>
          <a:p>
            <a:pPr marL="716915" lvl="1" indent="-289560">
              <a:lnSpc>
                <a:spcPct val="100000"/>
              </a:lnSpc>
              <a:spcBef>
                <a:spcPts val="5"/>
              </a:spcBef>
              <a:buChar char="&gt;"/>
              <a:tabLst>
                <a:tab pos="716915" algn="l"/>
              </a:tabLst>
            </a:pPr>
            <a:r>
              <a:rPr sz="2800" dirty="0">
                <a:latin typeface="Times New Roman"/>
                <a:cs typeface="Times New Roman"/>
              </a:rPr>
              <a:t>array2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["John",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"Mary",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2]</a:t>
            </a:r>
            <a:endParaRPr sz="2800" dirty="0">
              <a:latin typeface="Times New Roman"/>
              <a:cs typeface="Times New Roman"/>
            </a:endParaRPr>
          </a:p>
          <a:p>
            <a:pPr marL="715645" lvl="1" indent="-288290">
              <a:lnSpc>
                <a:spcPct val="100000"/>
              </a:lnSpc>
              <a:buChar char="&gt;"/>
              <a:tabLst>
                <a:tab pos="715645" algn="l"/>
                <a:tab pos="3787140" algn="l"/>
              </a:tabLst>
            </a:pPr>
            <a:r>
              <a:rPr sz="2800" dirty="0">
                <a:latin typeface="Times New Roman"/>
                <a:cs typeface="Times New Roman"/>
              </a:rPr>
              <a:t>aName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10" dirty="0">
                <a:latin typeface="Times New Roman"/>
                <a:cs typeface="Times New Roman"/>
              </a:rPr>
              <a:t>array2[2];</a:t>
            </a:r>
            <a:r>
              <a:rPr sz="2800" dirty="0">
                <a:latin typeface="Times New Roman"/>
                <a:cs typeface="Times New Roman"/>
              </a:rPr>
              <a:t>	//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Puts 'Mary'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aName</a:t>
            </a:r>
            <a:endParaRPr sz="2800" dirty="0">
              <a:latin typeface="Times New Roman"/>
              <a:cs typeface="Times New Roman"/>
            </a:endParaRPr>
          </a:p>
          <a:p>
            <a:pPr marL="716915" lvl="1" indent="-289560">
              <a:lnSpc>
                <a:spcPct val="100000"/>
              </a:lnSpc>
              <a:buChar char="&gt;"/>
              <a:tabLst>
                <a:tab pos="716915" algn="l"/>
              </a:tabLst>
            </a:pPr>
            <a:r>
              <a:rPr sz="2800" dirty="0">
                <a:latin typeface="Times New Roman"/>
                <a:cs typeface="Times New Roman"/>
              </a:rPr>
              <a:t>array3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[[2,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4],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[1,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10],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[2,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20],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[1,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7,</a:t>
            </a:r>
            <a:r>
              <a:rPr sz="2800" spc="-20" dirty="0">
                <a:latin typeface="Times New Roman"/>
                <a:cs typeface="Times New Roman"/>
              </a:rPr>
              <a:t> 11]]</a:t>
            </a:r>
            <a:endParaRPr sz="2800" dirty="0">
              <a:latin typeface="Times New Roman"/>
              <a:cs typeface="Times New Roman"/>
            </a:endParaRPr>
          </a:p>
          <a:p>
            <a:pPr marL="715645" lvl="1" indent="-288290">
              <a:lnSpc>
                <a:spcPct val="100000"/>
              </a:lnSpc>
              <a:buChar char="&gt;"/>
              <a:tabLst>
                <a:tab pos="715645" algn="l"/>
                <a:tab pos="4558665" algn="l"/>
              </a:tabLst>
            </a:pPr>
            <a:r>
              <a:rPr sz="2800" dirty="0">
                <a:latin typeface="Times New Roman"/>
                <a:cs typeface="Times New Roman"/>
              </a:rPr>
              <a:t>deepDive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10" dirty="0">
                <a:latin typeface="Times New Roman"/>
                <a:cs typeface="Times New Roman"/>
              </a:rPr>
              <a:t>array3[2][1];</a:t>
            </a:r>
            <a:r>
              <a:rPr sz="2800" dirty="0">
                <a:latin typeface="Times New Roman"/>
                <a:cs typeface="Times New Roman"/>
              </a:rPr>
              <a:t>	//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Puts 20 into </a:t>
            </a:r>
            <a:r>
              <a:rPr sz="2800" spc="-10" dirty="0">
                <a:latin typeface="Times New Roman"/>
                <a:cs typeface="Times New Roman"/>
              </a:rPr>
              <a:t>deepDive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58286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JavaScript</a:t>
            </a:r>
            <a:r>
              <a:rPr spc="-130" dirty="0"/>
              <a:t> </a:t>
            </a:r>
            <a:r>
              <a:rPr dirty="0"/>
              <a:t>-</a:t>
            </a:r>
            <a:r>
              <a:rPr spc="-114" dirty="0"/>
              <a:t> </a:t>
            </a:r>
            <a:r>
              <a:rPr spc="-95" dirty="0"/>
              <a:t>Arrays</a:t>
            </a: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66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3046" y="6468617"/>
            <a:ext cx="184785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00" dirty="0">
                <a:latin typeface="Arial MT"/>
                <a:cs typeface="Arial MT"/>
              </a:rPr>
              <a:t> 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1686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4400" spc="-30" dirty="0"/>
              <a:t>JavaScript</a:t>
            </a:r>
            <a:r>
              <a:rPr sz="4400" spc="-165" dirty="0"/>
              <a:t> </a:t>
            </a:r>
            <a:r>
              <a:rPr sz="4400" dirty="0"/>
              <a:t>–</a:t>
            </a:r>
            <a:r>
              <a:rPr sz="4400" spc="-145" dirty="0"/>
              <a:t> </a:t>
            </a:r>
            <a:r>
              <a:rPr sz="4400" spc="-75" dirty="0"/>
              <a:t>Arrays</a:t>
            </a:r>
            <a:r>
              <a:rPr sz="4400" spc="-135" dirty="0"/>
              <a:t> </a:t>
            </a:r>
            <a:r>
              <a:rPr sz="4400" spc="-40" dirty="0"/>
              <a:t>(array</a:t>
            </a:r>
            <a:r>
              <a:rPr sz="4400" spc="-155" dirty="0"/>
              <a:t> </a:t>
            </a:r>
            <a:r>
              <a:rPr sz="4400" spc="-10" dirty="0"/>
              <a:t>methods)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764540" y="939546"/>
            <a:ext cx="7746365" cy="5275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Array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(reference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type)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certain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array.</a:t>
            </a:r>
            <a:endParaRPr sz="1800" dirty="0">
              <a:latin typeface="Times New Roman"/>
              <a:cs typeface="Times New Roman"/>
            </a:endParaRPr>
          </a:p>
          <a:p>
            <a:pPr marL="227329" indent="-2146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27329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.push(newelement)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item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array</a:t>
            </a:r>
            <a:endParaRPr sz="1800" dirty="0">
              <a:latin typeface="Times New Roman"/>
              <a:cs typeface="Times New Roman"/>
            </a:endParaRPr>
          </a:p>
          <a:p>
            <a:pPr marL="227329" indent="-214629">
              <a:lnSpc>
                <a:spcPct val="100000"/>
              </a:lnSpc>
              <a:buFont typeface="Arial MT"/>
              <a:buChar char="•"/>
              <a:tabLst>
                <a:tab pos="227329" algn="l"/>
              </a:tabLst>
            </a:pPr>
            <a:r>
              <a:rPr sz="1800" b="1" dirty="0">
                <a:latin typeface="Times New Roman"/>
                <a:cs typeface="Times New Roman"/>
              </a:rPr>
              <a:t>.pop()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Removes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last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array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returns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it</a:t>
            </a:r>
            <a:endParaRPr sz="1800" dirty="0">
              <a:latin typeface="Times New Roman"/>
              <a:cs typeface="Times New Roman"/>
            </a:endParaRPr>
          </a:p>
          <a:p>
            <a:pPr marL="227329" indent="-214629">
              <a:lnSpc>
                <a:spcPct val="100000"/>
              </a:lnSpc>
              <a:buFont typeface="Arial MT"/>
              <a:buChar char="•"/>
              <a:tabLst>
                <a:tab pos="227329" algn="l"/>
              </a:tabLst>
            </a:pPr>
            <a:r>
              <a:rPr sz="1800" b="1" dirty="0">
                <a:latin typeface="Times New Roman"/>
                <a:cs typeface="Times New Roman"/>
              </a:rPr>
              <a:t>.shift()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removes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array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returns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it</a:t>
            </a:r>
            <a:endParaRPr sz="1800" dirty="0">
              <a:latin typeface="Times New Roman"/>
              <a:cs typeface="Times New Roman"/>
            </a:endParaRPr>
          </a:p>
          <a:p>
            <a:pPr marL="227329" indent="-214629">
              <a:lnSpc>
                <a:spcPct val="100000"/>
              </a:lnSpc>
              <a:buFont typeface="Arial MT"/>
              <a:buChar char="•"/>
              <a:tabLst>
                <a:tab pos="227329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.unshift(newelement)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beginning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array</a:t>
            </a:r>
            <a:endParaRPr sz="1800" dirty="0">
              <a:latin typeface="Times New Roman"/>
              <a:cs typeface="Times New Roman"/>
            </a:endParaRPr>
          </a:p>
          <a:p>
            <a:pPr marL="198755" indent="-186055">
              <a:lnSpc>
                <a:spcPct val="100000"/>
              </a:lnSpc>
              <a:buChar char="&gt;"/>
              <a:tabLst>
                <a:tab pos="198755" algn="l"/>
              </a:tabLst>
            </a:pPr>
            <a:r>
              <a:rPr sz="1800" dirty="0">
                <a:latin typeface="Times New Roman"/>
                <a:cs typeface="Times New Roman"/>
              </a:rPr>
              <a:t>array1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[0,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9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,16,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25]</a:t>
            </a:r>
            <a:endParaRPr sz="1800" dirty="0">
              <a:latin typeface="Times New Roman"/>
              <a:cs typeface="Times New Roman"/>
            </a:endParaRPr>
          </a:p>
          <a:p>
            <a:pPr marL="12700" marR="6200140" indent="186055">
              <a:lnSpc>
                <a:spcPct val="100000"/>
              </a:lnSpc>
              <a:buChar char="&gt;"/>
              <a:tabLst>
                <a:tab pos="198755" algn="l"/>
              </a:tabLst>
            </a:pPr>
            <a:r>
              <a:rPr sz="1800" spc="-10" dirty="0">
                <a:latin typeface="Times New Roman"/>
                <a:cs typeface="Times New Roman"/>
              </a:rPr>
              <a:t>array1.push(7) </a:t>
            </a:r>
            <a:r>
              <a:rPr sz="1800" spc="-50" dirty="0">
                <a:latin typeface="Times New Roman"/>
                <a:cs typeface="Times New Roman"/>
              </a:rPr>
              <a:t>7</a:t>
            </a:r>
            <a:endParaRPr sz="1800" dirty="0">
              <a:latin typeface="Times New Roman"/>
              <a:cs typeface="Times New Roman"/>
            </a:endParaRPr>
          </a:p>
          <a:p>
            <a:pPr marL="12700" marR="5743575" indent="186055">
              <a:lnSpc>
                <a:spcPct val="100000"/>
              </a:lnSpc>
              <a:buChar char="&gt;"/>
              <a:tabLst>
                <a:tab pos="198755" algn="l"/>
              </a:tabLst>
            </a:pP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console.log(array1)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0, 1, 4,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9, 16, 25,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7 </a:t>
            </a:r>
            <a:r>
              <a:rPr sz="1800" spc="-50" dirty="0">
                <a:latin typeface="Times New Roman"/>
                <a:cs typeface="Times New Roman"/>
              </a:rPr>
              <a:t>]</a:t>
            </a:r>
            <a:endParaRPr lang="en-US" sz="1800" spc="-50" dirty="0">
              <a:latin typeface="Times New Roman"/>
              <a:cs typeface="Times New Roman"/>
            </a:endParaRPr>
          </a:p>
          <a:p>
            <a:pPr marL="12700" marR="5743575" indent="186055">
              <a:lnSpc>
                <a:spcPct val="100000"/>
              </a:lnSpc>
              <a:buChar char="&gt;"/>
              <a:tabLst>
                <a:tab pos="198755" algn="l"/>
              </a:tabLst>
            </a:pPr>
            <a:r>
              <a:rPr lang="en-IN" spc="-50" dirty="0">
                <a:latin typeface="Times New Roman"/>
                <a:cs typeface="Times New Roman"/>
              </a:rPr>
              <a:t>Array1.push(35)</a:t>
            </a:r>
            <a:endParaRPr sz="1800" dirty="0">
              <a:latin typeface="Times New Roman"/>
              <a:cs typeface="Times New Roman"/>
            </a:endParaRPr>
          </a:p>
          <a:p>
            <a:pPr marL="12700" marR="6403340" indent="186055">
              <a:lnSpc>
                <a:spcPct val="100000"/>
              </a:lnSpc>
              <a:buChar char="&gt;"/>
              <a:tabLst>
                <a:tab pos="198755" algn="l"/>
              </a:tabLst>
            </a:pPr>
            <a:r>
              <a:rPr sz="1800" spc="-10" dirty="0">
                <a:latin typeface="Times New Roman"/>
                <a:cs typeface="Times New Roman"/>
              </a:rPr>
              <a:t>array1.pop() </a:t>
            </a:r>
            <a:r>
              <a:rPr sz="1800" spc="-50" dirty="0">
                <a:latin typeface="Times New Roman"/>
                <a:cs typeface="Times New Roman"/>
              </a:rPr>
              <a:t>7</a:t>
            </a:r>
            <a:endParaRPr sz="1800" dirty="0">
              <a:latin typeface="Times New Roman"/>
              <a:cs typeface="Times New Roman"/>
            </a:endParaRPr>
          </a:p>
          <a:p>
            <a:pPr marL="12700" marR="6339840" indent="186055">
              <a:lnSpc>
                <a:spcPct val="100000"/>
              </a:lnSpc>
              <a:buChar char="&gt;"/>
              <a:tabLst>
                <a:tab pos="198755" algn="l"/>
              </a:tabLst>
            </a:pPr>
            <a:r>
              <a:rPr sz="1800" spc="-10" dirty="0">
                <a:latin typeface="Times New Roman"/>
                <a:cs typeface="Times New Roman"/>
              </a:rPr>
              <a:t>array1.shift() </a:t>
            </a:r>
            <a:r>
              <a:rPr sz="1800" spc="-50" dirty="0">
                <a:latin typeface="Times New Roman"/>
                <a:cs typeface="Times New Roman"/>
              </a:rPr>
              <a:t>0</a:t>
            </a:r>
            <a:endParaRPr sz="1800" dirty="0">
              <a:latin typeface="Times New Roman"/>
              <a:cs typeface="Times New Roman"/>
            </a:endParaRPr>
          </a:p>
          <a:p>
            <a:pPr marL="198755" indent="-186055">
              <a:lnSpc>
                <a:spcPct val="100000"/>
              </a:lnSpc>
              <a:buChar char="&gt;"/>
              <a:tabLst>
                <a:tab pos="198755" algn="l"/>
              </a:tabLst>
            </a:pPr>
            <a:r>
              <a:rPr sz="1800" spc="-10" dirty="0">
                <a:latin typeface="Times New Roman"/>
                <a:cs typeface="Times New Roman"/>
              </a:rPr>
              <a:t>array1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1, 4, 9,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16, 25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]</a:t>
            </a:r>
            <a:endParaRPr sz="1800" dirty="0">
              <a:latin typeface="Times New Roman"/>
              <a:cs typeface="Times New Roman"/>
            </a:endParaRPr>
          </a:p>
          <a:p>
            <a:pPr marL="198755" indent="-186055">
              <a:lnSpc>
                <a:spcPct val="100000"/>
              </a:lnSpc>
              <a:buChar char="&gt;"/>
              <a:tabLst>
                <a:tab pos="198755" algn="l"/>
              </a:tabLst>
            </a:pPr>
            <a:r>
              <a:rPr sz="1800" spc="-10" dirty="0">
                <a:latin typeface="Times New Roman"/>
                <a:cs typeface="Times New Roman"/>
              </a:rPr>
              <a:t>array1.unshift(8)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594" y="5878067"/>
            <a:ext cx="781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//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lenght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5878067"/>
            <a:ext cx="17786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6</a:t>
            </a:r>
            <a:endParaRPr sz="1800">
              <a:latin typeface="Times New Roman"/>
              <a:cs typeface="Times New Roman"/>
            </a:endParaRPr>
          </a:p>
          <a:p>
            <a:pPr marL="198755" indent="-186055">
              <a:lnSpc>
                <a:spcPct val="100000"/>
              </a:lnSpc>
              <a:buChar char="&gt;"/>
              <a:tabLst>
                <a:tab pos="198755" algn="l"/>
              </a:tabLst>
            </a:pPr>
            <a:r>
              <a:rPr sz="1800" spc="-10" dirty="0">
                <a:latin typeface="Times New Roman"/>
                <a:cs typeface="Times New Roman"/>
              </a:rPr>
              <a:t>array1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8, 1, 4,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9, 16,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25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1111" y="6305550"/>
            <a:ext cx="2190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4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24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5400" spc="-35" dirty="0"/>
              <a:t>JavaScript</a:t>
            </a:r>
            <a:r>
              <a:rPr sz="5400" spc="-145" dirty="0"/>
              <a:t> </a:t>
            </a:r>
            <a:r>
              <a:rPr sz="5400" dirty="0"/>
              <a:t>–</a:t>
            </a:r>
            <a:r>
              <a:rPr sz="5400" spc="-120" dirty="0"/>
              <a:t> </a:t>
            </a:r>
            <a:r>
              <a:rPr sz="5400" spc="-25" dirty="0"/>
              <a:t>Functions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681990" y="959103"/>
            <a:ext cx="7903209" cy="30740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8067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195" dirty="0">
                <a:latin typeface="Times New Roman"/>
                <a:cs typeface="Times New Roman"/>
              </a:rPr>
              <a:t>Functions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240" dirty="0">
                <a:latin typeface="Times New Roman"/>
                <a:cs typeface="Times New Roman"/>
              </a:rPr>
              <a:t>can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80" dirty="0">
                <a:latin typeface="Times New Roman"/>
                <a:cs typeface="Times New Roman"/>
              </a:rPr>
              <a:t>hold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30" dirty="0">
                <a:latin typeface="Times New Roman"/>
                <a:cs typeface="Times New Roman"/>
              </a:rPr>
              <a:t>related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code</a:t>
            </a:r>
            <a:endParaRPr sz="3600">
              <a:latin typeface="Times New Roman"/>
              <a:cs typeface="Times New Roman"/>
            </a:endParaRPr>
          </a:p>
          <a:p>
            <a:pPr marL="285115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190" dirty="0">
                <a:latin typeface="Times New Roman"/>
                <a:cs typeface="Times New Roman"/>
              </a:rPr>
              <a:t>Defined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45" dirty="0">
                <a:latin typeface="Times New Roman"/>
                <a:cs typeface="Times New Roman"/>
              </a:rPr>
              <a:t>with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10" dirty="0">
                <a:latin typeface="Times New Roman"/>
                <a:cs typeface="Times New Roman"/>
              </a:rPr>
              <a:t>the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i="1" spc="-285" dirty="0">
                <a:latin typeface="Times New Roman"/>
                <a:cs typeface="Times New Roman"/>
              </a:rPr>
              <a:t>function</a:t>
            </a:r>
            <a:r>
              <a:rPr sz="3600" i="1" spc="-85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keyword</a:t>
            </a:r>
            <a:endParaRPr sz="3600">
              <a:latin typeface="Times New Roman"/>
              <a:cs typeface="Times New Roman"/>
            </a:endParaRPr>
          </a:p>
          <a:p>
            <a:pPr marL="285115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220" dirty="0">
                <a:latin typeface="Times New Roman"/>
                <a:cs typeface="Times New Roman"/>
              </a:rPr>
              <a:t>Can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80" dirty="0">
                <a:latin typeface="Times New Roman"/>
                <a:cs typeface="Times New Roman"/>
              </a:rPr>
              <a:t>take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55" dirty="0">
                <a:latin typeface="Times New Roman"/>
                <a:cs typeface="Times New Roman"/>
              </a:rPr>
              <a:t>arguments</a:t>
            </a:r>
            <a:endParaRPr sz="3600">
              <a:latin typeface="Times New Roman"/>
              <a:cs typeface="Times New Roman"/>
            </a:endParaRPr>
          </a:p>
          <a:p>
            <a:pPr marL="285115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220" dirty="0">
                <a:latin typeface="Times New Roman"/>
                <a:cs typeface="Times New Roman"/>
              </a:rPr>
              <a:t>Can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35" dirty="0">
                <a:latin typeface="Times New Roman"/>
                <a:cs typeface="Times New Roman"/>
              </a:rPr>
              <a:t>return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290" dirty="0">
                <a:latin typeface="Times New Roman"/>
                <a:cs typeface="Times New Roman"/>
              </a:rPr>
              <a:t>a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225" dirty="0">
                <a:latin typeface="Times New Roman"/>
                <a:cs typeface="Times New Roman"/>
              </a:rPr>
              <a:t>value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14" dirty="0">
                <a:latin typeface="Times New Roman"/>
                <a:cs typeface="Times New Roman"/>
              </a:rPr>
              <a:t>the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spc="-160" dirty="0">
                <a:latin typeface="Times New Roman"/>
                <a:cs typeface="Times New Roman"/>
              </a:rPr>
              <a:t>caller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45" dirty="0">
                <a:latin typeface="Times New Roman"/>
                <a:cs typeface="Times New Roman"/>
              </a:rPr>
              <a:t>with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110" dirty="0">
                <a:latin typeface="Times New Roman"/>
                <a:cs typeface="Times New Roman"/>
              </a:rPr>
              <a:t>the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i="1" spc="-335" dirty="0">
                <a:latin typeface="Times New Roman"/>
                <a:cs typeface="Times New Roman"/>
              </a:rPr>
              <a:t>return</a:t>
            </a:r>
            <a:endParaRPr sz="36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3600" spc="-65" dirty="0">
                <a:latin typeface="Times New Roman"/>
                <a:cs typeface="Times New Roman"/>
              </a:rPr>
              <a:t>keyword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55702"/>
            <a:ext cx="85667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62345" algn="l"/>
              </a:tabLst>
            </a:pPr>
            <a:r>
              <a:rPr sz="4800" spc="-30" dirty="0"/>
              <a:t>JavaScript</a:t>
            </a:r>
            <a:r>
              <a:rPr sz="4800" spc="-114" dirty="0"/>
              <a:t> </a:t>
            </a:r>
            <a:r>
              <a:rPr sz="4800" dirty="0"/>
              <a:t>–</a:t>
            </a:r>
            <a:r>
              <a:rPr sz="4800" spc="-110" dirty="0"/>
              <a:t> </a:t>
            </a:r>
            <a:r>
              <a:rPr sz="4800" spc="-10" dirty="0"/>
              <a:t>Examples:</a:t>
            </a:r>
            <a:r>
              <a:rPr sz="4800" dirty="0"/>
              <a:t>	</a:t>
            </a:r>
            <a:r>
              <a:rPr sz="4800" spc="-35" dirty="0"/>
              <a:t>Functions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35940" y="858774"/>
            <a:ext cx="4617085" cy="472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355" marR="1219835" indent="-288290">
              <a:lnSpc>
                <a:spcPct val="100000"/>
              </a:lnSpc>
              <a:spcBef>
                <a:spcPts val="105"/>
              </a:spcBef>
              <a:buChar char="&gt;"/>
              <a:tabLst>
                <a:tab pos="368300" algn="l"/>
              </a:tabLst>
            </a:pPr>
            <a:r>
              <a:rPr sz="2800" dirty="0">
                <a:latin typeface="Times New Roman"/>
                <a:cs typeface="Times New Roman"/>
              </a:rPr>
              <a:t>function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add5(arg1)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{ 	</a:t>
            </a: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10" dirty="0">
                <a:latin typeface="Times New Roman"/>
                <a:cs typeface="Times New Roman"/>
              </a:rPr>
              <a:t> arg1+5;</a:t>
            </a:r>
            <a:endParaRPr sz="2800" dirty="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12700" marR="1234440" indent="288290">
              <a:lnSpc>
                <a:spcPct val="100000"/>
              </a:lnSpc>
              <a:buChar char="&gt;"/>
              <a:tabLst>
                <a:tab pos="300990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console.log(add5(6)); </a:t>
            </a:r>
            <a:r>
              <a:rPr sz="2800" spc="-25" dirty="0">
                <a:latin typeface="Times New Roman"/>
                <a:cs typeface="Times New Roman"/>
              </a:rPr>
              <a:t>11</a:t>
            </a:r>
            <a:endParaRPr sz="2800" dirty="0">
              <a:latin typeface="Times New Roman"/>
              <a:cs typeface="Times New Roman"/>
            </a:endParaRPr>
          </a:p>
          <a:p>
            <a:pPr marL="301625" marR="5080" indent="-289560">
              <a:lnSpc>
                <a:spcPct val="100000"/>
              </a:lnSpc>
              <a:buChar char="&gt;"/>
              <a:tabLst>
                <a:tab pos="456565" algn="l"/>
              </a:tabLst>
            </a:pPr>
            <a:r>
              <a:rPr sz="2800" dirty="0">
                <a:latin typeface="Times New Roman"/>
                <a:cs typeface="Times New Roman"/>
              </a:rPr>
              <a:t>function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average(arg1,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arg2)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{ 	</a:t>
            </a:r>
            <a:r>
              <a:rPr sz="2800" dirty="0">
                <a:latin typeface="Times New Roman"/>
                <a:cs typeface="Times New Roman"/>
              </a:rPr>
              <a:t>var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(arg1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arg2)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2; 	</a:t>
            </a: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avg;</a:t>
            </a:r>
            <a:endParaRPr sz="2800" dirty="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12700" marR="200025" indent="288290">
              <a:lnSpc>
                <a:spcPct val="100000"/>
              </a:lnSpc>
              <a:buChar char="&gt;"/>
              <a:tabLst>
                <a:tab pos="300990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console.log(average(10,17)); </a:t>
            </a:r>
            <a:r>
              <a:rPr sz="2800" spc="-20" dirty="0">
                <a:latin typeface="Times New Roman"/>
                <a:cs typeface="Times New Roman"/>
              </a:rPr>
              <a:t>13.5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67936" y="1011427"/>
            <a:ext cx="2091055" cy="283210"/>
          </a:xfrm>
          <a:custGeom>
            <a:avLst/>
            <a:gdLst/>
            <a:ahLst/>
            <a:cxnLst/>
            <a:rect l="l" t="t" r="r" b="b"/>
            <a:pathLst>
              <a:path w="2091054" h="283209">
                <a:moveTo>
                  <a:pt x="77134" y="25206"/>
                </a:moveTo>
                <a:lnTo>
                  <a:pt x="74250" y="50483"/>
                </a:lnTo>
                <a:lnTo>
                  <a:pt x="2088134" y="283083"/>
                </a:lnTo>
                <a:lnTo>
                  <a:pt x="2091054" y="257810"/>
                </a:lnTo>
                <a:lnTo>
                  <a:pt x="77134" y="25206"/>
                </a:lnTo>
                <a:close/>
              </a:path>
              <a:path w="2091054" h="283209">
                <a:moveTo>
                  <a:pt x="80010" y="0"/>
                </a:moveTo>
                <a:lnTo>
                  <a:pt x="0" y="29083"/>
                </a:lnTo>
                <a:lnTo>
                  <a:pt x="71374" y="75692"/>
                </a:lnTo>
                <a:lnTo>
                  <a:pt x="74250" y="50483"/>
                </a:lnTo>
                <a:lnTo>
                  <a:pt x="61595" y="49022"/>
                </a:lnTo>
                <a:lnTo>
                  <a:pt x="64515" y="23749"/>
                </a:lnTo>
                <a:lnTo>
                  <a:pt x="77300" y="23749"/>
                </a:lnTo>
                <a:lnTo>
                  <a:pt x="80010" y="0"/>
                </a:lnTo>
                <a:close/>
              </a:path>
              <a:path w="2091054" h="283209">
                <a:moveTo>
                  <a:pt x="64515" y="23749"/>
                </a:moveTo>
                <a:lnTo>
                  <a:pt x="61595" y="49022"/>
                </a:lnTo>
                <a:lnTo>
                  <a:pt x="74250" y="50483"/>
                </a:lnTo>
                <a:lnTo>
                  <a:pt x="77134" y="25206"/>
                </a:lnTo>
                <a:lnTo>
                  <a:pt x="64515" y="23749"/>
                </a:lnTo>
                <a:close/>
              </a:path>
              <a:path w="2091054" h="283209">
                <a:moveTo>
                  <a:pt x="77300" y="23749"/>
                </a:moveTo>
                <a:lnTo>
                  <a:pt x="64515" y="23749"/>
                </a:lnTo>
                <a:lnTo>
                  <a:pt x="77134" y="25206"/>
                </a:lnTo>
                <a:lnTo>
                  <a:pt x="77300" y="23749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48380" y="1554099"/>
            <a:ext cx="2884170" cy="217170"/>
          </a:xfrm>
          <a:custGeom>
            <a:avLst/>
            <a:gdLst/>
            <a:ahLst/>
            <a:cxnLst/>
            <a:rect l="l" t="t" r="r" b="b"/>
            <a:pathLst>
              <a:path w="2884170" h="217169">
                <a:moveTo>
                  <a:pt x="76833" y="25389"/>
                </a:moveTo>
                <a:lnTo>
                  <a:pt x="75359" y="49911"/>
                </a:lnTo>
                <a:lnTo>
                  <a:pt x="75314" y="50663"/>
                </a:lnTo>
                <a:lnTo>
                  <a:pt x="2882265" y="216915"/>
                </a:lnTo>
                <a:lnTo>
                  <a:pt x="2883789" y="191515"/>
                </a:lnTo>
                <a:lnTo>
                  <a:pt x="76833" y="25389"/>
                </a:lnTo>
                <a:close/>
              </a:path>
              <a:path w="2884170" h="217169">
                <a:moveTo>
                  <a:pt x="78358" y="0"/>
                </a:moveTo>
                <a:lnTo>
                  <a:pt x="0" y="33527"/>
                </a:lnTo>
                <a:lnTo>
                  <a:pt x="73787" y="76073"/>
                </a:lnTo>
                <a:lnTo>
                  <a:pt x="75314" y="50663"/>
                </a:lnTo>
                <a:lnTo>
                  <a:pt x="62611" y="49911"/>
                </a:lnTo>
                <a:lnTo>
                  <a:pt x="64089" y="25389"/>
                </a:lnTo>
                <a:lnTo>
                  <a:pt x="64135" y="24637"/>
                </a:lnTo>
                <a:lnTo>
                  <a:pt x="76878" y="24637"/>
                </a:lnTo>
                <a:lnTo>
                  <a:pt x="78358" y="0"/>
                </a:lnTo>
                <a:close/>
              </a:path>
              <a:path w="2884170" h="217169">
                <a:moveTo>
                  <a:pt x="64135" y="24637"/>
                </a:moveTo>
                <a:lnTo>
                  <a:pt x="62611" y="49911"/>
                </a:lnTo>
                <a:lnTo>
                  <a:pt x="75314" y="50663"/>
                </a:lnTo>
                <a:lnTo>
                  <a:pt x="76833" y="25389"/>
                </a:lnTo>
                <a:lnTo>
                  <a:pt x="64135" y="24637"/>
                </a:lnTo>
                <a:close/>
              </a:path>
              <a:path w="2884170" h="217169">
                <a:moveTo>
                  <a:pt x="76878" y="24637"/>
                </a:moveTo>
                <a:lnTo>
                  <a:pt x="64135" y="24637"/>
                </a:lnTo>
                <a:lnTo>
                  <a:pt x="76833" y="25389"/>
                </a:lnTo>
                <a:lnTo>
                  <a:pt x="76878" y="24637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97497" y="3023615"/>
            <a:ext cx="1697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Takes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parameter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17795" y="3170554"/>
            <a:ext cx="1101725" cy="98425"/>
          </a:xfrm>
          <a:custGeom>
            <a:avLst/>
            <a:gdLst/>
            <a:ahLst/>
            <a:cxnLst/>
            <a:rect l="l" t="t" r="r" b="b"/>
            <a:pathLst>
              <a:path w="1101725" h="98425">
                <a:moveTo>
                  <a:pt x="74294" y="22352"/>
                </a:moveTo>
                <a:lnTo>
                  <a:pt x="0" y="64008"/>
                </a:lnTo>
                <a:lnTo>
                  <a:pt x="77850" y="98425"/>
                </a:lnTo>
                <a:lnTo>
                  <a:pt x="76693" y="73660"/>
                </a:lnTo>
                <a:lnTo>
                  <a:pt x="64007" y="73660"/>
                </a:lnTo>
                <a:lnTo>
                  <a:pt x="62864" y="48387"/>
                </a:lnTo>
                <a:lnTo>
                  <a:pt x="75484" y="47798"/>
                </a:lnTo>
                <a:lnTo>
                  <a:pt x="74294" y="22352"/>
                </a:lnTo>
                <a:close/>
              </a:path>
              <a:path w="1101725" h="98425">
                <a:moveTo>
                  <a:pt x="75484" y="47798"/>
                </a:moveTo>
                <a:lnTo>
                  <a:pt x="62864" y="48387"/>
                </a:lnTo>
                <a:lnTo>
                  <a:pt x="63981" y="73071"/>
                </a:lnTo>
                <a:lnTo>
                  <a:pt x="64007" y="73660"/>
                </a:lnTo>
                <a:lnTo>
                  <a:pt x="76665" y="73071"/>
                </a:lnTo>
                <a:lnTo>
                  <a:pt x="75511" y="48387"/>
                </a:lnTo>
                <a:lnTo>
                  <a:pt x="75484" y="47798"/>
                </a:lnTo>
                <a:close/>
              </a:path>
              <a:path w="1101725" h="98425">
                <a:moveTo>
                  <a:pt x="76665" y="73071"/>
                </a:moveTo>
                <a:lnTo>
                  <a:pt x="64007" y="73660"/>
                </a:lnTo>
                <a:lnTo>
                  <a:pt x="76693" y="73660"/>
                </a:lnTo>
                <a:lnTo>
                  <a:pt x="76665" y="73071"/>
                </a:lnTo>
                <a:close/>
              </a:path>
              <a:path w="1101725" h="98425">
                <a:moveTo>
                  <a:pt x="1100327" y="0"/>
                </a:moveTo>
                <a:lnTo>
                  <a:pt x="75484" y="47798"/>
                </a:lnTo>
                <a:lnTo>
                  <a:pt x="76665" y="73071"/>
                </a:lnTo>
                <a:lnTo>
                  <a:pt x="1101597" y="25400"/>
                </a:lnTo>
                <a:lnTo>
                  <a:pt x="1100327" y="0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10147" y="1059180"/>
            <a:ext cx="2095500" cy="1682114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indent="226060">
              <a:lnSpc>
                <a:spcPct val="100000"/>
              </a:lnSpc>
              <a:spcBef>
                <a:spcPts val="595"/>
              </a:spcBef>
            </a:pPr>
            <a:r>
              <a:rPr sz="1800" spc="-20" dirty="0">
                <a:latin typeface="Times New Roman"/>
                <a:cs typeface="Times New Roman"/>
              </a:rPr>
              <a:t>Takes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parameter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00"/>
              </a:spcBef>
            </a:pPr>
            <a:r>
              <a:rPr sz="1800" dirty="0">
                <a:latin typeface="Times New Roman"/>
                <a:cs typeface="Times New Roman"/>
              </a:rPr>
              <a:t>Returns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the </a:t>
            </a:r>
            <a:r>
              <a:rPr sz="1800" dirty="0">
                <a:latin typeface="Times New Roman"/>
                <a:cs typeface="Times New Roman"/>
              </a:rPr>
              <a:t>argument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  <a:p>
            <a:pPr marL="177800" marR="138430">
              <a:lnSpc>
                <a:spcPct val="100000"/>
              </a:lnSpc>
              <a:spcBef>
                <a:spcPts val="1245"/>
              </a:spcBef>
            </a:pPr>
            <a:r>
              <a:rPr sz="1800" dirty="0">
                <a:latin typeface="Times New Roman"/>
                <a:cs typeface="Times New Roman"/>
              </a:rPr>
              <a:t>Call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add5()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25" dirty="0">
                <a:latin typeface="Times New Roman"/>
                <a:cs typeface="Times New Roman"/>
              </a:rPr>
              <a:t> an </a:t>
            </a:r>
            <a:r>
              <a:rPr sz="1800" dirty="0">
                <a:latin typeface="Times New Roman"/>
                <a:cs typeface="Times New Roman"/>
              </a:rPr>
              <a:t>argument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6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62780" y="2326639"/>
            <a:ext cx="2134235" cy="151130"/>
          </a:xfrm>
          <a:custGeom>
            <a:avLst/>
            <a:gdLst/>
            <a:ahLst/>
            <a:cxnLst/>
            <a:rect l="l" t="t" r="r" b="b"/>
            <a:pathLst>
              <a:path w="2134235" h="151130">
                <a:moveTo>
                  <a:pt x="76751" y="25383"/>
                </a:moveTo>
                <a:lnTo>
                  <a:pt x="75553" y="50164"/>
                </a:lnTo>
                <a:lnTo>
                  <a:pt x="75523" y="50779"/>
                </a:lnTo>
                <a:lnTo>
                  <a:pt x="2132965" y="150622"/>
                </a:lnTo>
                <a:lnTo>
                  <a:pt x="2134235" y="125222"/>
                </a:lnTo>
                <a:lnTo>
                  <a:pt x="76751" y="25383"/>
                </a:lnTo>
                <a:close/>
              </a:path>
              <a:path w="2134235" h="151130">
                <a:moveTo>
                  <a:pt x="77978" y="0"/>
                </a:moveTo>
                <a:lnTo>
                  <a:pt x="0" y="34417"/>
                </a:lnTo>
                <a:lnTo>
                  <a:pt x="74295" y="76200"/>
                </a:lnTo>
                <a:lnTo>
                  <a:pt x="75523" y="50779"/>
                </a:lnTo>
                <a:lnTo>
                  <a:pt x="62865" y="50164"/>
                </a:lnTo>
                <a:lnTo>
                  <a:pt x="63980" y="25383"/>
                </a:lnTo>
                <a:lnTo>
                  <a:pt x="64008" y="24764"/>
                </a:lnTo>
                <a:lnTo>
                  <a:pt x="76781" y="24764"/>
                </a:lnTo>
                <a:lnTo>
                  <a:pt x="77978" y="0"/>
                </a:lnTo>
                <a:close/>
              </a:path>
              <a:path w="2134235" h="151130">
                <a:moveTo>
                  <a:pt x="64008" y="24764"/>
                </a:moveTo>
                <a:lnTo>
                  <a:pt x="62865" y="50164"/>
                </a:lnTo>
                <a:lnTo>
                  <a:pt x="75523" y="50779"/>
                </a:lnTo>
                <a:lnTo>
                  <a:pt x="76751" y="25383"/>
                </a:lnTo>
                <a:lnTo>
                  <a:pt x="64008" y="24764"/>
                </a:lnTo>
                <a:close/>
              </a:path>
              <a:path w="2134235" h="151130">
                <a:moveTo>
                  <a:pt x="76781" y="24764"/>
                </a:moveTo>
                <a:lnTo>
                  <a:pt x="64008" y="24764"/>
                </a:lnTo>
                <a:lnTo>
                  <a:pt x="76751" y="25383"/>
                </a:lnTo>
                <a:lnTo>
                  <a:pt x="76781" y="24764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51447" y="4612894"/>
            <a:ext cx="189483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Call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average()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with </a:t>
            </a:r>
            <a:r>
              <a:rPr sz="1800" dirty="0">
                <a:latin typeface="Times New Roman"/>
                <a:cs typeface="Times New Roman"/>
              </a:rPr>
              <a:t>arguments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17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13401" y="4922265"/>
            <a:ext cx="1061085" cy="139700"/>
          </a:xfrm>
          <a:custGeom>
            <a:avLst/>
            <a:gdLst/>
            <a:ahLst/>
            <a:cxnLst/>
            <a:rect l="l" t="t" r="r" b="b"/>
            <a:pathLst>
              <a:path w="1061085" h="139700">
                <a:moveTo>
                  <a:pt x="77092" y="25278"/>
                </a:moveTo>
                <a:lnTo>
                  <a:pt x="74902" y="49529"/>
                </a:lnTo>
                <a:lnTo>
                  <a:pt x="74798" y="50675"/>
                </a:lnTo>
                <a:lnTo>
                  <a:pt x="1058290" y="139445"/>
                </a:lnTo>
                <a:lnTo>
                  <a:pt x="1060577" y="114172"/>
                </a:lnTo>
                <a:lnTo>
                  <a:pt x="77092" y="25278"/>
                </a:lnTo>
                <a:close/>
              </a:path>
              <a:path w="1061085" h="139700">
                <a:moveTo>
                  <a:pt x="79375" y="0"/>
                </a:moveTo>
                <a:lnTo>
                  <a:pt x="0" y="31114"/>
                </a:lnTo>
                <a:lnTo>
                  <a:pt x="72516" y="75945"/>
                </a:lnTo>
                <a:lnTo>
                  <a:pt x="74798" y="50675"/>
                </a:lnTo>
                <a:lnTo>
                  <a:pt x="62102" y="49529"/>
                </a:lnTo>
                <a:lnTo>
                  <a:pt x="64285" y="25278"/>
                </a:lnTo>
                <a:lnTo>
                  <a:pt x="64388" y="24129"/>
                </a:lnTo>
                <a:lnTo>
                  <a:pt x="77196" y="24129"/>
                </a:lnTo>
                <a:lnTo>
                  <a:pt x="79375" y="0"/>
                </a:lnTo>
                <a:close/>
              </a:path>
              <a:path w="1061085" h="139700">
                <a:moveTo>
                  <a:pt x="64388" y="24129"/>
                </a:moveTo>
                <a:lnTo>
                  <a:pt x="62102" y="49529"/>
                </a:lnTo>
                <a:lnTo>
                  <a:pt x="74798" y="50675"/>
                </a:lnTo>
                <a:lnTo>
                  <a:pt x="77092" y="25278"/>
                </a:lnTo>
                <a:lnTo>
                  <a:pt x="64388" y="24129"/>
                </a:lnTo>
                <a:close/>
              </a:path>
              <a:path w="1061085" h="139700">
                <a:moveTo>
                  <a:pt x="77196" y="24129"/>
                </a:moveTo>
                <a:lnTo>
                  <a:pt x="64388" y="24129"/>
                </a:lnTo>
                <a:lnTo>
                  <a:pt x="77092" y="25278"/>
                </a:lnTo>
                <a:lnTo>
                  <a:pt x="77196" y="24129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1976"/>
            <a:ext cx="79375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2020" algn="l"/>
              </a:tabLst>
            </a:pPr>
            <a:r>
              <a:rPr sz="5400" spc="-35" dirty="0"/>
              <a:t>JavaScript</a:t>
            </a:r>
            <a:r>
              <a:rPr sz="5400" spc="-260" dirty="0"/>
              <a:t> </a:t>
            </a:r>
            <a:r>
              <a:rPr sz="5400" spc="-50" dirty="0"/>
              <a:t>-</a:t>
            </a:r>
            <a:r>
              <a:rPr sz="5400" dirty="0"/>
              <a:t>	</a:t>
            </a:r>
            <a:r>
              <a:rPr sz="5400" spc="-130" dirty="0"/>
              <a:t>Arrow</a:t>
            </a:r>
            <a:r>
              <a:rPr sz="5400" spc="-204" dirty="0"/>
              <a:t> </a:t>
            </a:r>
            <a:r>
              <a:rPr sz="5400" spc="-20" dirty="0"/>
              <a:t>functions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535940" y="827264"/>
            <a:ext cx="8053705" cy="366902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25" dirty="0">
                <a:latin typeface="Times New Roman"/>
                <a:cs typeface="Times New Roman"/>
              </a:rPr>
              <a:t>Shorthand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Times New Roman"/>
                <a:cs typeface="Times New Roman"/>
              </a:rPr>
              <a:t>way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write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anonymous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functions</a:t>
            </a:r>
            <a:endParaRPr sz="2400" dirty="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35" dirty="0">
                <a:latin typeface="Times New Roman"/>
                <a:cs typeface="Times New Roman"/>
              </a:rPr>
              <a:t>No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function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keyword</a:t>
            </a:r>
            <a:endParaRPr sz="2400" dirty="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0" dirty="0">
                <a:latin typeface="Times New Roman"/>
                <a:cs typeface="Times New Roman"/>
              </a:rPr>
              <a:t>Syntax: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800" spc="-120" dirty="0">
                <a:latin typeface="Times New Roman"/>
                <a:cs typeface="Times New Roman"/>
              </a:rPr>
              <a:t>const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&lt;varname&gt;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=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()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b="1" spc="250" dirty="0">
                <a:solidFill>
                  <a:srgbClr val="FF0000"/>
                </a:solidFill>
                <a:latin typeface="Times New Roman"/>
                <a:cs typeface="Times New Roman"/>
              </a:rPr>
              <a:t>=&gt;</a:t>
            </a:r>
            <a:r>
              <a:rPr sz="28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 dirty="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  <a:spcBef>
                <a:spcPts val="600"/>
              </a:spcBef>
            </a:pPr>
            <a:r>
              <a:rPr sz="2800" spc="620" dirty="0">
                <a:latin typeface="Times New Roman"/>
                <a:cs typeface="Times New Roman"/>
              </a:rPr>
              <a:t>//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code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for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function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spcBef>
                <a:spcPts val="65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90" dirty="0">
                <a:latin typeface="Times New Roman"/>
                <a:cs typeface="Times New Roman"/>
              </a:rPr>
              <a:t>If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code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only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returns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value,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you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skip</a:t>
            </a:r>
            <a:r>
              <a:rPr sz="2400" spc="-65" dirty="0">
                <a:latin typeface="Times New Roman"/>
                <a:cs typeface="Times New Roman"/>
              </a:rPr>
              <a:t> 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return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keyword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curly </a:t>
            </a:r>
            <a:r>
              <a:rPr sz="2400" spc="-10" dirty="0">
                <a:latin typeface="Times New Roman"/>
                <a:cs typeface="Times New Roman"/>
              </a:rPr>
              <a:t>braces!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99136"/>
            <a:ext cx="88569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30" dirty="0"/>
              <a:t>JavaScript</a:t>
            </a:r>
            <a:r>
              <a:rPr sz="4400" spc="-165" dirty="0"/>
              <a:t> </a:t>
            </a:r>
            <a:r>
              <a:rPr sz="4400" dirty="0"/>
              <a:t>-</a:t>
            </a:r>
            <a:r>
              <a:rPr sz="4400" spc="-140" dirty="0"/>
              <a:t> </a:t>
            </a:r>
            <a:r>
              <a:rPr sz="4400" spc="-100" dirty="0"/>
              <a:t>Arrow</a:t>
            </a:r>
            <a:r>
              <a:rPr sz="4400" spc="-145" dirty="0"/>
              <a:t> </a:t>
            </a:r>
            <a:r>
              <a:rPr sz="4400" spc="-10" dirty="0"/>
              <a:t>functions</a:t>
            </a:r>
            <a:r>
              <a:rPr sz="4400" spc="-130" dirty="0"/>
              <a:t> </a:t>
            </a:r>
            <a:r>
              <a:rPr sz="4400" spc="-35" dirty="0"/>
              <a:t>examples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12140" y="1011681"/>
            <a:ext cx="5467985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178435" indent="-356235">
              <a:lnSpc>
                <a:spcPct val="100000"/>
              </a:lnSpc>
              <a:spcBef>
                <a:spcPts val="100"/>
              </a:spcBef>
            </a:pPr>
            <a:r>
              <a:rPr sz="2800" spc="60" dirty="0">
                <a:latin typeface="Cambria"/>
                <a:cs typeface="Cambria"/>
              </a:rPr>
              <a:t>const </a:t>
            </a:r>
            <a:r>
              <a:rPr sz="2800" dirty="0">
                <a:latin typeface="Cambria"/>
                <a:cs typeface="Cambria"/>
              </a:rPr>
              <a:t>arrow1</a:t>
            </a:r>
            <a:r>
              <a:rPr sz="2800" spc="45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=</a:t>
            </a:r>
            <a:r>
              <a:rPr sz="2800" spc="6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()</a:t>
            </a:r>
            <a:r>
              <a:rPr sz="2800" spc="60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=&gt;</a:t>
            </a:r>
            <a:r>
              <a:rPr sz="2800" spc="50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{ </a:t>
            </a:r>
            <a:r>
              <a:rPr sz="2800" spc="110" dirty="0">
                <a:latin typeface="Cambria"/>
                <a:cs typeface="Cambria"/>
              </a:rPr>
              <a:t>console.log("An</a:t>
            </a:r>
            <a:r>
              <a:rPr sz="2800" spc="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arrow</a:t>
            </a:r>
            <a:r>
              <a:rPr sz="2800" spc="9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func!");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latin typeface="Cambria"/>
                <a:cs typeface="Cambria"/>
              </a:rPr>
              <a:t>}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Cambria"/>
                <a:cs typeface="Cambria"/>
              </a:rPr>
              <a:t>arrow1();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800" dirty="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spc="60" dirty="0">
                <a:latin typeface="Cambria"/>
                <a:cs typeface="Cambria"/>
              </a:rPr>
              <a:t>const</a:t>
            </a:r>
            <a:r>
              <a:rPr sz="2800" spc="105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squareArrow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spc="310" dirty="0">
                <a:latin typeface="Cambria"/>
                <a:cs typeface="Cambria"/>
              </a:rPr>
              <a:t>=</a:t>
            </a:r>
            <a:r>
              <a:rPr sz="2800" spc="114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(x)</a:t>
            </a:r>
            <a:r>
              <a:rPr sz="2800" spc="105" dirty="0">
                <a:latin typeface="Cambria"/>
                <a:cs typeface="Cambria"/>
              </a:rPr>
              <a:t> </a:t>
            </a:r>
            <a:r>
              <a:rPr sz="2800" spc="305" dirty="0">
                <a:solidFill>
                  <a:srgbClr val="FF0000"/>
                </a:solidFill>
                <a:latin typeface="Cambria"/>
                <a:cs typeface="Cambria"/>
              </a:rPr>
              <a:t>=&gt;</a:t>
            </a:r>
            <a:r>
              <a:rPr sz="28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185" dirty="0">
                <a:latin typeface="Cambria"/>
                <a:cs typeface="Cambria"/>
              </a:rPr>
              <a:t>x</a:t>
            </a:r>
            <a:r>
              <a:rPr sz="2800" spc="110" dirty="0">
                <a:latin typeface="Cambria"/>
                <a:cs typeface="Cambria"/>
              </a:rPr>
              <a:t> </a:t>
            </a:r>
            <a:r>
              <a:rPr sz="2800" spc="250" dirty="0">
                <a:latin typeface="Cambria"/>
                <a:cs typeface="Cambria"/>
              </a:rPr>
              <a:t>*</a:t>
            </a:r>
            <a:r>
              <a:rPr sz="2800" spc="114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x; </a:t>
            </a:r>
            <a:r>
              <a:rPr sz="2800" spc="55" dirty="0">
                <a:latin typeface="Cambria"/>
                <a:cs typeface="Cambria"/>
              </a:rPr>
              <a:t>console.log(squareArrow(5));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55" dirty="0">
                <a:latin typeface="Cambria"/>
                <a:cs typeface="Cambria"/>
              </a:rPr>
              <a:t>Output:</a:t>
            </a:r>
            <a:endParaRPr sz="2800" dirty="0">
              <a:latin typeface="Cambria"/>
              <a:cs typeface="Cambria"/>
            </a:endParaRPr>
          </a:p>
          <a:p>
            <a:pPr marL="12700" marR="3083560">
              <a:lnSpc>
                <a:spcPct val="100000"/>
              </a:lnSpc>
            </a:pPr>
            <a:r>
              <a:rPr sz="2800" spc="110" dirty="0">
                <a:latin typeface="Cambria"/>
                <a:cs typeface="Cambria"/>
              </a:rPr>
              <a:t>An</a:t>
            </a:r>
            <a:r>
              <a:rPr sz="2800" spc="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arrow</a:t>
            </a:r>
            <a:r>
              <a:rPr sz="2800" spc="80" dirty="0">
                <a:latin typeface="Cambria"/>
                <a:cs typeface="Cambria"/>
              </a:rPr>
              <a:t> </a:t>
            </a:r>
            <a:r>
              <a:rPr sz="2800" spc="40" dirty="0">
                <a:latin typeface="Cambria"/>
                <a:cs typeface="Cambria"/>
              </a:rPr>
              <a:t>func! </a:t>
            </a:r>
            <a:r>
              <a:rPr sz="2800" spc="-25" dirty="0">
                <a:latin typeface="Cambria"/>
                <a:cs typeface="Cambria"/>
              </a:rPr>
              <a:t>25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77267"/>
            <a:ext cx="8834755" cy="46056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4000" spc="-3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JavaScript</a:t>
            </a:r>
            <a:r>
              <a:rPr sz="4000" spc="-18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 </a:t>
            </a:r>
            <a:r>
              <a:rPr sz="400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–</a:t>
            </a:r>
            <a:r>
              <a:rPr sz="4000" spc="-15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 </a:t>
            </a:r>
            <a:r>
              <a:rPr sz="400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Higher</a:t>
            </a:r>
            <a:r>
              <a:rPr sz="4000" spc="-155" dirty="0">
                <a:solidFill>
                  <a:srgbClr val="696363"/>
                </a:solidFill>
                <a:latin typeface="Franklin Gothic Medium"/>
                <a:cs typeface="Franklin Gothic Medium"/>
              </a:rPr>
              <a:t> </a:t>
            </a:r>
            <a:r>
              <a:rPr sz="400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order</a:t>
            </a:r>
            <a:r>
              <a:rPr sz="4000" spc="-17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 </a:t>
            </a:r>
            <a:r>
              <a:rPr sz="4000" spc="-5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arrow</a:t>
            </a:r>
            <a:r>
              <a:rPr sz="4000" spc="-155" dirty="0">
                <a:solidFill>
                  <a:srgbClr val="696363"/>
                </a:solidFill>
                <a:latin typeface="Franklin Gothic Medium"/>
                <a:cs typeface="Franklin Gothic Medium"/>
              </a:rPr>
              <a:t> </a:t>
            </a:r>
            <a:r>
              <a:rPr sz="4000" spc="-10" dirty="0">
                <a:solidFill>
                  <a:srgbClr val="696363"/>
                </a:solidFill>
                <a:latin typeface="Franklin Gothic Medium"/>
                <a:cs typeface="Franklin Gothic Medium"/>
              </a:rPr>
              <a:t>functions</a:t>
            </a:r>
            <a:endParaRPr sz="4000" dirty="0">
              <a:latin typeface="Franklin Gothic Medium"/>
              <a:cs typeface="Franklin Gothic Medium"/>
            </a:endParaRPr>
          </a:p>
          <a:p>
            <a:pPr marL="735965" marR="289560" indent="-377190">
              <a:lnSpc>
                <a:spcPct val="100000"/>
              </a:lnSpc>
              <a:spcBef>
                <a:spcPts val="63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735965" algn="l"/>
              </a:tabLst>
            </a:pPr>
            <a:r>
              <a:rPr sz="4000" spc="-204" dirty="0">
                <a:latin typeface="Times New Roman"/>
                <a:cs typeface="Times New Roman"/>
              </a:rPr>
              <a:t>Arrow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200" dirty="0">
                <a:latin typeface="Times New Roman"/>
                <a:cs typeface="Times New Roman"/>
              </a:rPr>
              <a:t>functions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250" dirty="0">
                <a:latin typeface="Times New Roman"/>
                <a:cs typeface="Times New Roman"/>
              </a:rPr>
              <a:t>can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-195" dirty="0">
                <a:latin typeface="Times New Roman"/>
                <a:cs typeface="Times New Roman"/>
              </a:rPr>
              <a:t>be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254" dirty="0">
                <a:latin typeface="Times New Roman"/>
                <a:cs typeface="Times New Roman"/>
              </a:rPr>
              <a:t>passed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other </a:t>
            </a:r>
            <a:r>
              <a:rPr sz="4000" spc="-204" dirty="0">
                <a:latin typeface="Times New Roman"/>
                <a:cs typeface="Times New Roman"/>
              </a:rPr>
              <a:t>functions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130" dirty="0">
                <a:latin typeface="Times New Roman"/>
                <a:cs typeface="Times New Roman"/>
              </a:rPr>
              <a:t>that</a:t>
            </a:r>
            <a:r>
              <a:rPr sz="4000" spc="-114" dirty="0">
                <a:latin typeface="Times New Roman"/>
                <a:cs typeface="Times New Roman"/>
              </a:rPr>
              <a:t> </a:t>
            </a:r>
            <a:r>
              <a:rPr sz="4000" spc="-200" dirty="0">
                <a:latin typeface="Times New Roman"/>
                <a:cs typeface="Times New Roman"/>
              </a:rPr>
              <a:t>will</a:t>
            </a:r>
            <a:r>
              <a:rPr sz="4000" spc="-125" dirty="0">
                <a:latin typeface="Times New Roman"/>
                <a:cs typeface="Times New Roman"/>
              </a:rPr>
              <a:t> </a:t>
            </a:r>
            <a:r>
              <a:rPr sz="4000" spc="-254" dirty="0">
                <a:latin typeface="Times New Roman"/>
                <a:cs typeface="Times New Roman"/>
              </a:rPr>
              <a:t>apply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165" dirty="0">
                <a:latin typeface="Times New Roman"/>
                <a:cs typeface="Times New Roman"/>
              </a:rPr>
              <a:t>them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spc="-320" dirty="0">
                <a:latin typeface="Times New Roman"/>
                <a:cs typeface="Times New Roman"/>
              </a:rPr>
              <a:t>a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spc="-100" dirty="0">
                <a:latin typeface="Times New Roman"/>
                <a:cs typeface="Times New Roman"/>
              </a:rPr>
              <a:t>number </a:t>
            </a:r>
            <a:r>
              <a:rPr sz="4000" spc="-240" dirty="0">
                <a:latin typeface="Times New Roman"/>
                <a:cs typeface="Times New Roman"/>
              </a:rPr>
              <a:t>of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inputs</a:t>
            </a:r>
            <a:endParaRPr sz="4000" dirty="0">
              <a:latin typeface="Times New Roman"/>
              <a:cs typeface="Times New Roman"/>
            </a:endParaRPr>
          </a:p>
          <a:p>
            <a:pPr marL="1021715" lvl="1" indent="-3651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1021715" algn="l"/>
              </a:tabLst>
            </a:pPr>
            <a:r>
              <a:rPr sz="4000" spc="-10" dirty="0">
                <a:latin typeface="Times New Roman"/>
                <a:cs typeface="Times New Roman"/>
              </a:rPr>
              <a:t>map()</a:t>
            </a:r>
            <a:endParaRPr sz="4000" dirty="0">
              <a:latin typeface="Times New Roman"/>
              <a:cs typeface="Times New Roman"/>
            </a:endParaRPr>
          </a:p>
          <a:p>
            <a:pPr marL="1021715" lvl="1" indent="-3651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1021715" algn="l"/>
              </a:tabLst>
            </a:pPr>
            <a:r>
              <a:rPr sz="4000" spc="-10" dirty="0">
                <a:latin typeface="Times New Roman"/>
                <a:cs typeface="Times New Roman"/>
              </a:rPr>
              <a:t>filter()</a:t>
            </a:r>
            <a:endParaRPr sz="4000" dirty="0">
              <a:latin typeface="Times New Roman"/>
              <a:cs typeface="Times New Roman"/>
            </a:endParaRPr>
          </a:p>
          <a:p>
            <a:pPr marL="1021715" lvl="1" indent="-3651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1021715" algn="l"/>
              </a:tabLst>
            </a:pPr>
            <a:r>
              <a:rPr sz="4000" spc="-20" dirty="0">
                <a:latin typeface="Times New Roman"/>
                <a:cs typeface="Times New Roman"/>
              </a:rPr>
              <a:t>reduce()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72A30-5E5A-8F8C-FF72-0B4BB1DAC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81000"/>
            <a:ext cx="8153399" cy="3447098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IN" b="1" dirty="0">
                <a:solidFill>
                  <a:srgbClr val="FF0000"/>
                </a:solidFill>
              </a:rPr>
              <a:t>map</a:t>
            </a:r>
            <a:r>
              <a:rPr lang="en-IN" dirty="0"/>
              <a:t> — runs on </a:t>
            </a:r>
            <a:r>
              <a:rPr lang="en-IN" b="1" dirty="0"/>
              <a:t>each element</a:t>
            </a:r>
            <a:r>
              <a:rPr lang="en-IN" dirty="0"/>
              <a:t> and returns a </a:t>
            </a:r>
            <a:r>
              <a:rPr lang="en-IN" b="1" dirty="0"/>
              <a:t>new array</a:t>
            </a:r>
            <a:r>
              <a:rPr lang="en-IN" dirty="0"/>
              <a:t> of the results.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1" dirty="0">
                <a:solidFill>
                  <a:srgbClr val="FF0000"/>
                </a:solidFill>
              </a:rPr>
              <a:t>filter</a:t>
            </a:r>
            <a:r>
              <a:rPr lang="en-IN" dirty="0"/>
              <a:t>— runs on each element; </a:t>
            </a:r>
            <a:r>
              <a:rPr lang="en-IN" b="1" dirty="0"/>
              <a:t>keeps</a:t>
            </a:r>
            <a:r>
              <a:rPr lang="en-IN" dirty="0"/>
              <a:t> elements where  returns true.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1" dirty="0">
                <a:solidFill>
                  <a:srgbClr val="FF0000"/>
                </a:solidFill>
              </a:rPr>
              <a:t>Reduce</a:t>
            </a:r>
            <a:r>
              <a:rPr lang="en-IN" dirty="0"/>
              <a:t> — runs to </a:t>
            </a:r>
            <a:r>
              <a:rPr lang="en-IN" b="1" dirty="0"/>
              <a:t>accumulate</a:t>
            </a:r>
            <a:r>
              <a:rPr lang="en-IN" dirty="0"/>
              <a:t> a single value from the array (like sum, object, etc.) receives an accumulator and current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15518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DF51A-4745-D88A-43A3-0EABF825D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457201"/>
            <a:ext cx="8915399" cy="5867399"/>
          </a:xfrm>
        </p:spPr>
        <p:txBody>
          <a:bodyPr/>
          <a:lstStyle/>
          <a:p>
            <a:r>
              <a:rPr lang="en-IN" dirty="0" err="1"/>
              <a:t>const</a:t>
            </a:r>
            <a:r>
              <a:rPr lang="en-IN" dirty="0"/>
              <a:t> products = [</a:t>
            </a:r>
          </a:p>
          <a:p>
            <a:r>
              <a:rPr lang="en-IN" dirty="0"/>
              <a:t>  { id: 1, name: 'Pen',      price: 10,  category: 'stationery' },</a:t>
            </a:r>
          </a:p>
          <a:p>
            <a:r>
              <a:rPr lang="en-IN" dirty="0"/>
              <a:t>  { id: 2, name: 'Notebook', price: 40,  category: 'stationery' },</a:t>
            </a:r>
          </a:p>
          <a:p>
            <a:r>
              <a:rPr lang="en-IN" dirty="0"/>
              <a:t>  { id: 3, name: 'Mug',      price: 150, category: 'kitchen' },</a:t>
            </a:r>
          </a:p>
          <a:p>
            <a:r>
              <a:rPr lang="en-IN" dirty="0"/>
              <a:t>  { id: 4, name: 'Plate',    price: 80,  category: 'kitchen' },</a:t>
            </a:r>
          </a:p>
          <a:p>
            <a:r>
              <a:rPr lang="en-IN" dirty="0"/>
              <a:t>  { id: 5, name: 'Bag',      price: 500, category: 'accessories' }</a:t>
            </a:r>
          </a:p>
          <a:p>
            <a:r>
              <a:rPr lang="en-IN" dirty="0"/>
              <a:t>];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019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D3ED0-4359-F2C8-43CB-542515C46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52400"/>
            <a:ext cx="8381999" cy="7122795"/>
          </a:xfrm>
        </p:spPr>
        <p:txBody>
          <a:bodyPr/>
          <a:lstStyle/>
          <a:p>
            <a:r>
              <a:rPr lang="en-IN" b="1" dirty="0"/>
              <a:t>1) map(): get an array of prices</a:t>
            </a:r>
          </a:p>
          <a:p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const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prices =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products.map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(p =&gt;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p.price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);</a:t>
            </a:r>
          </a:p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console.log(prices); // [10, 40, 150, 80, 500]</a:t>
            </a:r>
          </a:p>
          <a:p>
            <a:endParaRPr lang="en-IN" dirty="0"/>
          </a:p>
          <a:p>
            <a:r>
              <a:rPr lang="en-IN" b="1" dirty="0"/>
              <a:t>2) filter(): get only kitchen products (keeps full objects)</a:t>
            </a:r>
          </a:p>
          <a:p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const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kitchenItems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=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products.filter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(p =&gt;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p.category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=== 'kitchen');</a:t>
            </a:r>
          </a:p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console.log(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kitchenItems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);</a:t>
            </a:r>
          </a:p>
          <a:p>
            <a:endParaRPr lang="en-IN" dirty="0"/>
          </a:p>
          <a:p>
            <a:r>
              <a:rPr lang="en-IN" b="1" dirty="0"/>
              <a:t>3) reduce(): sum of all prices</a:t>
            </a:r>
          </a:p>
          <a:p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const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totalAll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=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products.reduce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((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acc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, p) =&gt;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acc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+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p.price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, 0);</a:t>
            </a:r>
          </a:p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console.log(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totalAll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); // 780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8038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790" y="283463"/>
            <a:ext cx="88392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0" dirty="0"/>
              <a:t>JavaScript</a:t>
            </a:r>
            <a:r>
              <a:rPr sz="3200" spc="-105" dirty="0"/>
              <a:t> </a:t>
            </a:r>
            <a:r>
              <a:rPr sz="3200" dirty="0"/>
              <a:t>–</a:t>
            </a:r>
            <a:r>
              <a:rPr sz="3200" spc="-100" dirty="0"/>
              <a:t> </a:t>
            </a:r>
            <a:r>
              <a:rPr sz="3200" dirty="0"/>
              <a:t>Higher</a:t>
            </a:r>
            <a:r>
              <a:rPr sz="3200" spc="-95" dirty="0"/>
              <a:t> </a:t>
            </a:r>
            <a:r>
              <a:rPr sz="3200" dirty="0"/>
              <a:t>order</a:t>
            </a:r>
            <a:r>
              <a:rPr sz="3200" spc="-110" dirty="0"/>
              <a:t> </a:t>
            </a:r>
            <a:r>
              <a:rPr sz="3200" spc="-45" dirty="0"/>
              <a:t>arrow</a:t>
            </a:r>
            <a:r>
              <a:rPr sz="3200" spc="-114" dirty="0"/>
              <a:t> </a:t>
            </a:r>
            <a:r>
              <a:rPr sz="3200" spc="-10" dirty="0"/>
              <a:t>functions</a:t>
            </a:r>
            <a:r>
              <a:rPr sz="3200" spc="-85" dirty="0"/>
              <a:t> </a:t>
            </a:r>
            <a:r>
              <a:rPr sz="3200" dirty="0"/>
              <a:t>-</a:t>
            </a:r>
            <a:r>
              <a:rPr sz="3200" spc="-95" dirty="0"/>
              <a:t> </a:t>
            </a:r>
            <a:r>
              <a:rPr sz="3200" spc="-10" dirty="0"/>
              <a:t>Example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83540" y="910590"/>
            <a:ext cx="8534400" cy="452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nums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65" dirty="0">
                <a:latin typeface="Cambria"/>
                <a:cs typeface="Cambria"/>
              </a:rPr>
              <a:t>=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[5,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10,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25,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90" dirty="0">
                <a:latin typeface="Cambria"/>
                <a:cs typeface="Cambria"/>
              </a:rPr>
              <a:t>4,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10,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50" dirty="0">
                <a:latin typeface="Cambria"/>
                <a:cs typeface="Cambria"/>
              </a:rPr>
              <a:t>13,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100]</a:t>
            </a:r>
            <a:endParaRPr sz="2400">
              <a:latin typeface="Cambria"/>
              <a:cs typeface="Cambria"/>
            </a:endParaRPr>
          </a:p>
          <a:p>
            <a:pPr marL="12700" marR="4337050">
              <a:lnSpc>
                <a:spcPct val="100000"/>
              </a:lnSpc>
            </a:pPr>
            <a:r>
              <a:rPr sz="2400" spc="80" dirty="0">
                <a:latin typeface="Cambria"/>
                <a:cs typeface="Cambria"/>
              </a:rPr>
              <a:t>console.log("nums: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"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265" dirty="0">
                <a:latin typeface="Cambria"/>
                <a:cs typeface="Cambria"/>
              </a:rPr>
              <a:t>+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nums); </a:t>
            </a:r>
            <a:r>
              <a:rPr sz="2400" dirty="0">
                <a:latin typeface="Cambria"/>
                <a:cs typeface="Cambria"/>
              </a:rPr>
              <a:t>nums: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5,10,25,-</a:t>
            </a:r>
            <a:r>
              <a:rPr sz="2400" spc="60" dirty="0">
                <a:latin typeface="Cambria"/>
                <a:cs typeface="Cambria"/>
              </a:rPr>
              <a:t>4,10,-</a:t>
            </a:r>
            <a:r>
              <a:rPr sz="2400" spc="-10" dirty="0">
                <a:latin typeface="Cambria"/>
                <a:cs typeface="Cambria"/>
              </a:rPr>
              <a:t>13,100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newnums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65" dirty="0">
                <a:latin typeface="Cambria"/>
                <a:cs typeface="Cambria"/>
              </a:rPr>
              <a:t>=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nums.filter(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x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265" dirty="0">
                <a:solidFill>
                  <a:srgbClr val="FF0000"/>
                </a:solidFill>
                <a:latin typeface="Cambria"/>
                <a:cs typeface="Cambria"/>
              </a:rPr>
              <a:t>=&gt;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FF0000"/>
                </a:solidFill>
                <a:latin typeface="Cambria"/>
                <a:cs typeface="Cambria"/>
              </a:rPr>
              <a:t>x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265" dirty="0">
                <a:solidFill>
                  <a:srgbClr val="FF0000"/>
                </a:solidFill>
                <a:latin typeface="Cambria"/>
                <a:cs typeface="Cambria"/>
              </a:rPr>
              <a:t>&gt;=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0</a:t>
            </a:r>
            <a:r>
              <a:rPr sz="2400" spc="75" dirty="0">
                <a:latin typeface="Cambria"/>
                <a:cs typeface="Cambria"/>
              </a:rPr>
              <a:t>).map(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x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265" dirty="0">
                <a:solidFill>
                  <a:srgbClr val="FF0000"/>
                </a:solidFill>
                <a:latin typeface="Cambria"/>
                <a:cs typeface="Cambria"/>
              </a:rPr>
              <a:t>=&gt;</a:t>
            </a: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FF0000"/>
                </a:solidFill>
                <a:latin typeface="Cambria"/>
                <a:cs typeface="Cambria"/>
              </a:rPr>
              <a:t>Math.sqrt(x)</a:t>
            </a:r>
            <a:r>
              <a:rPr sz="2400" spc="40" dirty="0">
                <a:latin typeface="Cambria"/>
                <a:cs typeface="Cambria"/>
              </a:rPr>
              <a:t>); </a:t>
            </a:r>
            <a:r>
              <a:rPr sz="2400" spc="75" dirty="0">
                <a:latin typeface="Cambria"/>
                <a:cs typeface="Cambria"/>
              </a:rPr>
              <a:t>console.log("newnums:</a:t>
            </a:r>
            <a:r>
              <a:rPr sz="2400" spc="-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"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265" dirty="0">
                <a:latin typeface="Cambria"/>
                <a:cs typeface="Cambria"/>
              </a:rPr>
              <a:t>+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newnums);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newnums: </a:t>
            </a:r>
            <a:r>
              <a:rPr sz="2000" spc="-10" dirty="0">
                <a:latin typeface="Cambria"/>
                <a:cs typeface="Cambria"/>
              </a:rPr>
              <a:t>2.23606797749979,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3.1622776601683795,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5,</a:t>
            </a:r>
            <a:endParaRPr sz="2000">
              <a:latin typeface="Cambria"/>
              <a:cs typeface="Cambria"/>
            </a:endParaRPr>
          </a:p>
          <a:p>
            <a:pPr marL="139700">
              <a:lnSpc>
                <a:spcPct val="100000"/>
              </a:lnSpc>
              <a:spcBef>
                <a:spcPts val="10"/>
              </a:spcBef>
            </a:pPr>
            <a:r>
              <a:rPr sz="2000" spc="-10" dirty="0">
                <a:latin typeface="Cambria"/>
                <a:cs typeface="Cambria"/>
              </a:rPr>
              <a:t>3.1622776601683795,10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2000">
              <a:latin typeface="Cambria"/>
              <a:cs typeface="Cambria"/>
            </a:endParaRPr>
          </a:p>
          <a:p>
            <a:pPr marL="31115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Red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text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arrow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functions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passed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into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other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functions</a:t>
            </a:r>
            <a:endParaRPr sz="2400">
              <a:latin typeface="Times New Roman"/>
              <a:cs typeface="Times New Roman"/>
            </a:endParaRPr>
          </a:p>
          <a:p>
            <a:pPr marL="311150" marR="35496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filter()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map()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is:</a:t>
            </a:r>
            <a:r>
              <a:rPr sz="2400" spc="-10" dirty="0">
                <a:latin typeface="Times New Roman"/>
                <a:cs typeface="Times New Roman"/>
              </a:rPr>
              <a:t> [5,10,25,10,100] </a:t>
            </a:r>
            <a:r>
              <a:rPr sz="2400" dirty="0">
                <a:latin typeface="Times New Roman"/>
                <a:cs typeface="Times New Roman"/>
              </a:rPr>
              <a:t>map()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Math.sqrt()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element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B0E9D-DA49-606E-A6CE-38EE4C632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381000"/>
            <a:ext cx="8217534" cy="646330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an array of numbers, use map() with an arrow function to return a new array with each number doubled.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filter() to get only the odd numbers from an array.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reduce() to calculate the sum of an array.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an array of strings, use map() to convert each string to uppercase.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an array of ages, filter only people who are 18 or older and Use reduce() to find the </a:t>
            </a:r>
            <a:r>
              <a:rPr lang="en-US" b="1" dirty="0"/>
              <a:t>maximum number</a:t>
            </a:r>
            <a:r>
              <a:rPr lang="en-US" dirty="0"/>
              <a:t> in an array.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an array of objects representing students. Use filter() and map() together to get the names of students who scored more than 50.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79004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6652"/>
            <a:ext cx="83756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" dirty="0"/>
              <a:t>JavaScript</a:t>
            </a:r>
            <a:r>
              <a:rPr sz="4800" spc="-155" dirty="0"/>
              <a:t> </a:t>
            </a:r>
            <a:r>
              <a:rPr sz="4800" dirty="0"/>
              <a:t>–</a:t>
            </a:r>
            <a:r>
              <a:rPr sz="4800" spc="-150" dirty="0"/>
              <a:t> </a:t>
            </a:r>
            <a:r>
              <a:rPr sz="4800" dirty="0"/>
              <a:t>spread</a:t>
            </a:r>
            <a:r>
              <a:rPr sz="4800" spc="-145" dirty="0"/>
              <a:t> </a:t>
            </a:r>
            <a:r>
              <a:rPr sz="4800" spc="-25" dirty="0"/>
              <a:t>operator</a:t>
            </a:r>
            <a:r>
              <a:rPr sz="4800" spc="-135" dirty="0"/>
              <a:t> </a:t>
            </a:r>
            <a:r>
              <a:rPr sz="4800" spc="-25" dirty="0"/>
              <a:t>(…)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35940" y="823917"/>
            <a:ext cx="8361680" cy="36633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7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75" dirty="0">
                <a:latin typeface="Times New Roman"/>
                <a:cs typeface="Times New Roman"/>
              </a:rPr>
              <a:t>Spreads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elements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from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array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apart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into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individual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members</a:t>
            </a:r>
            <a:endParaRPr sz="26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use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'copy'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array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rather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than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having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'alias'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array</a:t>
            </a:r>
            <a:endParaRPr sz="2600">
              <a:latin typeface="Times New Roman"/>
              <a:cs typeface="Times New Roman"/>
            </a:endParaRPr>
          </a:p>
          <a:p>
            <a:pPr marL="158750" marR="5730240">
              <a:lnSpc>
                <a:spcPct val="100000"/>
              </a:lnSpc>
              <a:spcBef>
                <a:spcPts val="75"/>
              </a:spcBef>
            </a:pPr>
            <a:r>
              <a:rPr sz="1600" dirty="0">
                <a:latin typeface="Cambria"/>
                <a:cs typeface="Cambria"/>
              </a:rPr>
              <a:t>anArray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175" dirty="0">
                <a:latin typeface="Cambria"/>
                <a:cs typeface="Cambria"/>
              </a:rPr>
              <a:t>=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['a',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'b',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'c',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'd',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'e'] </a:t>
            </a:r>
            <a:r>
              <a:rPr sz="1600" dirty="0">
                <a:latin typeface="Cambria"/>
                <a:cs typeface="Cambria"/>
              </a:rPr>
              <a:t>let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arr2;</a:t>
            </a:r>
            <a:endParaRPr sz="1600">
              <a:latin typeface="Cambria"/>
              <a:cs typeface="Cambria"/>
            </a:endParaRPr>
          </a:p>
          <a:p>
            <a:pPr marL="158750" marR="7099934">
              <a:lnSpc>
                <a:spcPct val="100000"/>
              </a:lnSpc>
            </a:pPr>
            <a:r>
              <a:rPr sz="1600" dirty="0">
                <a:latin typeface="Cambria"/>
                <a:cs typeface="Cambria"/>
              </a:rPr>
              <a:t>let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arr3; </a:t>
            </a:r>
            <a:r>
              <a:rPr sz="1600" dirty="0">
                <a:latin typeface="Cambria"/>
                <a:cs typeface="Cambria"/>
              </a:rPr>
              <a:t>(function()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-65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61950">
              <a:lnSpc>
                <a:spcPct val="100000"/>
              </a:lnSpc>
            </a:pPr>
            <a:r>
              <a:rPr sz="1600" dirty="0">
                <a:latin typeface="Cambria"/>
                <a:cs typeface="Cambria"/>
              </a:rPr>
              <a:t>arr2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175" dirty="0">
                <a:latin typeface="Cambria"/>
                <a:cs typeface="Cambria"/>
              </a:rPr>
              <a:t>=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anArray;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95" dirty="0">
                <a:latin typeface="Cambria"/>
                <a:cs typeface="Cambria"/>
              </a:rPr>
              <a:t>//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This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alias</a:t>
            </a:r>
            <a:endParaRPr sz="1600">
              <a:latin typeface="Cambria"/>
              <a:cs typeface="Cambria"/>
            </a:endParaRPr>
          </a:p>
          <a:p>
            <a:pPr marL="361950" marR="5080">
              <a:lnSpc>
                <a:spcPct val="100000"/>
              </a:lnSpc>
            </a:pPr>
            <a:r>
              <a:rPr sz="1600" dirty="0">
                <a:latin typeface="Cambria"/>
                <a:cs typeface="Cambria"/>
              </a:rPr>
              <a:t>arr3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175" dirty="0">
                <a:latin typeface="Cambria"/>
                <a:cs typeface="Cambria"/>
              </a:rPr>
              <a:t>=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[...anArray];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//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This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spreads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out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elements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anArray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and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builds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new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array </a:t>
            </a:r>
            <a:r>
              <a:rPr sz="1600" dirty="0">
                <a:latin typeface="Cambria"/>
                <a:cs typeface="Cambria"/>
              </a:rPr>
              <a:t>anArray[0]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spc="175" dirty="0">
                <a:latin typeface="Cambria"/>
                <a:cs typeface="Cambria"/>
              </a:rPr>
              <a:t>=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'z';</a:t>
            </a:r>
            <a:endParaRPr sz="1600">
              <a:latin typeface="Cambria"/>
              <a:cs typeface="Cambria"/>
            </a:endParaRPr>
          </a:p>
          <a:p>
            <a:pPr marL="158750">
              <a:lnSpc>
                <a:spcPct val="100000"/>
              </a:lnSpc>
            </a:pPr>
            <a:r>
              <a:rPr sz="1600" spc="-10" dirty="0">
                <a:latin typeface="Cambria"/>
                <a:cs typeface="Cambria"/>
              </a:rPr>
              <a:t>})();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58750" marR="5630545">
              <a:lnSpc>
                <a:spcPct val="100000"/>
              </a:lnSpc>
            </a:pPr>
            <a:r>
              <a:rPr sz="1600" spc="50" dirty="0">
                <a:latin typeface="Cambria"/>
                <a:cs typeface="Cambria"/>
              </a:rPr>
              <a:t>console.log("arr2:</a:t>
            </a:r>
            <a:r>
              <a:rPr sz="1600" spc="-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"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175" dirty="0">
                <a:latin typeface="Cambria"/>
                <a:cs typeface="Cambria"/>
              </a:rPr>
              <a:t>+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arr2); </a:t>
            </a:r>
            <a:r>
              <a:rPr sz="1600" spc="50" dirty="0">
                <a:latin typeface="Cambria"/>
                <a:cs typeface="Cambria"/>
              </a:rPr>
              <a:t>console.log("arr3:</a:t>
            </a:r>
            <a:r>
              <a:rPr sz="1600" spc="-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"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175" dirty="0">
                <a:latin typeface="Cambria"/>
                <a:cs typeface="Cambria"/>
              </a:rPr>
              <a:t>+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arr3);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990" y="4705350"/>
            <a:ext cx="13220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mbria"/>
                <a:cs typeface="Cambria"/>
              </a:rPr>
              <a:t>Output: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mbria"/>
                <a:cs typeface="Cambria"/>
              </a:rPr>
              <a:t>arr2: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z,b,c,d,e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mbria"/>
                <a:cs typeface="Cambria"/>
              </a:rPr>
              <a:t>arr3: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a,b,c,d,e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5994" y="4909820"/>
            <a:ext cx="58928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Note: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arr2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affected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'alias'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anArray,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arr3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separate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'copy'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due 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spread </a:t>
            </a:r>
            <a:r>
              <a:rPr sz="2400" spc="-10" dirty="0">
                <a:latin typeface="Times New Roman"/>
                <a:cs typeface="Times New Roman"/>
              </a:rPr>
              <a:t>operator.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12598"/>
            <a:ext cx="87953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" dirty="0"/>
              <a:t>JavaScript</a:t>
            </a:r>
            <a:r>
              <a:rPr sz="4800" spc="-160" dirty="0"/>
              <a:t> </a:t>
            </a:r>
            <a:r>
              <a:rPr sz="4800" dirty="0"/>
              <a:t>–</a:t>
            </a:r>
            <a:r>
              <a:rPr sz="4800" spc="-140" dirty="0"/>
              <a:t> </a:t>
            </a:r>
            <a:r>
              <a:rPr sz="4800" spc="-20" dirty="0"/>
              <a:t>Destructuring</a:t>
            </a:r>
            <a:r>
              <a:rPr sz="4800" spc="-145" dirty="0"/>
              <a:t> </a:t>
            </a:r>
            <a:r>
              <a:rPr sz="4800" spc="-10" dirty="0"/>
              <a:t>objects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68300" y="918496"/>
            <a:ext cx="8569960" cy="48971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56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235" dirty="0">
                <a:latin typeface="Times New Roman"/>
                <a:cs typeface="Times New Roman"/>
              </a:rPr>
              <a:t>Easy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40" dirty="0">
                <a:latin typeface="Times New Roman"/>
                <a:cs typeface="Times New Roman"/>
              </a:rPr>
              <a:t>way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extract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fields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object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into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separate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variables</a:t>
            </a:r>
            <a:endParaRPr sz="26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45" dirty="0">
                <a:latin typeface="Times New Roman"/>
                <a:cs typeface="Times New Roman"/>
              </a:rPr>
              <a:t>Previously, </a:t>
            </a:r>
            <a:r>
              <a:rPr sz="2400" spc="-110" dirty="0">
                <a:latin typeface="Times New Roman"/>
                <a:cs typeface="Times New Roman"/>
              </a:rPr>
              <a:t>needed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separate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assignment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for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each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field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member</a:t>
            </a:r>
            <a:endParaRPr sz="24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57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0" dirty="0">
                <a:latin typeface="Times New Roman"/>
                <a:cs typeface="Times New Roman"/>
              </a:rPr>
              <a:t>Syntax:</a:t>
            </a:r>
            <a:endParaRPr sz="26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330"/>
              </a:spcBef>
            </a:pPr>
            <a:r>
              <a:rPr sz="2200" dirty="0">
                <a:latin typeface="Times New Roman"/>
                <a:cs typeface="Times New Roman"/>
              </a:rPr>
              <a:t>const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{fieldname1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targetvar1,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fieldname2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targetvar2,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…}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objectname;</a:t>
            </a:r>
            <a:endParaRPr sz="22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1005"/>
              </a:spcBef>
            </a:pPr>
            <a:r>
              <a:rPr sz="2800" b="1" spc="-10" dirty="0">
                <a:latin typeface="Times New Roman"/>
                <a:cs typeface="Times New Roman"/>
              </a:rPr>
              <a:t>Example</a:t>
            </a:r>
            <a:r>
              <a:rPr sz="2800" spc="-1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40"/>
              </a:spcBef>
            </a:pPr>
            <a:r>
              <a:rPr sz="1700" spc="20" dirty="0">
                <a:latin typeface="Cambria"/>
                <a:cs typeface="Cambria"/>
              </a:rPr>
              <a:t>let</a:t>
            </a:r>
            <a:r>
              <a:rPr sz="1700" spc="170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personInfo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spc="185" dirty="0">
                <a:latin typeface="Cambria"/>
                <a:cs typeface="Cambria"/>
              </a:rPr>
              <a:t>=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{name:"Sam",</a:t>
            </a:r>
            <a:r>
              <a:rPr sz="1700" spc="15" dirty="0">
                <a:latin typeface="Cambria"/>
                <a:cs typeface="Cambria"/>
              </a:rPr>
              <a:t> </a:t>
            </a:r>
            <a:r>
              <a:rPr sz="1700" spc="110" dirty="0">
                <a:latin typeface="Cambria"/>
                <a:cs typeface="Cambria"/>
              </a:rPr>
              <a:t>age:</a:t>
            </a:r>
            <a:r>
              <a:rPr sz="1700" spc="-5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55,</a:t>
            </a:r>
            <a:r>
              <a:rPr sz="1700" spc="5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gender:</a:t>
            </a:r>
            <a:r>
              <a:rPr sz="1700" spc="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"Female"};</a:t>
            </a:r>
            <a:endParaRPr sz="1700">
              <a:latin typeface="Cambria"/>
              <a:cs typeface="Cambria"/>
            </a:endParaRPr>
          </a:p>
          <a:p>
            <a:pPr marL="203200" marR="323215">
              <a:lnSpc>
                <a:spcPct val="100000"/>
              </a:lnSpc>
            </a:pPr>
            <a:r>
              <a:rPr sz="1700" dirty="0">
                <a:latin typeface="Cambria"/>
                <a:cs typeface="Cambria"/>
              </a:rPr>
              <a:t>const</a:t>
            </a:r>
            <a:r>
              <a:rPr sz="1700" spc="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{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name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:</a:t>
            </a:r>
            <a:r>
              <a:rPr sz="1700" spc="-7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pDataName,</a:t>
            </a:r>
            <a:r>
              <a:rPr sz="1700" spc="-60" dirty="0">
                <a:latin typeface="Cambria"/>
                <a:cs typeface="Cambria"/>
              </a:rPr>
              <a:t> </a:t>
            </a:r>
            <a:r>
              <a:rPr sz="1700" spc="130" dirty="0">
                <a:latin typeface="Cambria"/>
                <a:cs typeface="Cambria"/>
              </a:rPr>
              <a:t>age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:</a:t>
            </a:r>
            <a:r>
              <a:rPr sz="1700" spc="-65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pDataAge,</a:t>
            </a:r>
            <a:r>
              <a:rPr sz="1700" spc="-60" dirty="0">
                <a:latin typeface="Cambria"/>
                <a:cs typeface="Cambria"/>
              </a:rPr>
              <a:t> </a:t>
            </a:r>
            <a:r>
              <a:rPr sz="1700" spc="100" dirty="0">
                <a:latin typeface="Cambria"/>
                <a:cs typeface="Cambria"/>
              </a:rPr>
              <a:t>gender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:</a:t>
            </a:r>
            <a:r>
              <a:rPr sz="1700" spc="-7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pDataGender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}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spc="185" dirty="0">
                <a:latin typeface="Cambria"/>
                <a:cs typeface="Cambria"/>
              </a:rPr>
              <a:t>=</a:t>
            </a:r>
            <a:r>
              <a:rPr sz="1700" spc="6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personInfo; </a:t>
            </a:r>
            <a:r>
              <a:rPr sz="1700" spc="80" dirty="0">
                <a:latin typeface="Cambria"/>
                <a:cs typeface="Cambria"/>
              </a:rPr>
              <a:t>console.log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("Name:</a:t>
            </a:r>
            <a:r>
              <a:rPr sz="1700" spc="-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"</a:t>
            </a:r>
            <a:r>
              <a:rPr sz="1700" spc="60" dirty="0">
                <a:latin typeface="Cambria"/>
                <a:cs typeface="Cambria"/>
              </a:rPr>
              <a:t> </a:t>
            </a:r>
            <a:r>
              <a:rPr sz="1700" spc="185" dirty="0">
                <a:latin typeface="Cambria"/>
                <a:cs typeface="Cambria"/>
              </a:rPr>
              <a:t>+</a:t>
            </a:r>
            <a:r>
              <a:rPr sz="1700" spc="6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pDataName);</a:t>
            </a:r>
            <a:endParaRPr sz="1700">
              <a:latin typeface="Cambria"/>
              <a:cs typeface="Cambria"/>
            </a:endParaRPr>
          </a:p>
          <a:p>
            <a:pPr marL="203200" marR="4277995">
              <a:lnSpc>
                <a:spcPct val="100000"/>
              </a:lnSpc>
            </a:pPr>
            <a:r>
              <a:rPr sz="1700" spc="80" dirty="0">
                <a:latin typeface="Cambria"/>
                <a:cs typeface="Cambria"/>
              </a:rPr>
              <a:t>console.log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("Age:</a:t>
            </a:r>
            <a:r>
              <a:rPr sz="1700" spc="-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"</a:t>
            </a:r>
            <a:r>
              <a:rPr sz="1700" spc="65" dirty="0">
                <a:latin typeface="Cambria"/>
                <a:cs typeface="Cambria"/>
              </a:rPr>
              <a:t> </a:t>
            </a:r>
            <a:r>
              <a:rPr sz="1700" spc="185" dirty="0">
                <a:latin typeface="Cambria"/>
                <a:cs typeface="Cambria"/>
              </a:rPr>
              <a:t>+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pDataAge); </a:t>
            </a:r>
            <a:r>
              <a:rPr sz="1700" spc="80" dirty="0">
                <a:latin typeface="Cambria"/>
                <a:cs typeface="Cambria"/>
              </a:rPr>
              <a:t>console.log</a:t>
            </a:r>
            <a:r>
              <a:rPr sz="1700" spc="85" dirty="0">
                <a:latin typeface="Cambria"/>
                <a:cs typeface="Cambria"/>
              </a:rPr>
              <a:t> ("Gender:</a:t>
            </a:r>
            <a:r>
              <a:rPr sz="1700" spc="-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"</a:t>
            </a:r>
            <a:r>
              <a:rPr sz="1700" spc="60" dirty="0">
                <a:latin typeface="Cambria"/>
                <a:cs typeface="Cambria"/>
              </a:rPr>
              <a:t> </a:t>
            </a:r>
            <a:r>
              <a:rPr sz="1700" spc="185" dirty="0">
                <a:latin typeface="Cambria"/>
                <a:cs typeface="Cambria"/>
              </a:rPr>
              <a:t>+</a:t>
            </a:r>
            <a:r>
              <a:rPr sz="1700" spc="6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pDataGender);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Cambria"/>
              <a:cs typeface="Cambria"/>
            </a:endParaRPr>
          </a:p>
          <a:p>
            <a:pPr marL="203200" marR="7261859">
              <a:lnSpc>
                <a:spcPct val="100000"/>
              </a:lnSpc>
              <a:spcBef>
                <a:spcPts val="5"/>
              </a:spcBef>
            </a:pPr>
            <a:r>
              <a:rPr sz="1700" spc="-10" dirty="0">
                <a:latin typeface="Cambria"/>
                <a:cs typeface="Cambria"/>
              </a:rPr>
              <a:t>Output: </a:t>
            </a:r>
            <a:r>
              <a:rPr sz="1700" spc="70" dirty="0">
                <a:latin typeface="Cambria"/>
                <a:cs typeface="Cambria"/>
              </a:rPr>
              <a:t>Name:</a:t>
            </a:r>
            <a:r>
              <a:rPr sz="1700" spc="-55" dirty="0">
                <a:latin typeface="Cambria"/>
                <a:cs typeface="Cambria"/>
              </a:rPr>
              <a:t> </a:t>
            </a:r>
            <a:r>
              <a:rPr sz="1700" spc="30" dirty="0">
                <a:latin typeface="Cambria"/>
                <a:cs typeface="Cambria"/>
              </a:rPr>
              <a:t>Sam </a:t>
            </a:r>
            <a:r>
              <a:rPr sz="1700" spc="120" dirty="0">
                <a:latin typeface="Cambria"/>
                <a:cs typeface="Cambria"/>
              </a:rPr>
              <a:t>Age:</a:t>
            </a:r>
            <a:r>
              <a:rPr sz="1700" spc="-70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55</a:t>
            </a:r>
            <a:endParaRPr sz="1700">
              <a:latin typeface="Cambria"/>
              <a:cs typeface="Cambria"/>
            </a:endParaRPr>
          </a:p>
          <a:p>
            <a:pPr marL="203200">
              <a:lnSpc>
                <a:spcPct val="100000"/>
              </a:lnSpc>
            </a:pPr>
            <a:r>
              <a:rPr sz="1700" spc="110" dirty="0">
                <a:latin typeface="Cambria"/>
                <a:cs typeface="Cambria"/>
              </a:rPr>
              <a:t>Gender: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Female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0452"/>
            <a:ext cx="85083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" dirty="0"/>
              <a:t>JavaScript</a:t>
            </a:r>
            <a:r>
              <a:rPr sz="4800" spc="-150" dirty="0"/>
              <a:t> </a:t>
            </a:r>
            <a:r>
              <a:rPr sz="4800" dirty="0"/>
              <a:t>–</a:t>
            </a:r>
            <a:r>
              <a:rPr sz="4800" spc="-140" dirty="0"/>
              <a:t> </a:t>
            </a:r>
            <a:r>
              <a:rPr sz="4800" spc="-20" dirty="0"/>
              <a:t>Destructuring</a:t>
            </a:r>
            <a:r>
              <a:rPr sz="4800" spc="-145" dirty="0"/>
              <a:t> </a:t>
            </a:r>
            <a:r>
              <a:rPr sz="4800" spc="-10" dirty="0"/>
              <a:t>arrays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459740" y="747717"/>
            <a:ext cx="8406765" cy="420370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7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65" dirty="0">
                <a:latin typeface="Times New Roman"/>
                <a:cs typeface="Times New Roman"/>
              </a:rPr>
              <a:t>Arrays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similarly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be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'destructured'</a:t>
            </a:r>
            <a:endParaRPr sz="26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40" dirty="0">
                <a:latin typeface="Times New Roman"/>
                <a:cs typeface="Times New Roman"/>
              </a:rPr>
              <a:t>Elements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'positional'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so…</a:t>
            </a:r>
            <a:endParaRPr sz="26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14" dirty="0">
                <a:latin typeface="Times New Roman"/>
                <a:cs typeface="Times New Roman"/>
              </a:rPr>
              <a:t>must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assign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elements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order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they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are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array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5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'skip'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values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from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array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by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just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adding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commas</a:t>
            </a:r>
            <a:r>
              <a:rPr sz="2400" spc="-25" dirty="0">
                <a:latin typeface="Times New Roman"/>
                <a:cs typeface="Times New Roman"/>
              </a:rPr>
              <a:t> ','</a:t>
            </a:r>
            <a:endParaRPr sz="24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57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0" dirty="0">
                <a:latin typeface="Times New Roman"/>
                <a:cs typeface="Times New Roman"/>
              </a:rPr>
              <a:t>Syntax: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600" dirty="0">
                <a:latin typeface="Times New Roman"/>
                <a:cs typeface="Times New Roman"/>
              </a:rPr>
              <a:t>const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[varname1,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varname2,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…]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=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arrayName;</a:t>
            </a:r>
            <a:endParaRPr sz="2600">
              <a:latin typeface="Times New Roman"/>
              <a:cs typeface="Times New Roman"/>
            </a:endParaRPr>
          </a:p>
          <a:p>
            <a:pPr marL="285115" indent="-281305">
              <a:lnSpc>
                <a:spcPct val="100000"/>
              </a:lnSpc>
              <a:buSzPct val="96153"/>
              <a:buFont typeface="Segoe UI Symbol"/>
              <a:buChar char="⚫"/>
              <a:tabLst>
                <a:tab pos="285115" algn="l"/>
              </a:tabLst>
            </a:pPr>
            <a:r>
              <a:rPr sz="2600" spc="-10" dirty="0">
                <a:latin typeface="Times New Roman"/>
                <a:cs typeface="Times New Roman"/>
              </a:rPr>
              <a:t>Example: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spc="55" dirty="0">
                <a:latin typeface="Cambria"/>
                <a:cs typeface="Cambria"/>
              </a:rPr>
              <a:t>const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myArr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265" dirty="0">
                <a:latin typeface="Cambria"/>
                <a:cs typeface="Cambria"/>
              </a:rPr>
              <a:t>=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[1,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2,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3,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4,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5]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</a:pPr>
            <a:r>
              <a:rPr sz="2400" spc="55" dirty="0">
                <a:latin typeface="Cambria"/>
                <a:cs typeface="Cambria"/>
              </a:rPr>
              <a:t>const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[a,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b,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204" dirty="0">
                <a:latin typeface="Cambria"/>
                <a:cs typeface="Cambria"/>
              </a:rPr>
              <a:t>,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spc="204" dirty="0">
                <a:latin typeface="Cambria"/>
                <a:cs typeface="Cambria"/>
              </a:rPr>
              <a:t>,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c]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265" dirty="0">
                <a:latin typeface="Cambria"/>
                <a:cs typeface="Cambria"/>
              </a:rPr>
              <a:t>=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myArr;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//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Puts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1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a,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2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b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and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5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c </a:t>
            </a:r>
            <a:r>
              <a:rPr sz="2400" spc="105" dirty="0">
                <a:latin typeface="Cambria"/>
                <a:cs typeface="Cambria"/>
              </a:rPr>
              <a:t>console.log("a="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265" dirty="0">
                <a:latin typeface="Cambria"/>
                <a:cs typeface="Cambria"/>
              </a:rPr>
              <a:t>+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a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265" dirty="0">
                <a:latin typeface="Cambria"/>
                <a:cs typeface="Cambria"/>
              </a:rPr>
              <a:t>+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175" dirty="0">
                <a:latin typeface="Cambria"/>
                <a:cs typeface="Cambria"/>
              </a:rPr>
              <a:t>",b="+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b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265" dirty="0">
                <a:latin typeface="Cambria"/>
                <a:cs typeface="Cambria"/>
              </a:rPr>
              <a:t>+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",c="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265" dirty="0">
                <a:latin typeface="Cambria"/>
                <a:cs typeface="Cambria"/>
              </a:rPr>
              <a:t>+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c);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5291328"/>
            <a:ext cx="18268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135" dirty="0">
                <a:latin typeface="Cambria"/>
                <a:cs typeface="Cambria"/>
              </a:rPr>
              <a:t>a=1,b=2,c=5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7859" y="5551423"/>
            <a:ext cx="1778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Extra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skip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elements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4!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33980" y="4496180"/>
            <a:ext cx="2323465" cy="1383030"/>
          </a:xfrm>
          <a:custGeom>
            <a:avLst/>
            <a:gdLst/>
            <a:ahLst/>
            <a:cxnLst/>
            <a:rect l="l" t="t" r="r" b="b"/>
            <a:pathLst>
              <a:path w="2323465" h="1383029">
                <a:moveTo>
                  <a:pt x="60253" y="35690"/>
                </a:moveTo>
                <a:lnTo>
                  <a:pt x="81951" y="63360"/>
                </a:lnTo>
                <a:lnTo>
                  <a:pt x="2310257" y="1382522"/>
                </a:lnTo>
                <a:lnTo>
                  <a:pt x="2323210" y="1360665"/>
                </a:lnTo>
                <a:lnTo>
                  <a:pt x="94721" y="41406"/>
                </a:lnTo>
                <a:lnTo>
                  <a:pt x="60253" y="35690"/>
                </a:lnTo>
                <a:close/>
              </a:path>
              <a:path w="2323465" h="1383029">
                <a:moveTo>
                  <a:pt x="0" y="0"/>
                </a:moveTo>
                <a:lnTo>
                  <a:pt x="100202" y="127635"/>
                </a:lnTo>
                <a:lnTo>
                  <a:pt x="108204" y="128651"/>
                </a:lnTo>
                <a:lnTo>
                  <a:pt x="113664" y="124333"/>
                </a:lnTo>
                <a:lnTo>
                  <a:pt x="119252" y="120015"/>
                </a:lnTo>
                <a:lnTo>
                  <a:pt x="120142" y="112014"/>
                </a:lnTo>
                <a:lnTo>
                  <a:pt x="115824" y="106553"/>
                </a:lnTo>
                <a:lnTo>
                  <a:pt x="81951" y="63360"/>
                </a:lnTo>
                <a:lnTo>
                  <a:pt x="23621" y="28829"/>
                </a:lnTo>
                <a:lnTo>
                  <a:pt x="36575" y="6985"/>
                </a:lnTo>
                <a:lnTo>
                  <a:pt x="42346" y="6985"/>
                </a:lnTo>
                <a:lnTo>
                  <a:pt x="0" y="0"/>
                </a:lnTo>
                <a:close/>
              </a:path>
              <a:path w="2323465" h="1383029">
                <a:moveTo>
                  <a:pt x="36575" y="6985"/>
                </a:moveTo>
                <a:lnTo>
                  <a:pt x="23621" y="28829"/>
                </a:lnTo>
                <a:lnTo>
                  <a:pt x="81951" y="63360"/>
                </a:lnTo>
                <a:lnTo>
                  <a:pt x="60253" y="35690"/>
                </a:lnTo>
                <a:lnTo>
                  <a:pt x="28067" y="30353"/>
                </a:lnTo>
                <a:lnTo>
                  <a:pt x="40131" y="10033"/>
                </a:lnTo>
                <a:lnTo>
                  <a:pt x="41724" y="10033"/>
                </a:lnTo>
                <a:lnTo>
                  <a:pt x="36575" y="6985"/>
                </a:lnTo>
                <a:close/>
              </a:path>
              <a:path w="2323465" h="1383029">
                <a:moveTo>
                  <a:pt x="42346" y="6985"/>
                </a:moveTo>
                <a:lnTo>
                  <a:pt x="36575" y="6985"/>
                </a:lnTo>
                <a:lnTo>
                  <a:pt x="94721" y="41406"/>
                </a:lnTo>
                <a:lnTo>
                  <a:pt x="155956" y="51562"/>
                </a:lnTo>
                <a:lnTo>
                  <a:pt x="162560" y="46863"/>
                </a:lnTo>
                <a:lnTo>
                  <a:pt x="164845" y="33020"/>
                </a:lnTo>
                <a:lnTo>
                  <a:pt x="160146" y="26416"/>
                </a:lnTo>
                <a:lnTo>
                  <a:pt x="42346" y="6985"/>
                </a:lnTo>
                <a:close/>
              </a:path>
              <a:path w="2323465" h="1383029">
                <a:moveTo>
                  <a:pt x="41724" y="10033"/>
                </a:moveTo>
                <a:lnTo>
                  <a:pt x="40131" y="10033"/>
                </a:lnTo>
                <a:lnTo>
                  <a:pt x="60253" y="35690"/>
                </a:lnTo>
                <a:lnTo>
                  <a:pt x="94721" y="41406"/>
                </a:lnTo>
                <a:lnTo>
                  <a:pt x="41724" y="10033"/>
                </a:lnTo>
                <a:close/>
              </a:path>
              <a:path w="2323465" h="1383029">
                <a:moveTo>
                  <a:pt x="40131" y="10033"/>
                </a:moveTo>
                <a:lnTo>
                  <a:pt x="28067" y="30353"/>
                </a:lnTo>
                <a:lnTo>
                  <a:pt x="60253" y="35690"/>
                </a:lnTo>
                <a:lnTo>
                  <a:pt x="40131" y="10033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99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1576</TotalTime>
  <Words>4156</Words>
  <Application>Microsoft Office PowerPoint</Application>
  <PresentationFormat>On-screen Show (4:3)</PresentationFormat>
  <Paragraphs>603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 MT</vt:lpstr>
      <vt:lpstr>Cambria</vt:lpstr>
      <vt:lpstr>Franklin Gothic Medium</vt:lpstr>
      <vt:lpstr>Segoe UI Symbol</vt:lpstr>
      <vt:lpstr>Times New Roman</vt:lpstr>
      <vt:lpstr>Wingdings</vt:lpstr>
      <vt:lpstr>Office Theme</vt:lpstr>
      <vt:lpstr>JavaScript</vt:lpstr>
      <vt:lpstr>A brief history of JS</vt:lpstr>
      <vt:lpstr>A brief history of JS</vt:lpstr>
      <vt:lpstr>A brief history of JS</vt:lpstr>
      <vt:lpstr>A brief history of JS</vt:lpstr>
      <vt:lpstr>Overview of JavaScript</vt:lpstr>
      <vt:lpstr>JavaScript</vt:lpstr>
      <vt:lpstr>JavaScript</vt:lpstr>
      <vt:lpstr>JavaScript</vt:lpstr>
      <vt:lpstr>JavaScript - Constants</vt:lpstr>
      <vt:lpstr>JavaScript - Constants</vt:lpstr>
      <vt:lpstr>JavaScript - Primitive Types</vt:lpstr>
      <vt:lpstr>PowerPoint Presentation</vt:lpstr>
      <vt:lpstr>JavaScript - Types</vt:lpstr>
      <vt:lpstr>JavaScript – Arithmetic Operations</vt:lpstr>
      <vt:lpstr>JavaScript – Bitwise Operators</vt:lpstr>
      <vt:lpstr>JavaScript – Compound Operators</vt:lpstr>
      <vt:lpstr>JavaScript – String Operations</vt:lpstr>
      <vt:lpstr>JavaScript – String Operations</vt:lpstr>
      <vt:lpstr>JavaScript – String Operations</vt:lpstr>
      <vt:lpstr>PowerPoint Presentation</vt:lpstr>
      <vt:lpstr>Screen Output Methods</vt:lpstr>
      <vt:lpstr>PowerPoint Presentation</vt:lpstr>
      <vt:lpstr>PowerPoint Presentation</vt:lpstr>
      <vt:lpstr>Keyboard Input Methods</vt:lpstr>
      <vt:lpstr>PowerPoint Presentation</vt:lpstr>
      <vt:lpstr>PowerPoint Presentation</vt:lpstr>
      <vt:lpstr>JavaScript – Control Flow statements</vt:lpstr>
      <vt:lpstr>if/else</vt:lpstr>
      <vt:lpstr>Switch statement</vt:lpstr>
      <vt:lpstr>switch statement example</vt:lpstr>
      <vt:lpstr>for loops</vt:lpstr>
      <vt:lpstr>Example: for loop</vt:lpstr>
      <vt:lpstr>while loops</vt:lpstr>
      <vt:lpstr>while loop example</vt:lpstr>
      <vt:lpstr>do while loops</vt:lpstr>
      <vt:lpstr>do while loop example</vt:lpstr>
      <vt:lpstr>PowerPoint Presentation</vt:lpstr>
      <vt:lpstr>Objects</vt:lpstr>
      <vt:lpstr>Objects</vt:lpstr>
      <vt:lpstr>JavaScript - Arrays</vt:lpstr>
      <vt:lpstr>JavaScript - Arrays</vt:lpstr>
      <vt:lpstr>JavaScript – Arrays (array methods)</vt:lpstr>
      <vt:lpstr>JavaScript – Functions</vt:lpstr>
      <vt:lpstr>JavaScript – Examples: Functions</vt:lpstr>
      <vt:lpstr>JavaScript - Arrow functions</vt:lpstr>
      <vt:lpstr>JavaScript - Arrow functions examples</vt:lpstr>
      <vt:lpstr>PowerPoint Presentation</vt:lpstr>
      <vt:lpstr>PowerPoint Presentation</vt:lpstr>
      <vt:lpstr>PowerPoint Presentation</vt:lpstr>
      <vt:lpstr>PowerPoint Presentation</vt:lpstr>
      <vt:lpstr>JavaScript – Higher order arrow functions - Example</vt:lpstr>
      <vt:lpstr>PowerPoint Presentation</vt:lpstr>
      <vt:lpstr>JavaScript – spread operator (…)</vt:lpstr>
      <vt:lpstr>JavaScript – Destructuring objects</vt:lpstr>
      <vt:lpstr>JavaScript – Destructuring arrays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cp:lastModifiedBy>Divyashree R</cp:lastModifiedBy>
  <cp:revision>5</cp:revision>
  <dcterms:created xsi:type="dcterms:W3CDTF">2025-08-12T14:33:45Z</dcterms:created>
  <dcterms:modified xsi:type="dcterms:W3CDTF">2025-10-07T14:36:07Z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2025-08-12T00:00:00Z</vt:filetime>
  </property>
  <property fmtid="{D5CDD505-2E9C-101B-9397-08002B2CF9AE}" pid="5" name="Producer">
    <vt:lpwstr>Microsoft® PowerPoint® for Microsoft 365</vt:lpwstr>
  </property>
</Properties>
</file>